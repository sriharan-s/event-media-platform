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architecture. Say: 4,000 fest photos, you want the 12 you are in. Then: the matching needs a GPU, and a GPU costs money every second it is on. That second half is the real story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questions out loud: how does a photo become "a photo of you", and how do you run a GPU you cannot afford to leave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they would find their own photos today. Let someone say "WhatsApp group". That is the competitor.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90 seconds. The demo does the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dev stack already warm. Do not run pnpm install on stage. Fallback screen recording ready in case the ML sidecar is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near cosine similarity or loss functions. If someone asks, offer to stay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should photograph. Say it plainly: comments do not fail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arrows in this order: client to API, API to Redis, GPU worker pulls from Redis, GPU worker calls back with a heartbeat, API shells out to jl. The arrow DIRECTIONS are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assume microservices means many repos. Break that here. Then say: because the API never calls the GPU directly, the GPU is allowed to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once quickly end to end, then a second time pointing only at the amber steps: that is the GPU's entire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on, ask the room: "just turn it off when idle — what could go wrong?" Collect answers. Then walk the ones they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a price you have not verified. Talk in shape — bursty vs flat — rather than invented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jarvislabs.repository.ts on screen while you say this. The header comment says most of it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transferable slide for students. Every one of them will shell out to something eventually.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real Admin -&gt; GPU worker panel next to this if the demo stack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bug students will write. Showing the fix before they write it is worth the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direction of the arrow is the security design and the cost design at the same time". Point back at the architecture diagram if they look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moment to say that most "cost bugs" are really state bugs. The bill is just where you notice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JarvisLabs section on this. It is the line worth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what is unfinished buys you more credibility than any number on this slide. Do not skip the right-hand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them out. Then pause. This is where the recording gets rewatched.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stay on the call for anyone who wants to see the code. Share the recording and this deck in the chat before you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30"/>
        </a:solidFill>
      </p:bgPr>
    </p:bg>
    <p:spTree>
      <p:nvGrpSpPr>
        <p:cNvPr id="1" name=""/>
        <p:cNvGrpSpPr/>
        <p:nvPr/>
      </p:nvGrpSpPr>
      <p:grpSpPr>
        <a:xfrm>
          <a:off x="0" y="0"/>
          <a:ext cx="0" cy="0"/>
          <a:chOff x="0" y="0"/>
          <a:chExt cx="0" cy="0"/>
        </a:xfrm>
      </p:grpSpPr>
      <p:sp>
        <p:nvSpPr>
          <p:cNvPr id="2" name="Shape 0"/>
          <p:cNvSpPr/>
          <p:nvPr/>
        </p:nvSpPr>
        <p:spPr>
          <a:xfrm>
            <a:off x="566928" y="1371600"/>
            <a:ext cx="1371600" cy="384048"/>
          </a:xfrm>
          <a:prstGeom prst="roundRect">
            <a:avLst>
              <a:gd name="adj" fmla="val 47619"/>
            </a:avLst>
          </a:prstGeom>
          <a:solidFill>
            <a:srgbClr val="FFB020"/>
          </a:solidFill>
          <a:ln/>
        </p:spPr>
      </p:sp>
      <p:sp>
        <p:nvSpPr>
          <p:cNvPr id="3" name="Text 1"/>
          <p:cNvSpPr/>
          <p:nvPr/>
        </p:nvSpPr>
        <p:spPr>
          <a:xfrm>
            <a:off x="566928" y="1371600"/>
            <a:ext cx="1371600" cy="384048"/>
          </a:xfrm>
          <a:prstGeom prst="rect">
            <a:avLst/>
          </a:prstGeom>
          <a:noFill/>
          <a:ln/>
        </p:spPr>
        <p:txBody>
          <a:bodyPr wrap="square" lIns="0" tIns="0" rIns="0" bIns="0" rtlCol="0" anchor="ctr"/>
          <a:lstStyle/>
          <a:p>
            <a:pPr algn="ctr" indent="0" marL="0">
              <a:buNone/>
            </a:pPr>
            <a:r>
              <a:rPr lang="en-US" sz="1100" b="1" dirty="0">
                <a:solidFill>
                  <a:srgbClr val="11162E"/>
                </a:solidFill>
                <a:latin typeface="Arial" pitchFamily="34" charset="0"/>
                <a:ea typeface="Arial" pitchFamily="34" charset="-122"/>
                <a:cs typeface="Arial" pitchFamily="34" charset="-120"/>
              </a:rPr>
              <a:t>CASE STUDY</a:t>
            </a:r>
            <a:endParaRPr lang="en-US" sz="1100" dirty="0"/>
          </a:p>
        </p:txBody>
      </p:sp>
      <p:sp>
        <p:nvSpPr>
          <p:cNvPr id="4" name="Text 2"/>
          <p:cNvSpPr/>
          <p:nvPr/>
        </p:nvSpPr>
        <p:spPr>
          <a:xfrm>
            <a:off x="566928" y="1920240"/>
            <a:ext cx="10515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EventLens</a:t>
            </a:r>
            <a:endParaRPr lang="en-US" sz="6000" dirty="0"/>
          </a:p>
        </p:txBody>
      </p:sp>
      <p:sp>
        <p:nvSpPr>
          <p:cNvPr id="5" name="Text 3"/>
          <p:cNvSpPr/>
          <p:nvPr/>
        </p:nvSpPr>
        <p:spPr>
          <a:xfrm>
            <a:off x="566928" y="2880360"/>
            <a:ext cx="10515600" cy="548640"/>
          </a:xfrm>
          <a:prstGeom prst="rect">
            <a:avLst/>
          </a:prstGeom>
          <a:noFill/>
          <a:ln/>
        </p:spPr>
        <p:txBody>
          <a:bodyPr wrap="square" lIns="0" tIns="0" rIns="0" bIns="0" rtlCol="0" anchor="ctr"/>
          <a:lstStyle/>
          <a:p>
            <a:pPr indent="0" marL="0">
              <a:buNone/>
            </a:pPr>
            <a:r>
              <a:rPr lang="en-US" sz="2200" dirty="0">
                <a:solidFill>
                  <a:srgbClr val="A9BEFF"/>
                </a:solidFill>
                <a:latin typeface="Arial" pitchFamily="34" charset="0"/>
                <a:ea typeface="Arial" pitchFamily="34" charset="-122"/>
                <a:cs typeface="Arial" pitchFamily="34" charset="-120"/>
              </a:rPr>
              <a:t>Upload one selfie. Get every photo you appear in.</a:t>
            </a:r>
            <a:endParaRPr lang="en-US" sz="2200" dirty="0"/>
          </a:p>
        </p:txBody>
      </p:sp>
      <p:sp>
        <p:nvSpPr>
          <p:cNvPr id="6" name="Text 4"/>
          <p:cNvSpPr/>
          <p:nvPr/>
        </p:nvSpPr>
        <p:spPr>
          <a:xfrm>
            <a:off x="566928" y="3474720"/>
            <a:ext cx="9601200" cy="548640"/>
          </a:xfrm>
          <a:prstGeom prst="rect">
            <a:avLst/>
          </a:prstGeom>
          <a:noFill/>
          <a:ln/>
        </p:spPr>
        <p:txBody>
          <a:bodyPr wrap="square" lIns="0" tIns="0" rIns="0" bIns="0" rtlCol="0" anchor="ctr"/>
          <a:lstStyle/>
          <a:p>
            <a:pPr indent="0" marL="0">
              <a:buNone/>
            </a:pPr>
            <a:r>
              <a:rPr lang="en-US" sz="1700" dirty="0">
                <a:solidFill>
                  <a:srgbClr val="8A93B8"/>
                </a:solidFill>
                <a:latin typeface="Arial" pitchFamily="34" charset="0"/>
                <a:ea typeface="Arial" pitchFamily="34" charset="-122"/>
                <a:cs typeface="Arial" pitchFamily="34" charset="-120"/>
              </a:rPr>
              <a:t>And how we ran the GPU on JarvisLabs only for the seconds it was actually earning its keep.</a:t>
            </a:r>
            <a:endParaRPr lang="en-US" sz="1700" dirty="0"/>
          </a:p>
        </p:txBody>
      </p:sp>
      <p:sp>
        <p:nvSpPr>
          <p:cNvPr id="7" name="Shape 5"/>
          <p:cNvSpPr/>
          <p:nvPr/>
        </p:nvSpPr>
        <p:spPr>
          <a:xfrm>
            <a:off x="566928" y="4754880"/>
            <a:ext cx="2606040" cy="658368"/>
          </a:xfrm>
          <a:prstGeom prst="roundRect">
            <a:avLst>
              <a:gd name="adj" fmla="val 16667"/>
            </a:avLst>
          </a:prstGeom>
          <a:solidFill>
            <a:srgbClr val="1A2350"/>
          </a:solidFill>
          <a:ln w="19050">
            <a:solidFill>
              <a:srgbClr val="4C6FFF"/>
            </a:solidFill>
            <a:prstDash val="solid"/>
          </a:ln>
        </p:spPr>
      </p:sp>
      <p:sp>
        <p:nvSpPr>
          <p:cNvPr id="8" name="Text 6"/>
          <p:cNvSpPr/>
          <p:nvPr/>
        </p:nvSpPr>
        <p:spPr>
          <a:xfrm>
            <a:off x="566928" y="4754880"/>
            <a:ext cx="2606040" cy="658368"/>
          </a:xfrm>
          <a:prstGeom prst="rect">
            <a:avLst/>
          </a:prstGeom>
          <a:noFill/>
          <a:ln/>
        </p:spPr>
        <p:txBody>
          <a:bodyPr wrap="square" lIns="0" tIns="0" rIns="0" bIns="0" rtlCol="0" anchor="ctr"/>
          <a:lstStyle/>
          <a:p>
            <a:pPr algn="ctr" indent="0" marL="0">
              <a:buNone/>
            </a:pPr>
            <a:r>
              <a:rPr lang="en-US" sz="1400" b="1" dirty="0">
                <a:solidFill>
                  <a:srgbClr val="4C6FFF"/>
                </a:solidFill>
                <a:latin typeface="Arial" pitchFamily="34" charset="0"/>
                <a:ea typeface="Arial" pitchFamily="34" charset="-122"/>
                <a:cs typeface="Arial" pitchFamily="34" charset="-120"/>
              </a:rPr>
              <a:t>NestJS + SvelteKit</a:t>
            </a:r>
            <a:endParaRPr lang="en-US" sz="1400" dirty="0"/>
          </a:p>
        </p:txBody>
      </p:sp>
      <p:sp>
        <p:nvSpPr>
          <p:cNvPr id="9" name="Shape 7"/>
          <p:cNvSpPr/>
          <p:nvPr/>
        </p:nvSpPr>
        <p:spPr>
          <a:xfrm>
            <a:off x="3355848" y="4754880"/>
            <a:ext cx="2606040" cy="658368"/>
          </a:xfrm>
          <a:prstGeom prst="roundRect">
            <a:avLst>
              <a:gd name="adj" fmla="val 16667"/>
            </a:avLst>
          </a:prstGeom>
          <a:solidFill>
            <a:srgbClr val="1A2350"/>
          </a:solidFill>
          <a:ln w="19050">
            <a:solidFill>
              <a:srgbClr val="4C6FFF"/>
            </a:solidFill>
            <a:prstDash val="solid"/>
          </a:ln>
        </p:spPr>
      </p:sp>
      <p:sp>
        <p:nvSpPr>
          <p:cNvPr id="10" name="Text 8"/>
          <p:cNvSpPr/>
          <p:nvPr/>
        </p:nvSpPr>
        <p:spPr>
          <a:xfrm>
            <a:off x="3355848" y="4754880"/>
            <a:ext cx="2606040" cy="658368"/>
          </a:xfrm>
          <a:prstGeom prst="rect">
            <a:avLst/>
          </a:prstGeom>
          <a:noFill/>
          <a:ln/>
        </p:spPr>
        <p:txBody>
          <a:bodyPr wrap="square" lIns="0" tIns="0" rIns="0" bIns="0" rtlCol="0" anchor="ctr"/>
          <a:lstStyle/>
          <a:p>
            <a:pPr algn="ctr" indent="0" marL="0">
              <a:buNone/>
            </a:pPr>
            <a:r>
              <a:rPr lang="en-US" sz="1400" b="1" dirty="0">
                <a:solidFill>
                  <a:srgbClr val="4C6FFF"/>
                </a:solidFill>
                <a:latin typeface="Arial" pitchFamily="34" charset="0"/>
                <a:ea typeface="Arial" pitchFamily="34" charset="-122"/>
                <a:cs typeface="Arial" pitchFamily="34" charset="-120"/>
              </a:rPr>
              <a:t>Postgres + pgvector</a:t>
            </a:r>
            <a:endParaRPr lang="en-US" sz="1400" dirty="0"/>
          </a:p>
        </p:txBody>
      </p:sp>
      <p:sp>
        <p:nvSpPr>
          <p:cNvPr id="11" name="Shape 9"/>
          <p:cNvSpPr/>
          <p:nvPr/>
        </p:nvSpPr>
        <p:spPr>
          <a:xfrm>
            <a:off x="6144768" y="4754880"/>
            <a:ext cx="2606040" cy="658368"/>
          </a:xfrm>
          <a:prstGeom prst="roundRect">
            <a:avLst>
              <a:gd name="adj" fmla="val 16667"/>
            </a:avLst>
          </a:prstGeom>
          <a:solidFill>
            <a:srgbClr val="1A2350"/>
          </a:solidFill>
          <a:ln w="19050">
            <a:solidFill>
              <a:srgbClr val="FFB020"/>
            </a:solidFill>
            <a:prstDash val="solid"/>
          </a:ln>
        </p:spPr>
      </p:sp>
      <p:sp>
        <p:nvSpPr>
          <p:cNvPr id="12" name="Text 10"/>
          <p:cNvSpPr/>
          <p:nvPr/>
        </p:nvSpPr>
        <p:spPr>
          <a:xfrm>
            <a:off x="6144768" y="4754880"/>
            <a:ext cx="2606040" cy="658368"/>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RetinaFace + ArcFace</a:t>
            </a:r>
            <a:endParaRPr lang="en-US" sz="1400" dirty="0"/>
          </a:p>
        </p:txBody>
      </p:sp>
      <p:sp>
        <p:nvSpPr>
          <p:cNvPr id="13" name="Shape 11"/>
          <p:cNvSpPr/>
          <p:nvPr/>
        </p:nvSpPr>
        <p:spPr>
          <a:xfrm>
            <a:off x="8933688" y="4754880"/>
            <a:ext cx="2606040" cy="658368"/>
          </a:xfrm>
          <a:prstGeom prst="roundRect">
            <a:avLst>
              <a:gd name="adj" fmla="val 16667"/>
            </a:avLst>
          </a:prstGeom>
          <a:solidFill>
            <a:srgbClr val="1A2350"/>
          </a:solidFill>
          <a:ln w="19050">
            <a:solidFill>
              <a:srgbClr val="FFB020"/>
            </a:solidFill>
            <a:prstDash val="solid"/>
          </a:ln>
        </p:spPr>
      </p:sp>
      <p:sp>
        <p:nvSpPr>
          <p:cNvPr id="14" name="Text 12"/>
          <p:cNvSpPr/>
          <p:nvPr/>
        </p:nvSpPr>
        <p:spPr>
          <a:xfrm>
            <a:off x="8933688" y="4754880"/>
            <a:ext cx="2606040" cy="658368"/>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JarvisLabs GPU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NINETY MINUTES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What you will walk out knowing</a:t>
            </a:r>
            <a:endParaRPr lang="en-US" sz="3400" dirty="0"/>
          </a:p>
        </p:txBody>
      </p:sp>
      <p:sp>
        <p:nvSpPr>
          <p:cNvPr id="4" name="Shape 2"/>
          <p:cNvSpPr/>
          <p:nvPr/>
        </p:nvSpPr>
        <p:spPr>
          <a:xfrm>
            <a:off x="566928" y="1417320"/>
            <a:ext cx="11064240" cy="841248"/>
          </a:xfrm>
          <a:prstGeom prst="roundRect">
            <a:avLst>
              <a:gd name="adj" fmla="val 10870"/>
            </a:avLst>
          </a:prstGeom>
          <a:solidFill>
            <a:srgbClr val="1A2350"/>
          </a:solidFill>
          <a:ln/>
        </p:spPr>
      </p:sp>
      <p:sp>
        <p:nvSpPr>
          <p:cNvPr id="5" name="Shape 3"/>
          <p:cNvSpPr/>
          <p:nvPr/>
        </p:nvSpPr>
        <p:spPr>
          <a:xfrm>
            <a:off x="777240" y="1636776"/>
            <a:ext cx="402336" cy="402336"/>
          </a:xfrm>
          <a:prstGeom prst="ellipse">
            <a:avLst/>
          </a:prstGeom>
          <a:solidFill>
            <a:srgbClr val="4C6FFF"/>
          </a:solidFill>
          <a:ln/>
        </p:spPr>
      </p:sp>
      <p:sp>
        <p:nvSpPr>
          <p:cNvPr id="6" name="Text 4"/>
          <p:cNvSpPr/>
          <p:nvPr/>
        </p:nvSpPr>
        <p:spPr>
          <a:xfrm>
            <a:off x="777240" y="1636776"/>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371600" y="1545336"/>
            <a:ext cx="566928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What the product does</a:t>
            </a:r>
            <a:endParaRPr lang="en-US" sz="1700" dirty="0"/>
          </a:p>
        </p:txBody>
      </p:sp>
      <p:sp>
        <p:nvSpPr>
          <p:cNvPr id="8" name="Text 6"/>
          <p:cNvSpPr/>
          <p:nvPr/>
        </p:nvSpPr>
        <p:spPr>
          <a:xfrm>
            <a:off x="1371600" y="1856232"/>
            <a:ext cx="841248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Live demo first. No slides, no code — just the thing working.</a:t>
            </a:r>
            <a:endParaRPr lang="en-US" sz="1300" dirty="0"/>
          </a:p>
        </p:txBody>
      </p:sp>
      <p:sp>
        <p:nvSpPr>
          <p:cNvPr id="9" name="Text 7"/>
          <p:cNvSpPr/>
          <p:nvPr/>
        </p:nvSpPr>
        <p:spPr>
          <a:xfrm>
            <a:off x="10058400" y="1417320"/>
            <a:ext cx="1371600" cy="841248"/>
          </a:xfrm>
          <a:prstGeom prst="rect">
            <a:avLst/>
          </a:prstGeom>
          <a:noFill/>
          <a:ln/>
        </p:spPr>
        <p:txBody>
          <a:bodyPr wrap="square" lIns="0" tIns="0" rIns="0" bIns="0" rtlCol="0" anchor="ctr"/>
          <a:lstStyle/>
          <a:p>
            <a:pPr algn="r" indent="0" marL="0">
              <a:buNone/>
            </a:pPr>
            <a:r>
              <a:rPr lang="en-US" sz="1400" b="1" dirty="0">
                <a:solidFill>
                  <a:srgbClr val="4C6FFF"/>
                </a:solidFill>
                <a:latin typeface="Arial" pitchFamily="34" charset="0"/>
                <a:ea typeface="Arial" pitchFamily="34" charset="-122"/>
                <a:cs typeface="Arial" pitchFamily="34" charset="-120"/>
              </a:rPr>
              <a:t>10 min</a:t>
            </a:r>
            <a:endParaRPr lang="en-US" sz="1400" dirty="0"/>
          </a:p>
        </p:txBody>
      </p:sp>
      <p:sp>
        <p:nvSpPr>
          <p:cNvPr id="10" name="Shape 8"/>
          <p:cNvSpPr/>
          <p:nvPr/>
        </p:nvSpPr>
        <p:spPr>
          <a:xfrm>
            <a:off x="566928" y="2377440"/>
            <a:ext cx="11064240" cy="841248"/>
          </a:xfrm>
          <a:prstGeom prst="roundRect">
            <a:avLst>
              <a:gd name="adj" fmla="val 10870"/>
            </a:avLst>
          </a:prstGeom>
          <a:solidFill>
            <a:srgbClr val="1A2350"/>
          </a:solidFill>
          <a:ln/>
        </p:spPr>
      </p:sp>
      <p:sp>
        <p:nvSpPr>
          <p:cNvPr id="11" name="Shape 9"/>
          <p:cNvSpPr/>
          <p:nvPr/>
        </p:nvSpPr>
        <p:spPr>
          <a:xfrm>
            <a:off x="777240" y="2596896"/>
            <a:ext cx="402336" cy="402336"/>
          </a:xfrm>
          <a:prstGeom prst="ellipse">
            <a:avLst/>
          </a:prstGeom>
          <a:solidFill>
            <a:srgbClr val="4C6FFF"/>
          </a:solidFill>
          <a:ln/>
        </p:spPr>
      </p:sp>
      <p:sp>
        <p:nvSpPr>
          <p:cNvPr id="12" name="Text 10"/>
          <p:cNvSpPr/>
          <p:nvPr/>
        </p:nvSpPr>
        <p:spPr>
          <a:xfrm>
            <a:off x="777240" y="2596896"/>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1371600" y="2505456"/>
            <a:ext cx="566928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How a face becomes a number</a:t>
            </a:r>
            <a:endParaRPr lang="en-US" sz="1700" dirty="0"/>
          </a:p>
        </p:txBody>
      </p:sp>
      <p:sp>
        <p:nvSpPr>
          <p:cNvPr id="14" name="Text 12"/>
          <p:cNvSpPr/>
          <p:nvPr/>
        </p:nvSpPr>
        <p:spPr>
          <a:xfrm>
            <a:off x="1371600" y="2816352"/>
            <a:ext cx="841248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Detection, embeddings, vector search. No maths required.</a:t>
            </a:r>
            <a:endParaRPr lang="en-US" sz="1300" dirty="0"/>
          </a:p>
        </p:txBody>
      </p:sp>
      <p:sp>
        <p:nvSpPr>
          <p:cNvPr id="15" name="Text 13"/>
          <p:cNvSpPr/>
          <p:nvPr/>
        </p:nvSpPr>
        <p:spPr>
          <a:xfrm>
            <a:off x="10058400" y="2377440"/>
            <a:ext cx="1371600" cy="841248"/>
          </a:xfrm>
          <a:prstGeom prst="rect">
            <a:avLst/>
          </a:prstGeom>
          <a:noFill/>
          <a:ln/>
        </p:spPr>
        <p:txBody>
          <a:bodyPr wrap="square" lIns="0" tIns="0" rIns="0" bIns="0" rtlCol="0" anchor="ctr"/>
          <a:lstStyle/>
          <a:p>
            <a:pPr algn="r" indent="0" marL="0">
              <a:buNone/>
            </a:pPr>
            <a:r>
              <a:rPr lang="en-US" sz="1400" b="1" dirty="0">
                <a:solidFill>
                  <a:srgbClr val="4C6FFF"/>
                </a:solidFill>
                <a:latin typeface="Arial" pitchFamily="34" charset="0"/>
                <a:ea typeface="Arial" pitchFamily="34" charset="-122"/>
                <a:cs typeface="Arial" pitchFamily="34" charset="-120"/>
              </a:rPr>
              <a:t>15 min</a:t>
            </a:r>
            <a:endParaRPr lang="en-US" sz="1400" dirty="0"/>
          </a:p>
        </p:txBody>
      </p:sp>
      <p:sp>
        <p:nvSpPr>
          <p:cNvPr id="16" name="Shape 14"/>
          <p:cNvSpPr/>
          <p:nvPr/>
        </p:nvSpPr>
        <p:spPr>
          <a:xfrm>
            <a:off x="566928" y="3337560"/>
            <a:ext cx="11064240" cy="841248"/>
          </a:xfrm>
          <a:prstGeom prst="roundRect">
            <a:avLst>
              <a:gd name="adj" fmla="val 10870"/>
            </a:avLst>
          </a:prstGeom>
          <a:solidFill>
            <a:srgbClr val="1A2350"/>
          </a:solidFill>
          <a:ln/>
        </p:spPr>
      </p:sp>
      <p:sp>
        <p:nvSpPr>
          <p:cNvPr id="17" name="Shape 15"/>
          <p:cNvSpPr/>
          <p:nvPr/>
        </p:nvSpPr>
        <p:spPr>
          <a:xfrm>
            <a:off x="777240" y="3557016"/>
            <a:ext cx="402336" cy="402336"/>
          </a:xfrm>
          <a:prstGeom prst="ellipse">
            <a:avLst/>
          </a:prstGeom>
          <a:solidFill>
            <a:srgbClr val="A9BEFF"/>
          </a:solidFill>
          <a:ln/>
        </p:spPr>
      </p:sp>
      <p:sp>
        <p:nvSpPr>
          <p:cNvPr id="18" name="Text 16"/>
          <p:cNvSpPr/>
          <p:nvPr/>
        </p:nvSpPr>
        <p:spPr>
          <a:xfrm>
            <a:off x="777240" y="3557016"/>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1371600" y="3465576"/>
            <a:ext cx="566928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Why the GPU lives on its own machine</a:t>
            </a:r>
            <a:endParaRPr lang="en-US" sz="1700" dirty="0"/>
          </a:p>
        </p:txBody>
      </p:sp>
      <p:sp>
        <p:nvSpPr>
          <p:cNvPr id="20" name="Text 18"/>
          <p:cNvSpPr/>
          <p:nvPr/>
        </p:nvSpPr>
        <p:spPr>
          <a:xfrm>
            <a:off x="1371600" y="3776472"/>
            <a:ext cx="841248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One codebase, two deployables, one queue between them.</a:t>
            </a:r>
            <a:endParaRPr lang="en-US" sz="1300" dirty="0"/>
          </a:p>
        </p:txBody>
      </p:sp>
      <p:sp>
        <p:nvSpPr>
          <p:cNvPr id="21" name="Text 19"/>
          <p:cNvSpPr/>
          <p:nvPr/>
        </p:nvSpPr>
        <p:spPr>
          <a:xfrm>
            <a:off x="10058400" y="3337560"/>
            <a:ext cx="1371600" cy="841248"/>
          </a:xfrm>
          <a:prstGeom prst="rect">
            <a:avLst/>
          </a:prstGeom>
          <a:noFill/>
          <a:ln/>
        </p:spPr>
        <p:txBody>
          <a:bodyPr wrap="square" lIns="0" tIns="0" rIns="0" bIns="0" rtlCol="0" anchor="ctr"/>
          <a:lstStyle/>
          <a:p>
            <a:pPr algn="r" indent="0" marL="0">
              <a:buNone/>
            </a:pPr>
            <a:r>
              <a:rPr lang="en-US" sz="1400" b="1" dirty="0">
                <a:solidFill>
                  <a:srgbClr val="A9BEFF"/>
                </a:solidFill>
                <a:latin typeface="Arial" pitchFamily="34" charset="0"/>
                <a:ea typeface="Arial" pitchFamily="34" charset="-122"/>
                <a:cs typeface="Arial" pitchFamily="34" charset="-120"/>
              </a:rPr>
              <a:t>10 min</a:t>
            </a:r>
            <a:endParaRPr lang="en-US" sz="1400" dirty="0"/>
          </a:p>
        </p:txBody>
      </p:sp>
      <p:sp>
        <p:nvSpPr>
          <p:cNvPr id="22" name="Shape 20"/>
          <p:cNvSpPr/>
          <p:nvPr/>
        </p:nvSpPr>
        <p:spPr>
          <a:xfrm>
            <a:off x="566928" y="4297680"/>
            <a:ext cx="11064240" cy="841248"/>
          </a:xfrm>
          <a:prstGeom prst="roundRect">
            <a:avLst>
              <a:gd name="adj" fmla="val 10870"/>
            </a:avLst>
          </a:prstGeom>
          <a:solidFill>
            <a:srgbClr val="1A2350"/>
          </a:solidFill>
          <a:ln/>
        </p:spPr>
      </p:sp>
      <p:sp>
        <p:nvSpPr>
          <p:cNvPr id="23" name="Shape 21"/>
          <p:cNvSpPr/>
          <p:nvPr/>
        </p:nvSpPr>
        <p:spPr>
          <a:xfrm>
            <a:off x="777240" y="4517136"/>
            <a:ext cx="402336" cy="402336"/>
          </a:xfrm>
          <a:prstGeom prst="ellipse">
            <a:avLst/>
          </a:prstGeom>
          <a:solidFill>
            <a:srgbClr val="FFB020"/>
          </a:solidFill>
          <a:ln/>
        </p:spPr>
      </p:sp>
      <p:sp>
        <p:nvSpPr>
          <p:cNvPr id="24" name="Text 22"/>
          <p:cNvSpPr/>
          <p:nvPr/>
        </p:nvSpPr>
        <p:spPr>
          <a:xfrm>
            <a:off x="777240" y="4517136"/>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4</a:t>
            </a:r>
            <a:endParaRPr lang="en-US" sz="1500" dirty="0"/>
          </a:p>
        </p:txBody>
      </p:sp>
      <p:sp>
        <p:nvSpPr>
          <p:cNvPr id="25" name="Text 23"/>
          <p:cNvSpPr/>
          <p:nvPr/>
        </p:nvSpPr>
        <p:spPr>
          <a:xfrm>
            <a:off x="1371600" y="4425696"/>
            <a:ext cx="566928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JarvisLabs — the main event</a:t>
            </a:r>
            <a:endParaRPr lang="en-US" sz="1700" dirty="0"/>
          </a:p>
        </p:txBody>
      </p:sp>
      <p:sp>
        <p:nvSpPr>
          <p:cNvPr id="26" name="Text 24"/>
          <p:cNvSpPr/>
          <p:nvPr/>
        </p:nvSpPr>
        <p:spPr>
          <a:xfrm>
            <a:off x="1371600" y="4736592"/>
            <a:ext cx="841248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No REST API, per-second billing, and how to not get a scary bill.</a:t>
            </a:r>
            <a:endParaRPr lang="en-US" sz="1300" dirty="0"/>
          </a:p>
        </p:txBody>
      </p:sp>
      <p:sp>
        <p:nvSpPr>
          <p:cNvPr id="27" name="Text 25"/>
          <p:cNvSpPr/>
          <p:nvPr/>
        </p:nvSpPr>
        <p:spPr>
          <a:xfrm>
            <a:off x="10058400" y="4297680"/>
            <a:ext cx="1371600" cy="841248"/>
          </a:xfrm>
          <a:prstGeom prst="rect">
            <a:avLst/>
          </a:prstGeom>
          <a:noFill/>
          <a:ln/>
        </p:spPr>
        <p:txBody>
          <a:bodyPr wrap="square" lIns="0" tIns="0" rIns="0" bIns="0" rtlCol="0" anchor="ctr"/>
          <a:lstStyle/>
          <a:p>
            <a:pPr algn="r" indent="0" marL="0">
              <a:buNone/>
            </a:pPr>
            <a:r>
              <a:rPr lang="en-US" sz="1400" b="1" dirty="0">
                <a:solidFill>
                  <a:srgbClr val="FFB020"/>
                </a:solidFill>
                <a:latin typeface="Arial" pitchFamily="34" charset="0"/>
                <a:ea typeface="Arial" pitchFamily="34" charset="-122"/>
                <a:cs typeface="Arial" pitchFamily="34" charset="-120"/>
              </a:rPr>
              <a:t>25 min</a:t>
            </a:r>
            <a:endParaRPr lang="en-US" sz="1400" dirty="0"/>
          </a:p>
        </p:txBody>
      </p:sp>
      <p:sp>
        <p:nvSpPr>
          <p:cNvPr id="28" name="Shape 26"/>
          <p:cNvSpPr/>
          <p:nvPr/>
        </p:nvSpPr>
        <p:spPr>
          <a:xfrm>
            <a:off x="566928" y="5257800"/>
            <a:ext cx="11064240" cy="841248"/>
          </a:xfrm>
          <a:prstGeom prst="roundRect">
            <a:avLst>
              <a:gd name="adj" fmla="val 10870"/>
            </a:avLst>
          </a:prstGeom>
          <a:solidFill>
            <a:srgbClr val="1A2350"/>
          </a:solidFill>
          <a:ln/>
        </p:spPr>
      </p:sp>
      <p:sp>
        <p:nvSpPr>
          <p:cNvPr id="29" name="Shape 27"/>
          <p:cNvSpPr/>
          <p:nvPr/>
        </p:nvSpPr>
        <p:spPr>
          <a:xfrm>
            <a:off x="777240" y="5477256"/>
            <a:ext cx="402336" cy="402336"/>
          </a:xfrm>
          <a:prstGeom prst="ellipse">
            <a:avLst/>
          </a:prstGeom>
          <a:solidFill>
            <a:srgbClr val="3DD68C"/>
          </a:solidFill>
          <a:ln/>
        </p:spPr>
      </p:sp>
      <p:sp>
        <p:nvSpPr>
          <p:cNvPr id="30" name="Text 28"/>
          <p:cNvSpPr/>
          <p:nvPr/>
        </p:nvSpPr>
        <p:spPr>
          <a:xfrm>
            <a:off x="777240" y="5477256"/>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5</a:t>
            </a:r>
            <a:endParaRPr lang="en-US" sz="1500" dirty="0"/>
          </a:p>
        </p:txBody>
      </p:sp>
      <p:sp>
        <p:nvSpPr>
          <p:cNvPr id="31" name="Text 29"/>
          <p:cNvSpPr/>
          <p:nvPr/>
        </p:nvSpPr>
        <p:spPr>
          <a:xfrm>
            <a:off x="1371600" y="5385816"/>
            <a:ext cx="566928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Results, lessons, and your questions</a:t>
            </a:r>
            <a:endParaRPr lang="en-US" sz="1700" dirty="0"/>
          </a:p>
        </p:txBody>
      </p:sp>
      <p:sp>
        <p:nvSpPr>
          <p:cNvPr id="32" name="Text 30"/>
          <p:cNvSpPr/>
          <p:nvPr/>
        </p:nvSpPr>
        <p:spPr>
          <a:xfrm>
            <a:off x="1371600" y="5696712"/>
            <a:ext cx="841248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Real measured numbers, five portable rules, then Q&amp;A.</a:t>
            </a:r>
            <a:endParaRPr lang="en-US" sz="1300" dirty="0"/>
          </a:p>
        </p:txBody>
      </p:sp>
      <p:sp>
        <p:nvSpPr>
          <p:cNvPr id="33" name="Text 31"/>
          <p:cNvSpPr/>
          <p:nvPr/>
        </p:nvSpPr>
        <p:spPr>
          <a:xfrm>
            <a:off x="10058400" y="5257800"/>
            <a:ext cx="1371600" cy="841248"/>
          </a:xfrm>
          <a:prstGeom prst="rect">
            <a:avLst/>
          </a:prstGeom>
          <a:noFill/>
          <a:ln/>
        </p:spPr>
        <p:txBody>
          <a:bodyPr wrap="square" lIns="0" tIns="0" rIns="0" bIns="0" rtlCol="0" anchor="ctr"/>
          <a:lstStyle/>
          <a:p>
            <a:pPr algn="r" indent="0" marL="0">
              <a:buNone/>
            </a:pPr>
            <a:r>
              <a:rPr lang="en-US" sz="1400" b="1" dirty="0">
                <a:solidFill>
                  <a:srgbClr val="3DD68C"/>
                </a:solidFill>
                <a:latin typeface="Arial" pitchFamily="34" charset="0"/>
                <a:ea typeface="Arial" pitchFamily="34" charset="-122"/>
                <a:cs typeface="Arial" pitchFamily="34" charset="-120"/>
              </a:rPr>
              <a:t>25 min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PROBLEM</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Nobody scrolls 4,000 photos to find themselves</a:t>
            </a:r>
            <a:endParaRPr lang="en-US" sz="3400" dirty="0"/>
          </a:p>
        </p:txBody>
      </p:sp>
      <p:sp>
        <p:nvSpPr>
          <p:cNvPr id="4" name="Shape 2"/>
          <p:cNvSpPr/>
          <p:nvPr/>
        </p:nvSpPr>
        <p:spPr>
          <a:xfrm>
            <a:off x="566928" y="1554480"/>
            <a:ext cx="3520440" cy="1920240"/>
          </a:xfrm>
          <a:prstGeom prst="roundRect">
            <a:avLst>
              <a:gd name="adj" fmla="val 6667"/>
            </a:avLst>
          </a:prstGeom>
          <a:solidFill>
            <a:srgbClr val="1A2350"/>
          </a:solidFill>
          <a:ln/>
        </p:spPr>
      </p:sp>
      <p:sp>
        <p:nvSpPr>
          <p:cNvPr id="5" name="Text 3"/>
          <p:cNvSpPr/>
          <p:nvPr/>
        </p:nvSpPr>
        <p:spPr>
          <a:xfrm>
            <a:off x="566928" y="1691640"/>
            <a:ext cx="3520440" cy="1005840"/>
          </a:xfrm>
          <a:prstGeom prst="rect">
            <a:avLst/>
          </a:prstGeom>
          <a:noFill/>
          <a:ln/>
        </p:spPr>
        <p:txBody>
          <a:bodyPr wrap="square" lIns="0" tIns="0" rIns="0" bIns="0" rtlCol="0" anchor="ctr"/>
          <a:lstStyle/>
          <a:p>
            <a:pPr algn="ctr" indent="0" marL="0">
              <a:buNone/>
            </a:pPr>
            <a:r>
              <a:rPr lang="en-US" sz="5800" b="1" dirty="0">
                <a:solidFill>
                  <a:srgbClr val="4C6FFF"/>
                </a:solidFill>
                <a:latin typeface="Cambria" pitchFamily="34" charset="0"/>
                <a:ea typeface="Cambria" pitchFamily="34" charset="-122"/>
                <a:cs typeface="Cambria" pitchFamily="34" charset="-120"/>
              </a:rPr>
              <a:t>4,000</a:t>
            </a:r>
            <a:endParaRPr lang="en-US" sz="5800" dirty="0"/>
          </a:p>
        </p:txBody>
      </p:sp>
      <p:sp>
        <p:nvSpPr>
          <p:cNvPr id="6" name="Text 4"/>
          <p:cNvSpPr/>
          <p:nvPr/>
        </p:nvSpPr>
        <p:spPr>
          <a:xfrm>
            <a:off x="841248" y="2697480"/>
            <a:ext cx="2971800" cy="640080"/>
          </a:xfrm>
          <a:prstGeom prst="rect">
            <a:avLst/>
          </a:prstGeom>
          <a:noFill/>
          <a:ln/>
        </p:spPr>
        <p:txBody>
          <a:bodyPr wrap="square" lIns="0" tIns="0" rIns="0" bIns="0" rtlCol="0" anchor="t"/>
          <a:lstStyle/>
          <a:p>
            <a:pPr algn="ctr" indent="0" marL="0">
              <a:buNone/>
            </a:pPr>
            <a:r>
              <a:rPr lang="en-US" sz="1400" dirty="0">
                <a:solidFill>
                  <a:srgbClr val="8A93B8"/>
                </a:solidFill>
                <a:latin typeface="Arial" pitchFamily="34" charset="0"/>
                <a:ea typeface="Arial" pitchFamily="34" charset="-122"/>
                <a:cs typeface="Arial" pitchFamily="34" charset="-120"/>
              </a:rPr>
              <a:t>photos from one college fest</a:t>
            </a:r>
            <a:endParaRPr lang="en-US" sz="1400" dirty="0"/>
          </a:p>
        </p:txBody>
      </p:sp>
      <p:sp>
        <p:nvSpPr>
          <p:cNvPr id="7" name="Shape 5"/>
          <p:cNvSpPr/>
          <p:nvPr/>
        </p:nvSpPr>
        <p:spPr>
          <a:xfrm>
            <a:off x="4270248" y="1554480"/>
            <a:ext cx="3520440" cy="1920240"/>
          </a:xfrm>
          <a:prstGeom prst="roundRect">
            <a:avLst>
              <a:gd name="adj" fmla="val 6667"/>
            </a:avLst>
          </a:prstGeom>
          <a:solidFill>
            <a:srgbClr val="1A2350"/>
          </a:solidFill>
          <a:ln/>
        </p:spPr>
      </p:sp>
      <p:sp>
        <p:nvSpPr>
          <p:cNvPr id="8" name="Text 6"/>
          <p:cNvSpPr/>
          <p:nvPr/>
        </p:nvSpPr>
        <p:spPr>
          <a:xfrm>
            <a:off x="4270248" y="1691640"/>
            <a:ext cx="3520440" cy="1005840"/>
          </a:xfrm>
          <a:prstGeom prst="rect">
            <a:avLst/>
          </a:prstGeom>
          <a:noFill/>
          <a:ln/>
        </p:spPr>
        <p:txBody>
          <a:bodyPr wrap="square" lIns="0" tIns="0" rIns="0" bIns="0" rtlCol="0" anchor="ctr"/>
          <a:lstStyle/>
          <a:p>
            <a:pPr algn="ctr" indent="0" marL="0">
              <a:buNone/>
            </a:pPr>
            <a:r>
              <a:rPr lang="en-US" sz="5800" b="1" dirty="0">
                <a:solidFill>
                  <a:srgbClr val="3DD68C"/>
                </a:solidFill>
                <a:latin typeface="Cambria" pitchFamily="34" charset="0"/>
                <a:ea typeface="Cambria" pitchFamily="34" charset="-122"/>
                <a:cs typeface="Cambria" pitchFamily="34" charset="-120"/>
              </a:rPr>
              <a:t>~12</a:t>
            </a:r>
            <a:endParaRPr lang="en-US" sz="5800" dirty="0"/>
          </a:p>
        </p:txBody>
      </p:sp>
      <p:sp>
        <p:nvSpPr>
          <p:cNvPr id="9" name="Text 7"/>
          <p:cNvSpPr/>
          <p:nvPr/>
        </p:nvSpPr>
        <p:spPr>
          <a:xfrm>
            <a:off x="4544568" y="2697480"/>
            <a:ext cx="2971800" cy="640080"/>
          </a:xfrm>
          <a:prstGeom prst="rect">
            <a:avLst/>
          </a:prstGeom>
          <a:noFill/>
          <a:ln/>
        </p:spPr>
        <p:txBody>
          <a:bodyPr wrap="square" lIns="0" tIns="0" rIns="0" bIns="0" rtlCol="0" anchor="t"/>
          <a:lstStyle/>
          <a:p>
            <a:pPr algn="ctr" indent="0" marL="0">
              <a:buNone/>
            </a:pPr>
            <a:r>
              <a:rPr lang="en-US" sz="1400" dirty="0">
                <a:solidFill>
                  <a:srgbClr val="8A93B8"/>
                </a:solidFill>
                <a:latin typeface="Arial" pitchFamily="34" charset="0"/>
                <a:ea typeface="Arial" pitchFamily="34" charset="-122"/>
                <a:cs typeface="Arial" pitchFamily="34" charset="-120"/>
              </a:rPr>
              <a:t>of them actually have you in</a:t>
            </a:r>
            <a:endParaRPr lang="en-US" sz="1400" dirty="0"/>
          </a:p>
        </p:txBody>
      </p:sp>
      <p:sp>
        <p:nvSpPr>
          <p:cNvPr id="10" name="Shape 8"/>
          <p:cNvSpPr/>
          <p:nvPr/>
        </p:nvSpPr>
        <p:spPr>
          <a:xfrm>
            <a:off x="7973568" y="1554480"/>
            <a:ext cx="3520440" cy="1920240"/>
          </a:xfrm>
          <a:prstGeom prst="roundRect">
            <a:avLst>
              <a:gd name="adj" fmla="val 6667"/>
            </a:avLst>
          </a:prstGeom>
          <a:solidFill>
            <a:srgbClr val="1A2350"/>
          </a:solidFill>
          <a:ln/>
        </p:spPr>
      </p:sp>
      <p:sp>
        <p:nvSpPr>
          <p:cNvPr id="11" name="Text 9"/>
          <p:cNvSpPr/>
          <p:nvPr/>
        </p:nvSpPr>
        <p:spPr>
          <a:xfrm>
            <a:off x="7973568" y="1691640"/>
            <a:ext cx="3520440" cy="1005840"/>
          </a:xfrm>
          <a:prstGeom prst="rect">
            <a:avLst/>
          </a:prstGeom>
          <a:noFill/>
          <a:ln/>
        </p:spPr>
        <p:txBody>
          <a:bodyPr wrap="square" lIns="0" tIns="0" rIns="0" bIns="0" rtlCol="0" anchor="ctr"/>
          <a:lstStyle/>
          <a:p>
            <a:pPr algn="ctr" indent="0" marL="0">
              <a:buNone/>
            </a:pPr>
            <a:r>
              <a:rPr lang="en-US" sz="5800" b="1" dirty="0">
                <a:solidFill>
                  <a:srgbClr val="FFB020"/>
                </a:solidFill>
                <a:latin typeface="Cambria" pitchFamily="34" charset="0"/>
                <a:ea typeface="Cambria" pitchFamily="34" charset="-122"/>
                <a:cs typeface="Cambria" pitchFamily="34" charset="-120"/>
              </a:rPr>
              <a:t>1 hr</a:t>
            </a:r>
            <a:endParaRPr lang="en-US" sz="5800" dirty="0"/>
          </a:p>
        </p:txBody>
      </p:sp>
      <p:sp>
        <p:nvSpPr>
          <p:cNvPr id="12" name="Text 10"/>
          <p:cNvSpPr/>
          <p:nvPr/>
        </p:nvSpPr>
        <p:spPr>
          <a:xfrm>
            <a:off x="8247888" y="2697480"/>
            <a:ext cx="2971800" cy="640080"/>
          </a:xfrm>
          <a:prstGeom prst="rect">
            <a:avLst/>
          </a:prstGeom>
          <a:noFill/>
          <a:ln/>
        </p:spPr>
        <p:txBody>
          <a:bodyPr wrap="square" lIns="0" tIns="0" rIns="0" bIns="0" rtlCol="0" anchor="t"/>
          <a:lstStyle/>
          <a:p>
            <a:pPr algn="ctr" indent="0" marL="0">
              <a:buNone/>
            </a:pPr>
            <a:r>
              <a:rPr lang="en-US" sz="1400" dirty="0">
                <a:solidFill>
                  <a:srgbClr val="8A93B8"/>
                </a:solidFill>
                <a:latin typeface="Arial" pitchFamily="34" charset="0"/>
                <a:ea typeface="Arial" pitchFamily="34" charset="-122"/>
                <a:cs typeface="Arial" pitchFamily="34" charset="-120"/>
              </a:rPr>
              <a:t>of scrolling to find them by hand</a:t>
            </a:r>
            <a:endParaRPr lang="en-US" sz="1400" dirty="0"/>
          </a:p>
        </p:txBody>
      </p:sp>
      <p:sp>
        <p:nvSpPr>
          <p:cNvPr id="13" name="Shape 11"/>
          <p:cNvSpPr/>
          <p:nvPr/>
        </p:nvSpPr>
        <p:spPr>
          <a:xfrm>
            <a:off x="566928" y="3794760"/>
            <a:ext cx="11064240" cy="1371600"/>
          </a:xfrm>
          <a:prstGeom prst="roundRect">
            <a:avLst>
              <a:gd name="adj" fmla="val 9333"/>
            </a:avLst>
          </a:prstGeom>
          <a:solidFill>
            <a:srgbClr val="141B3E"/>
          </a:solidFill>
          <a:ln w="25400">
            <a:solidFill>
              <a:srgbClr val="3DD68C"/>
            </a:solidFill>
            <a:prstDash val="solid"/>
          </a:ln>
        </p:spPr>
      </p:sp>
      <p:sp>
        <p:nvSpPr>
          <p:cNvPr id="14" name="Text 12"/>
          <p:cNvSpPr/>
          <p:nvPr/>
        </p:nvSpPr>
        <p:spPr>
          <a:xfrm>
            <a:off x="914400" y="3977640"/>
            <a:ext cx="10058400" cy="320040"/>
          </a:xfrm>
          <a:prstGeom prst="rect">
            <a:avLst/>
          </a:prstGeom>
          <a:noFill/>
          <a:ln/>
        </p:spPr>
        <p:txBody>
          <a:bodyPr wrap="square" lIns="0" tIns="0" rIns="0" bIns="0" rtlCol="0" anchor="ctr"/>
          <a:lstStyle/>
          <a:p>
            <a:pPr indent="0" marL="0">
              <a:buNone/>
            </a:pPr>
            <a:r>
              <a:rPr lang="en-US" sz="1400" b="1" dirty="0">
                <a:solidFill>
                  <a:srgbClr val="3DD68C"/>
                </a:solidFill>
                <a:latin typeface="Arial" pitchFamily="34" charset="0"/>
                <a:ea typeface="Arial" pitchFamily="34" charset="-122"/>
                <a:cs typeface="Arial" pitchFamily="34" charset="-120"/>
              </a:rPr>
              <a:t>The product answer</a:t>
            </a:r>
            <a:endParaRPr lang="en-US" sz="1400" dirty="0"/>
          </a:p>
        </p:txBody>
      </p:sp>
      <p:sp>
        <p:nvSpPr>
          <p:cNvPr id="15" name="Text 13"/>
          <p:cNvSpPr/>
          <p:nvPr/>
        </p:nvSpPr>
        <p:spPr>
          <a:xfrm>
            <a:off x="914400" y="4297680"/>
            <a:ext cx="10149840" cy="73152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You submit one selfie on a public link and get a private gallery containing exactly the photos you appear in. No account. No scrolling. No access to anyone else’s pictures.</a:t>
            </a:r>
            <a:endParaRPr lang="en-US" sz="1600" dirty="0"/>
          </a:p>
        </p:txBody>
      </p:sp>
      <p:sp>
        <p:nvSpPr>
          <p:cNvPr id="16" name="Text 14"/>
          <p:cNvSpPr/>
          <p:nvPr/>
        </p:nvSpPr>
        <p:spPr>
          <a:xfrm>
            <a:off x="566928" y="5486400"/>
            <a:ext cx="11064240" cy="457200"/>
          </a:xfrm>
          <a:prstGeom prst="rect">
            <a:avLst/>
          </a:prstGeom>
          <a:noFill/>
          <a:ln/>
        </p:spPr>
        <p:txBody>
          <a:bodyPr wrap="square" lIns="0" tIns="0" rIns="0" bIns="0" rtlCol="0" anchor="ctr"/>
          <a:lstStyle/>
          <a:p>
            <a:pPr indent="0" marL="0">
              <a:buNone/>
            </a:pPr>
            <a:r>
              <a:rPr lang="en-US" sz="1600" i="1" dirty="0">
                <a:solidFill>
                  <a:srgbClr val="8A93B8"/>
                </a:solidFill>
                <a:latin typeface="Arial" pitchFamily="34" charset="0"/>
                <a:ea typeface="Arial" pitchFamily="34" charset="-122"/>
                <a:cs typeface="Arial" pitchFamily="34" charset="-120"/>
              </a:rPr>
              <a:t>The engineering answer is the rest of this session.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THREE KINDS OF USER</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What EventLens actually is</a:t>
            </a:r>
            <a:endParaRPr lang="en-US" sz="3400" dirty="0"/>
          </a:p>
        </p:txBody>
      </p:sp>
      <p:sp>
        <p:nvSpPr>
          <p:cNvPr id="4" name="Shape 2"/>
          <p:cNvSpPr/>
          <p:nvPr/>
        </p:nvSpPr>
        <p:spPr>
          <a:xfrm>
            <a:off x="566928" y="1554480"/>
            <a:ext cx="3520440" cy="4023360"/>
          </a:xfrm>
          <a:prstGeom prst="roundRect">
            <a:avLst>
              <a:gd name="adj" fmla="val 3636"/>
            </a:avLst>
          </a:prstGeom>
          <a:solidFill>
            <a:srgbClr val="1A2350"/>
          </a:solidFill>
          <a:ln/>
        </p:spPr>
      </p:sp>
      <p:sp>
        <p:nvSpPr>
          <p:cNvPr id="5" name="Shape 3"/>
          <p:cNvSpPr/>
          <p:nvPr/>
        </p:nvSpPr>
        <p:spPr>
          <a:xfrm>
            <a:off x="841248" y="1810512"/>
            <a:ext cx="365760" cy="365760"/>
          </a:xfrm>
          <a:prstGeom prst="ellipse">
            <a:avLst/>
          </a:prstGeom>
          <a:solidFill>
            <a:srgbClr val="4C6FFF"/>
          </a:solidFill>
          <a:ln/>
        </p:spPr>
      </p:sp>
      <p:sp>
        <p:nvSpPr>
          <p:cNvPr id="6" name="Text 4"/>
          <p:cNvSpPr/>
          <p:nvPr/>
        </p:nvSpPr>
        <p:spPr>
          <a:xfrm>
            <a:off x="1344168" y="1783080"/>
            <a:ext cx="2560320" cy="411480"/>
          </a:xfrm>
          <a:prstGeom prst="rect">
            <a:avLst/>
          </a:prstGeom>
          <a:noFill/>
          <a:ln/>
        </p:spPr>
        <p:txBody>
          <a:bodyPr wrap="square" lIns="0" tIns="0" rIns="0" bIns="0" rtlCol="0" anchor="ctr"/>
          <a:lstStyle/>
          <a:p>
            <a:pPr indent="0" marL="0">
              <a:buNone/>
            </a:pPr>
            <a:r>
              <a:rPr lang="en-US" sz="1900" b="1" dirty="0">
                <a:solidFill>
                  <a:srgbClr val="4C6FFF"/>
                </a:solidFill>
                <a:latin typeface="Arial" pitchFamily="34" charset="0"/>
                <a:ea typeface="Arial" pitchFamily="34" charset="-122"/>
                <a:cs typeface="Arial" pitchFamily="34" charset="-120"/>
              </a:rPr>
              <a:t>Organisers</a:t>
            </a:r>
            <a:endParaRPr lang="en-US" sz="1900" dirty="0"/>
          </a:p>
        </p:txBody>
      </p:sp>
      <p:sp>
        <p:nvSpPr>
          <p:cNvPr id="7" name="Text 5"/>
          <p:cNvSpPr/>
          <p:nvPr/>
        </p:nvSpPr>
        <p:spPr>
          <a:xfrm>
            <a:off x="886968" y="2377440"/>
            <a:ext cx="2926080" cy="301752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Create an org and an event</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Bulk upload, or import straight from Google Drive / OneDrive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Review detected people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Erase a participant on request</a:t>
            </a:r>
            <a:endParaRPr lang="en-US" sz="1400" dirty="0"/>
          </a:p>
        </p:txBody>
      </p:sp>
      <p:sp>
        <p:nvSpPr>
          <p:cNvPr id="8" name="Shape 6"/>
          <p:cNvSpPr/>
          <p:nvPr/>
        </p:nvSpPr>
        <p:spPr>
          <a:xfrm>
            <a:off x="4270248" y="1554480"/>
            <a:ext cx="3520440" cy="4023360"/>
          </a:xfrm>
          <a:prstGeom prst="roundRect">
            <a:avLst>
              <a:gd name="adj" fmla="val 3636"/>
            </a:avLst>
          </a:prstGeom>
          <a:solidFill>
            <a:srgbClr val="1A2350"/>
          </a:solidFill>
          <a:ln/>
        </p:spPr>
      </p:sp>
      <p:sp>
        <p:nvSpPr>
          <p:cNvPr id="9" name="Shape 7"/>
          <p:cNvSpPr/>
          <p:nvPr/>
        </p:nvSpPr>
        <p:spPr>
          <a:xfrm>
            <a:off x="4544568" y="1810512"/>
            <a:ext cx="365760" cy="365760"/>
          </a:xfrm>
          <a:prstGeom prst="ellipse">
            <a:avLst/>
          </a:prstGeom>
          <a:solidFill>
            <a:srgbClr val="3DD68C"/>
          </a:solidFill>
          <a:ln/>
        </p:spPr>
      </p:sp>
      <p:sp>
        <p:nvSpPr>
          <p:cNvPr id="10" name="Text 8"/>
          <p:cNvSpPr/>
          <p:nvPr/>
        </p:nvSpPr>
        <p:spPr>
          <a:xfrm>
            <a:off x="5047488" y="1783080"/>
            <a:ext cx="2560320" cy="41148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Participants</a:t>
            </a:r>
            <a:endParaRPr lang="en-US" sz="1900" dirty="0"/>
          </a:p>
        </p:txBody>
      </p:sp>
      <p:sp>
        <p:nvSpPr>
          <p:cNvPr id="11" name="Text 9"/>
          <p:cNvSpPr/>
          <p:nvPr/>
        </p:nvSpPr>
        <p:spPr>
          <a:xfrm>
            <a:off x="4590288" y="2377440"/>
            <a:ext cx="2926080" cy="301752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Open a public event link</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Submit one selfie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Get a tokenised private gallery</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Download the lot as a zip</a:t>
            </a:r>
            <a:endParaRPr lang="en-US" sz="1400" dirty="0"/>
          </a:p>
        </p:txBody>
      </p:sp>
      <p:sp>
        <p:nvSpPr>
          <p:cNvPr id="12" name="Shape 10"/>
          <p:cNvSpPr/>
          <p:nvPr/>
        </p:nvSpPr>
        <p:spPr>
          <a:xfrm>
            <a:off x="7973568" y="1554480"/>
            <a:ext cx="3520440" cy="4023360"/>
          </a:xfrm>
          <a:prstGeom prst="roundRect">
            <a:avLst>
              <a:gd name="adj" fmla="val 3636"/>
            </a:avLst>
          </a:prstGeom>
          <a:solidFill>
            <a:srgbClr val="1A2350"/>
          </a:solidFill>
          <a:ln/>
        </p:spPr>
      </p:sp>
      <p:sp>
        <p:nvSpPr>
          <p:cNvPr id="13" name="Shape 11"/>
          <p:cNvSpPr/>
          <p:nvPr/>
        </p:nvSpPr>
        <p:spPr>
          <a:xfrm>
            <a:off x="8247888" y="1810512"/>
            <a:ext cx="365760" cy="365760"/>
          </a:xfrm>
          <a:prstGeom prst="ellipse">
            <a:avLst/>
          </a:prstGeom>
          <a:solidFill>
            <a:srgbClr val="FFB020"/>
          </a:solidFill>
          <a:ln/>
        </p:spPr>
      </p:sp>
      <p:sp>
        <p:nvSpPr>
          <p:cNvPr id="14" name="Text 12"/>
          <p:cNvSpPr/>
          <p:nvPr/>
        </p:nvSpPr>
        <p:spPr>
          <a:xfrm>
            <a:off x="8750808" y="1783080"/>
            <a:ext cx="2560320" cy="41148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Admins</a:t>
            </a:r>
            <a:endParaRPr lang="en-US" sz="1900" dirty="0"/>
          </a:p>
        </p:txBody>
      </p:sp>
      <p:sp>
        <p:nvSpPr>
          <p:cNvPr id="15" name="Text 13"/>
          <p:cNvSpPr/>
          <p:nvPr/>
        </p:nvSpPr>
        <p:spPr>
          <a:xfrm>
            <a:off x="8293608" y="2377440"/>
            <a:ext cx="2926080" cy="301752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Watch every queue live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See what the GPU box is doing and what it has cost</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Wake it or pause it by hand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SWITCH TO THE BROWSER</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Demo — the whole product in four minutes</a:t>
            </a:r>
            <a:endParaRPr lang="en-US" sz="3400" dirty="0"/>
          </a:p>
        </p:txBody>
      </p:sp>
      <p:sp>
        <p:nvSpPr>
          <p:cNvPr id="4" name="Shape 2"/>
          <p:cNvSpPr/>
          <p:nvPr/>
        </p:nvSpPr>
        <p:spPr>
          <a:xfrm>
            <a:off x="566928" y="1554480"/>
            <a:ext cx="11064240" cy="868680"/>
          </a:xfrm>
          <a:prstGeom prst="roundRect">
            <a:avLst>
              <a:gd name="adj" fmla="val 10526"/>
            </a:avLst>
          </a:prstGeom>
          <a:solidFill>
            <a:srgbClr val="1A2350"/>
          </a:solidFill>
          <a:ln/>
        </p:spPr>
      </p:sp>
      <p:sp>
        <p:nvSpPr>
          <p:cNvPr id="5" name="Shape 3"/>
          <p:cNvSpPr/>
          <p:nvPr/>
        </p:nvSpPr>
        <p:spPr>
          <a:xfrm>
            <a:off x="804672" y="1792224"/>
            <a:ext cx="402336" cy="402336"/>
          </a:xfrm>
          <a:prstGeom prst="ellipse">
            <a:avLst/>
          </a:prstGeom>
          <a:solidFill>
            <a:srgbClr val="FFB020"/>
          </a:solidFill>
          <a:ln/>
        </p:spPr>
      </p:sp>
      <p:sp>
        <p:nvSpPr>
          <p:cNvPr id="6" name="Text 4"/>
          <p:cNvSpPr/>
          <p:nvPr/>
        </p:nvSpPr>
        <p:spPr>
          <a:xfrm>
            <a:off x="804672" y="179222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17320" y="167335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Create an event and drag in 50 photos</a:t>
            </a:r>
            <a:endParaRPr lang="en-US" sz="1700" dirty="0"/>
          </a:p>
        </p:txBody>
      </p:sp>
      <p:sp>
        <p:nvSpPr>
          <p:cNvPr id="8" name="Text 6"/>
          <p:cNvSpPr/>
          <p:nvPr/>
        </p:nvSpPr>
        <p:spPr>
          <a:xfrm>
            <a:off x="1417320" y="201168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Watch the processing badges flip as jobs drain.</a:t>
            </a:r>
            <a:endParaRPr lang="en-US" sz="1300" dirty="0"/>
          </a:p>
        </p:txBody>
      </p:sp>
      <p:sp>
        <p:nvSpPr>
          <p:cNvPr id="9" name="Shape 7"/>
          <p:cNvSpPr/>
          <p:nvPr/>
        </p:nvSpPr>
        <p:spPr>
          <a:xfrm>
            <a:off x="566928" y="2560320"/>
            <a:ext cx="11064240" cy="868680"/>
          </a:xfrm>
          <a:prstGeom prst="roundRect">
            <a:avLst>
              <a:gd name="adj" fmla="val 10526"/>
            </a:avLst>
          </a:prstGeom>
          <a:solidFill>
            <a:srgbClr val="1A2350"/>
          </a:solidFill>
          <a:ln/>
        </p:spPr>
      </p:sp>
      <p:sp>
        <p:nvSpPr>
          <p:cNvPr id="10" name="Shape 8"/>
          <p:cNvSpPr/>
          <p:nvPr/>
        </p:nvSpPr>
        <p:spPr>
          <a:xfrm>
            <a:off x="804672" y="2798064"/>
            <a:ext cx="402336" cy="402336"/>
          </a:xfrm>
          <a:prstGeom prst="ellipse">
            <a:avLst/>
          </a:prstGeom>
          <a:solidFill>
            <a:srgbClr val="FFB020"/>
          </a:solidFill>
          <a:ln/>
        </p:spPr>
      </p:sp>
      <p:sp>
        <p:nvSpPr>
          <p:cNvPr id="11" name="Text 9"/>
          <p:cNvSpPr/>
          <p:nvPr/>
        </p:nvSpPr>
        <p:spPr>
          <a:xfrm>
            <a:off x="804672" y="279806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417320" y="267919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Open the public link as a stranger</a:t>
            </a:r>
            <a:endParaRPr lang="en-US" sz="1700" dirty="0"/>
          </a:p>
        </p:txBody>
      </p:sp>
      <p:sp>
        <p:nvSpPr>
          <p:cNvPr id="13" name="Text 11"/>
          <p:cNvSpPr/>
          <p:nvPr/>
        </p:nvSpPr>
        <p:spPr>
          <a:xfrm>
            <a:off x="1417320" y="301752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No login. Just a selfie box and a privacy notice.</a:t>
            </a:r>
            <a:endParaRPr lang="en-US" sz="1300" dirty="0"/>
          </a:p>
        </p:txBody>
      </p:sp>
      <p:sp>
        <p:nvSpPr>
          <p:cNvPr id="14" name="Shape 12"/>
          <p:cNvSpPr/>
          <p:nvPr/>
        </p:nvSpPr>
        <p:spPr>
          <a:xfrm>
            <a:off x="566928" y="3566160"/>
            <a:ext cx="11064240" cy="868680"/>
          </a:xfrm>
          <a:prstGeom prst="roundRect">
            <a:avLst>
              <a:gd name="adj" fmla="val 10526"/>
            </a:avLst>
          </a:prstGeom>
          <a:solidFill>
            <a:srgbClr val="1A2350"/>
          </a:solidFill>
          <a:ln/>
        </p:spPr>
      </p:sp>
      <p:sp>
        <p:nvSpPr>
          <p:cNvPr id="15" name="Shape 13"/>
          <p:cNvSpPr/>
          <p:nvPr/>
        </p:nvSpPr>
        <p:spPr>
          <a:xfrm>
            <a:off x="804672" y="3803904"/>
            <a:ext cx="402336" cy="402336"/>
          </a:xfrm>
          <a:prstGeom prst="ellipse">
            <a:avLst/>
          </a:prstGeom>
          <a:solidFill>
            <a:srgbClr val="FFB020"/>
          </a:solidFill>
          <a:ln/>
        </p:spPr>
      </p:sp>
      <p:sp>
        <p:nvSpPr>
          <p:cNvPr id="16" name="Text 14"/>
          <p:cNvSpPr/>
          <p:nvPr/>
        </p:nvSpPr>
        <p:spPr>
          <a:xfrm>
            <a:off x="804672" y="380390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1417320" y="368503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Submit a selfie</a:t>
            </a:r>
            <a:endParaRPr lang="en-US" sz="1700" dirty="0"/>
          </a:p>
        </p:txBody>
      </p:sp>
      <p:sp>
        <p:nvSpPr>
          <p:cNvPr id="18" name="Text 16"/>
          <p:cNvSpPr/>
          <p:nvPr/>
        </p:nvSpPr>
        <p:spPr>
          <a:xfrm>
            <a:off x="1417320" y="402336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Either a live queue position, or "we will email you".</a:t>
            </a:r>
            <a:endParaRPr lang="en-US" sz="1300" dirty="0"/>
          </a:p>
        </p:txBody>
      </p:sp>
      <p:sp>
        <p:nvSpPr>
          <p:cNvPr id="19" name="Shape 17"/>
          <p:cNvSpPr/>
          <p:nvPr/>
        </p:nvSpPr>
        <p:spPr>
          <a:xfrm>
            <a:off x="566928" y="4572000"/>
            <a:ext cx="11064240" cy="868680"/>
          </a:xfrm>
          <a:prstGeom prst="roundRect">
            <a:avLst>
              <a:gd name="adj" fmla="val 10526"/>
            </a:avLst>
          </a:prstGeom>
          <a:solidFill>
            <a:srgbClr val="1A2350"/>
          </a:solidFill>
          <a:ln/>
        </p:spPr>
      </p:sp>
      <p:sp>
        <p:nvSpPr>
          <p:cNvPr id="20" name="Shape 18"/>
          <p:cNvSpPr/>
          <p:nvPr/>
        </p:nvSpPr>
        <p:spPr>
          <a:xfrm>
            <a:off x="804672" y="4809744"/>
            <a:ext cx="402336" cy="402336"/>
          </a:xfrm>
          <a:prstGeom prst="ellipse">
            <a:avLst/>
          </a:prstGeom>
          <a:solidFill>
            <a:srgbClr val="FFB020"/>
          </a:solidFill>
          <a:ln/>
        </p:spPr>
      </p:sp>
      <p:sp>
        <p:nvSpPr>
          <p:cNvPr id="21" name="Text 19"/>
          <p:cNvSpPr/>
          <p:nvPr/>
        </p:nvSpPr>
        <p:spPr>
          <a:xfrm>
            <a:off x="804672" y="480974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1417320" y="469087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Open the personal gallery</a:t>
            </a:r>
            <a:endParaRPr lang="en-US" sz="1700" dirty="0"/>
          </a:p>
        </p:txBody>
      </p:sp>
      <p:sp>
        <p:nvSpPr>
          <p:cNvPr id="23" name="Text 21"/>
          <p:cNvSpPr/>
          <p:nvPr/>
        </p:nvSpPr>
        <p:spPr>
          <a:xfrm>
            <a:off x="1417320" y="502920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Only that person’s photos. Download all as a zip.</a:t>
            </a:r>
            <a:endParaRPr lang="en-US" sz="1300" dirty="0"/>
          </a:p>
        </p:txBody>
      </p:sp>
      <p:sp>
        <p:nvSpPr>
          <p:cNvPr id="24" name="Text 22"/>
          <p:cNvSpPr/>
          <p:nvPr/>
        </p:nvSpPr>
        <p:spPr>
          <a:xfrm>
            <a:off x="566928" y="5760720"/>
            <a:ext cx="11064240" cy="457200"/>
          </a:xfrm>
          <a:prstGeom prst="rect">
            <a:avLst/>
          </a:prstGeom>
          <a:noFill/>
          <a:ln/>
        </p:spPr>
        <p:txBody>
          <a:bodyPr wrap="square" lIns="0" tIns="0" rIns="0" bIns="0" rtlCol="0" anchor="ctr"/>
          <a:lstStyle/>
          <a:p>
            <a:pPr indent="0" marL="0">
              <a:buNone/>
            </a:pPr>
            <a:r>
              <a:rPr lang="en-US" sz="1500" i="1" dirty="0">
                <a:solidFill>
                  <a:srgbClr val="A9BEFF"/>
                </a:solidFill>
                <a:latin typeface="Arial" pitchFamily="34" charset="0"/>
                <a:ea typeface="Arial" pitchFamily="34" charset="-122"/>
                <a:cs typeface="Arial" pitchFamily="34" charset="-120"/>
              </a:rPr>
              <a:t>One thing to notice: after "upload", nothing waits on the browser. Everything is a queued job.</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MACHINE LEARNING BIT</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How a face becomes a number</a:t>
            </a:r>
            <a:endParaRPr lang="en-US" sz="3400" dirty="0"/>
          </a:p>
        </p:txBody>
      </p:sp>
      <p:sp>
        <p:nvSpPr>
          <p:cNvPr id="4" name="Shape 2"/>
          <p:cNvSpPr/>
          <p:nvPr/>
        </p:nvSpPr>
        <p:spPr>
          <a:xfrm>
            <a:off x="566928" y="1554480"/>
            <a:ext cx="2615184" cy="2286000"/>
          </a:xfrm>
          <a:prstGeom prst="roundRect">
            <a:avLst>
              <a:gd name="adj" fmla="val 5600"/>
            </a:avLst>
          </a:prstGeom>
          <a:solidFill>
            <a:srgbClr val="1A2350"/>
          </a:solidFill>
          <a:ln w="25400">
            <a:solidFill>
              <a:srgbClr val="4C6FFF"/>
            </a:solidFill>
            <a:prstDash val="solid"/>
          </a:ln>
        </p:spPr>
      </p:sp>
      <p:sp>
        <p:nvSpPr>
          <p:cNvPr id="5" name="Shape 3"/>
          <p:cNvSpPr/>
          <p:nvPr/>
        </p:nvSpPr>
        <p:spPr>
          <a:xfrm>
            <a:off x="822960" y="1810512"/>
            <a:ext cx="384048" cy="384048"/>
          </a:xfrm>
          <a:prstGeom prst="ellipse">
            <a:avLst/>
          </a:prstGeom>
          <a:solidFill>
            <a:srgbClr val="4C6FFF"/>
          </a:solidFill>
          <a:ln/>
        </p:spPr>
      </p:sp>
      <p:sp>
        <p:nvSpPr>
          <p:cNvPr id="6" name="Text 4"/>
          <p:cNvSpPr/>
          <p:nvPr/>
        </p:nvSpPr>
        <p:spPr>
          <a:xfrm>
            <a:off x="822960" y="1810512"/>
            <a:ext cx="384048" cy="384048"/>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22960" y="2331720"/>
            <a:ext cx="210312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Detect</a:t>
            </a:r>
            <a:endParaRPr lang="en-US" sz="2000" dirty="0"/>
          </a:p>
        </p:txBody>
      </p:sp>
      <p:sp>
        <p:nvSpPr>
          <p:cNvPr id="8" name="Text 6"/>
          <p:cNvSpPr/>
          <p:nvPr/>
        </p:nvSpPr>
        <p:spPr>
          <a:xfrm>
            <a:off x="822960" y="2743200"/>
            <a:ext cx="2103120" cy="9601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RetinaFace finds the face boxes in a photo.</a:t>
            </a:r>
            <a:endParaRPr lang="en-US" sz="1300" dirty="0"/>
          </a:p>
        </p:txBody>
      </p:sp>
      <p:sp>
        <p:nvSpPr>
          <p:cNvPr id="9" name="Text 7"/>
          <p:cNvSpPr/>
          <p:nvPr/>
        </p:nvSpPr>
        <p:spPr>
          <a:xfrm>
            <a:off x="3182112" y="2468880"/>
            <a:ext cx="182880" cy="365760"/>
          </a:xfrm>
          <a:prstGeom prst="rect">
            <a:avLst/>
          </a:prstGeom>
          <a:noFill/>
          <a:ln/>
        </p:spPr>
        <p:txBody>
          <a:bodyPr wrap="square" lIns="0" tIns="0" rIns="0" bIns="0" rtlCol="0" anchor="ctr"/>
          <a:lstStyle/>
          <a:p>
            <a:pPr algn="ctr" indent="0" marL="0">
              <a:buNone/>
            </a:pPr>
            <a:r>
              <a:rPr lang="en-US" sz="1800" dirty="0">
                <a:solidFill>
                  <a:srgbClr val="33407F"/>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3364992" y="1554480"/>
            <a:ext cx="2615184" cy="2286000"/>
          </a:xfrm>
          <a:prstGeom prst="roundRect">
            <a:avLst>
              <a:gd name="adj" fmla="val 5600"/>
            </a:avLst>
          </a:prstGeom>
          <a:solidFill>
            <a:srgbClr val="1A2350"/>
          </a:solidFill>
          <a:ln w="25400">
            <a:solidFill>
              <a:srgbClr val="4C6FFF"/>
            </a:solidFill>
            <a:prstDash val="solid"/>
          </a:ln>
        </p:spPr>
      </p:sp>
      <p:sp>
        <p:nvSpPr>
          <p:cNvPr id="11" name="Shape 9"/>
          <p:cNvSpPr/>
          <p:nvPr/>
        </p:nvSpPr>
        <p:spPr>
          <a:xfrm>
            <a:off x="3621024" y="1810512"/>
            <a:ext cx="384048" cy="384048"/>
          </a:xfrm>
          <a:prstGeom prst="ellipse">
            <a:avLst/>
          </a:prstGeom>
          <a:solidFill>
            <a:srgbClr val="4C6FFF"/>
          </a:solidFill>
          <a:ln/>
        </p:spPr>
      </p:sp>
      <p:sp>
        <p:nvSpPr>
          <p:cNvPr id="12" name="Text 10"/>
          <p:cNvSpPr/>
          <p:nvPr/>
        </p:nvSpPr>
        <p:spPr>
          <a:xfrm>
            <a:off x="3621024" y="1810512"/>
            <a:ext cx="384048" cy="384048"/>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3621024" y="2331720"/>
            <a:ext cx="210312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Embed</a:t>
            </a:r>
            <a:endParaRPr lang="en-US" sz="2000" dirty="0"/>
          </a:p>
        </p:txBody>
      </p:sp>
      <p:sp>
        <p:nvSpPr>
          <p:cNvPr id="14" name="Text 12"/>
          <p:cNvSpPr/>
          <p:nvPr/>
        </p:nvSpPr>
        <p:spPr>
          <a:xfrm>
            <a:off x="3621024" y="2743200"/>
            <a:ext cx="2103120" cy="9601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ArcFace (buffalo_l) turns each face into 512 numbers.</a:t>
            </a:r>
            <a:endParaRPr lang="en-US" sz="1300" dirty="0"/>
          </a:p>
        </p:txBody>
      </p:sp>
      <p:sp>
        <p:nvSpPr>
          <p:cNvPr id="15" name="Text 13"/>
          <p:cNvSpPr/>
          <p:nvPr/>
        </p:nvSpPr>
        <p:spPr>
          <a:xfrm>
            <a:off x="5980176" y="2468880"/>
            <a:ext cx="182880" cy="365760"/>
          </a:xfrm>
          <a:prstGeom prst="rect">
            <a:avLst/>
          </a:prstGeom>
          <a:noFill/>
          <a:ln/>
        </p:spPr>
        <p:txBody>
          <a:bodyPr wrap="square" lIns="0" tIns="0" rIns="0" bIns="0" rtlCol="0" anchor="ctr"/>
          <a:lstStyle/>
          <a:p>
            <a:pPr algn="ctr" indent="0" marL="0">
              <a:buNone/>
            </a:pPr>
            <a:r>
              <a:rPr lang="en-US" sz="1800" dirty="0">
                <a:solidFill>
                  <a:srgbClr val="33407F"/>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163056" y="1554480"/>
            <a:ext cx="2615184" cy="2286000"/>
          </a:xfrm>
          <a:prstGeom prst="roundRect">
            <a:avLst>
              <a:gd name="adj" fmla="val 5600"/>
            </a:avLst>
          </a:prstGeom>
          <a:solidFill>
            <a:srgbClr val="1A2350"/>
          </a:solidFill>
          <a:ln w="25400">
            <a:solidFill>
              <a:srgbClr val="3DD68C"/>
            </a:solidFill>
            <a:prstDash val="solid"/>
          </a:ln>
        </p:spPr>
      </p:sp>
      <p:sp>
        <p:nvSpPr>
          <p:cNvPr id="17" name="Shape 15"/>
          <p:cNvSpPr/>
          <p:nvPr/>
        </p:nvSpPr>
        <p:spPr>
          <a:xfrm>
            <a:off x="6419088" y="1810512"/>
            <a:ext cx="384048" cy="384048"/>
          </a:xfrm>
          <a:prstGeom prst="ellipse">
            <a:avLst/>
          </a:prstGeom>
          <a:solidFill>
            <a:srgbClr val="3DD68C"/>
          </a:solidFill>
          <a:ln/>
        </p:spPr>
      </p:sp>
      <p:sp>
        <p:nvSpPr>
          <p:cNvPr id="18" name="Text 16"/>
          <p:cNvSpPr/>
          <p:nvPr/>
        </p:nvSpPr>
        <p:spPr>
          <a:xfrm>
            <a:off x="6419088" y="1810512"/>
            <a:ext cx="384048" cy="384048"/>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6419088" y="2331720"/>
            <a:ext cx="210312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Store</a:t>
            </a:r>
            <a:endParaRPr lang="en-US" sz="2000" dirty="0"/>
          </a:p>
        </p:txBody>
      </p:sp>
      <p:sp>
        <p:nvSpPr>
          <p:cNvPr id="20" name="Text 18"/>
          <p:cNvSpPr/>
          <p:nvPr/>
        </p:nvSpPr>
        <p:spPr>
          <a:xfrm>
            <a:off x="6419088" y="2743200"/>
            <a:ext cx="2103120" cy="9601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Those vectors go into Postgres with pgvector.</a:t>
            </a:r>
            <a:endParaRPr lang="en-US" sz="1300" dirty="0"/>
          </a:p>
        </p:txBody>
      </p:sp>
      <p:sp>
        <p:nvSpPr>
          <p:cNvPr id="21" name="Text 19"/>
          <p:cNvSpPr/>
          <p:nvPr/>
        </p:nvSpPr>
        <p:spPr>
          <a:xfrm>
            <a:off x="8778240" y="2468880"/>
            <a:ext cx="182880" cy="365760"/>
          </a:xfrm>
          <a:prstGeom prst="rect">
            <a:avLst/>
          </a:prstGeom>
          <a:noFill/>
          <a:ln/>
        </p:spPr>
        <p:txBody>
          <a:bodyPr wrap="square" lIns="0" tIns="0" rIns="0" bIns="0" rtlCol="0" anchor="ctr"/>
          <a:lstStyle/>
          <a:p>
            <a:pPr algn="ctr" indent="0" marL="0">
              <a:buNone/>
            </a:pPr>
            <a:r>
              <a:rPr lang="en-US" sz="1800" dirty="0">
                <a:solidFill>
                  <a:srgbClr val="33407F"/>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8961120" y="1554480"/>
            <a:ext cx="2615184" cy="2286000"/>
          </a:xfrm>
          <a:prstGeom prst="roundRect">
            <a:avLst>
              <a:gd name="adj" fmla="val 5600"/>
            </a:avLst>
          </a:prstGeom>
          <a:solidFill>
            <a:srgbClr val="1A2350"/>
          </a:solidFill>
          <a:ln w="25400">
            <a:solidFill>
              <a:srgbClr val="3DD68C"/>
            </a:solidFill>
            <a:prstDash val="solid"/>
          </a:ln>
        </p:spPr>
      </p:sp>
      <p:sp>
        <p:nvSpPr>
          <p:cNvPr id="23" name="Shape 21"/>
          <p:cNvSpPr/>
          <p:nvPr/>
        </p:nvSpPr>
        <p:spPr>
          <a:xfrm>
            <a:off x="9217152" y="1810512"/>
            <a:ext cx="384048" cy="384048"/>
          </a:xfrm>
          <a:prstGeom prst="ellipse">
            <a:avLst/>
          </a:prstGeom>
          <a:solidFill>
            <a:srgbClr val="3DD68C"/>
          </a:solidFill>
          <a:ln/>
        </p:spPr>
      </p:sp>
      <p:sp>
        <p:nvSpPr>
          <p:cNvPr id="24" name="Text 22"/>
          <p:cNvSpPr/>
          <p:nvPr/>
        </p:nvSpPr>
        <p:spPr>
          <a:xfrm>
            <a:off x="9217152" y="1810512"/>
            <a:ext cx="384048" cy="384048"/>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4</a:t>
            </a:r>
            <a:endParaRPr lang="en-US" sz="1500" dirty="0"/>
          </a:p>
        </p:txBody>
      </p:sp>
      <p:sp>
        <p:nvSpPr>
          <p:cNvPr id="25" name="Text 23"/>
          <p:cNvSpPr/>
          <p:nvPr/>
        </p:nvSpPr>
        <p:spPr>
          <a:xfrm>
            <a:off x="9217152" y="2331720"/>
            <a:ext cx="210312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Search</a:t>
            </a:r>
            <a:endParaRPr lang="en-US" sz="2000" dirty="0"/>
          </a:p>
        </p:txBody>
      </p:sp>
      <p:sp>
        <p:nvSpPr>
          <p:cNvPr id="26" name="Text 24"/>
          <p:cNvSpPr/>
          <p:nvPr/>
        </p:nvSpPr>
        <p:spPr>
          <a:xfrm>
            <a:off x="9217152" y="2743200"/>
            <a:ext cx="2103120" cy="9601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selfie becomes one vector. Find its nearest neighbours.</a:t>
            </a:r>
            <a:endParaRPr lang="en-US" sz="1300" dirty="0"/>
          </a:p>
        </p:txBody>
      </p:sp>
      <p:sp>
        <p:nvSpPr>
          <p:cNvPr id="27" name="Shape 25"/>
          <p:cNvSpPr/>
          <p:nvPr/>
        </p:nvSpPr>
        <p:spPr>
          <a:xfrm>
            <a:off x="566928" y="4114800"/>
            <a:ext cx="11064240" cy="1371600"/>
          </a:xfrm>
          <a:prstGeom prst="roundRect">
            <a:avLst>
              <a:gd name="adj" fmla="val 9333"/>
            </a:avLst>
          </a:prstGeom>
          <a:solidFill>
            <a:srgbClr val="141B3E"/>
          </a:solidFill>
          <a:ln w="25400">
            <a:solidFill>
              <a:srgbClr val="A9BEFF"/>
            </a:solidFill>
            <a:prstDash val="solid"/>
          </a:ln>
        </p:spPr>
      </p:sp>
      <p:sp>
        <p:nvSpPr>
          <p:cNvPr id="28" name="Text 26"/>
          <p:cNvSpPr/>
          <p:nvPr/>
        </p:nvSpPr>
        <p:spPr>
          <a:xfrm>
            <a:off x="914400" y="4297680"/>
            <a:ext cx="10058400" cy="320040"/>
          </a:xfrm>
          <a:prstGeom prst="rect">
            <a:avLst/>
          </a:prstGeom>
          <a:noFill/>
          <a:ln/>
        </p:spPr>
        <p:txBody>
          <a:bodyPr wrap="square" lIns="0" tIns="0" rIns="0" bIns="0" rtlCol="0" anchor="ctr"/>
          <a:lstStyle/>
          <a:p>
            <a:pPr indent="0" marL="0">
              <a:buNone/>
            </a:pPr>
            <a:r>
              <a:rPr lang="en-US" sz="1400" b="1" dirty="0">
                <a:solidFill>
                  <a:srgbClr val="A9BEFF"/>
                </a:solidFill>
                <a:latin typeface="Arial" pitchFamily="34" charset="0"/>
                <a:ea typeface="Arial" pitchFamily="34" charset="-122"/>
                <a:cs typeface="Arial" pitchFamily="34" charset="-120"/>
              </a:rPr>
              <a:t>The analogy that works</a:t>
            </a:r>
            <a:endParaRPr lang="en-US" sz="1400" dirty="0"/>
          </a:p>
        </p:txBody>
      </p:sp>
      <p:sp>
        <p:nvSpPr>
          <p:cNvPr id="29" name="Text 27"/>
          <p:cNvSpPr/>
          <p:nvPr/>
        </p:nvSpPr>
        <p:spPr>
          <a:xfrm>
            <a:off x="914400" y="4617720"/>
            <a:ext cx="10149840" cy="73152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A fingerprint written as coordinates. Similar faces land near each other in 512-dimensional space, so "who is this?" becomes "what is closest to this point?" — a question a database can answer.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THE RULE THAT MATTERS MOST</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 face from Event A must never match into Event B</a:t>
            </a:r>
            <a:endParaRPr lang="en-US" sz="3400" dirty="0"/>
          </a:p>
        </p:txBody>
      </p:sp>
      <p:sp>
        <p:nvSpPr>
          <p:cNvPr id="4" name="Shape 2"/>
          <p:cNvSpPr/>
          <p:nvPr/>
        </p:nvSpPr>
        <p:spPr>
          <a:xfrm>
            <a:off x="566928" y="1600200"/>
            <a:ext cx="5394960" cy="2103120"/>
          </a:xfrm>
          <a:prstGeom prst="roundRect">
            <a:avLst>
              <a:gd name="adj" fmla="val 6087"/>
            </a:avLst>
          </a:prstGeom>
          <a:solidFill>
            <a:srgbClr val="1A2350"/>
          </a:solidFill>
          <a:ln/>
        </p:spPr>
      </p:sp>
      <p:sp>
        <p:nvSpPr>
          <p:cNvPr id="5" name="Text 3"/>
          <p:cNvSpPr/>
          <p:nvPr/>
        </p:nvSpPr>
        <p:spPr>
          <a:xfrm>
            <a:off x="868680" y="1783080"/>
            <a:ext cx="48463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it is not optional</a:t>
            </a:r>
            <a:endParaRPr lang="en-US" sz="1600" dirty="0"/>
          </a:p>
        </p:txBody>
      </p:sp>
      <p:sp>
        <p:nvSpPr>
          <p:cNvPr id="6" name="Text 4"/>
          <p:cNvSpPr/>
          <p:nvPr/>
        </p:nvSpPr>
        <p:spPr>
          <a:xfrm>
            <a:off x="868680" y="2194560"/>
            <a:ext cx="4846320" cy="12801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Two different events may contain the same person. Letting one selfie reach across events would hand a stranger photos from a party they never attended.</a:t>
            </a:r>
            <a:endParaRPr lang="en-US" sz="1400" dirty="0"/>
          </a:p>
        </p:txBody>
      </p:sp>
      <p:sp>
        <p:nvSpPr>
          <p:cNvPr id="7" name="Shape 5"/>
          <p:cNvSpPr/>
          <p:nvPr/>
        </p:nvSpPr>
        <p:spPr>
          <a:xfrm>
            <a:off x="6236208" y="1600200"/>
            <a:ext cx="5394960" cy="2103120"/>
          </a:xfrm>
          <a:prstGeom prst="roundRect">
            <a:avLst>
              <a:gd name="adj" fmla="val 6087"/>
            </a:avLst>
          </a:prstGeom>
          <a:solidFill>
            <a:srgbClr val="1A2350"/>
          </a:solidFill>
          <a:ln/>
        </p:spPr>
      </p:sp>
      <p:sp>
        <p:nvSpPr>
          <p:cNvPr id="8" name="Text 6"/>
          <p:cNvSpPr/>
          <p:nvPr/>
        </p:nvSpPr>
        <p:spPr>
          <a:xfrm>
            <a:off x="6537960" y="1783080"/>
            <a:ext cx="48463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it is enforced</a:t>
            </a:r>
            <a:endParaRPr lang="en-US" sz="1600" dirty="0"/>
          </a:p>
        </p:txBody>
      </p:sp>
      <p:sp>
        <p:nvSpPr>
          <p:cNvPr id="9" name="Text 7"/>
          <p:cNvSpPr/>
          <p:nvPr/>
        </p:nvSpPr>
        <p:spPr>
          <a:xfrm>
            <a:off x="6537960" y="2194560"/>
            <a:ext cx="4846320" cy="12801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The vector search is scoped to one event id at the query level — not filtered afterwards in application code, where a future refactor could quietly drop it.</a:t>
            </a:r>
            <a:endParaRPr lang="en-US" sz="1400" dirty="0"/>
          </a:p>
        </p:txBody>
      </p:sp>
      <p:sp>
        <p:nvSpPr>
          <p:cNvPr id="10" name="Shape 8"/>
          <p:cNvSpPr/>
          <p:nvPr/>
        </p:nvSpPr>
        <p:spPr>
          <a:xfrm>
            <a:off x="566928" y="3977640"/>
            <a:ext cx="11064240" cy="1737360"/>
          </a:xfrm>
          <a:prstGeom prst="roundRect">
            <a:avLst>
              <a:gd name="adj" fmla="val 7368"/>
            </a:avLst>
          </a:prstGeom>
          <a:solidFill>
            <a:srgbClr val="141B3E"/>
          </a:solidFill>
          <a:ln w="31750">
            <a:solidFill>
              <a:srgbClr val="3DD68C"/>
            </a:solidFill>
            <a:prstDash val="solid"/>
          </a:ln>
        </p:spPr>
      </p:sp>
      <p:sp>
        <p:nvSpPr>
          <p:cNvPr id="11" name="Text 9"/>
          <p:cNvSpPr/>
          <p:nvPr/>
        </p:nvSpPr>
        <p:spPr>
          <a:xfrm>
            <a:off x="914400" y="4160520"/>
            <a:ext cx="10058400" cy="365760"/>
          </a:xfrm>
          <a:prstGeom prst="rect">
            <a:avLst/>
          </a:prstGeom>
          <a:noFill/>
          <a:ln/>
        </p:spPr>
        <p:txBody>
          <a:bodyPr wrap="square" lIns="0" tIns="0" rIns="0" bIns="0" rtlCol="0" anchor="ctr"/>
          <a:lstStyle/>
          <a:p>
            <a:pPr indent="0" marL="0">
              <a:buNone/>
            </a:pPr>
            <a:r>
              <a:rPr lang="en-US" sz="1700" b="1" dirty="0">
                <a:solidFill>
                  <a:srgbClr val="3DD68C"/>
                </a:solidFill>
                <a:latin typeface="Courier New" pitchFamily="34" charset="0"/>
                <a:ea typeface="Courier New" pitchFamily="34" charset="-122"/>
                <a:cs typeface="Courier New" pitchFamily="34" charset="-120"/>
              </a:rPr>
              <a:t>test/face-isolation.spec.ts</a:t>
            </a:r>
            <a:endParaRPr lang="en-US" sz="1700" dirty="0"/>
          </a:p>
        </p:txBody>
      </p:sp>
      <p:sp>
        <p:nvSpPr>
          <p:cNvPr id="12" name="Text 10"/>
          <p:cNvSpPr/>
          <p:nvPr/>
        </p:nvSpPr>
        <p:spPr>
          <a:xfrm>
            <a:off x="914400" y="4572000"/>
            <a:ext cx="10149840" cy="73152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Seed two events with the same person, run the matcher, assert nothing crosses. If anyone ever breaks the isolation, the build goes red before the privacy incident happens.</a:t>
            </a:r>
            <a:endParaRPr lang="en-US" sz="1600" dirty="0"/>
          </a:p>
        </p:txBody>
      </p:sp>
      <p:sp>
        <p:nvSpPr>
          <p:cNvPr id="13" name="Text 11"/>
          <p:cNvSpPr/>
          <p:nvPr/>
        </p:nvSpPr>
        <p:spPr>
          <a:xfrm>
            <a:off x="914400" y="5257800"/>
            <a:ext cx="10149840" cy="365760"/>
          </a:xfrm>
          <a:prstGeom prst="rect">
            <a:avLst/>
          </a:prstGeom>
          <a:noFill/>
          <a:ln/>
        </p:spPr>
        <p:txBody>
          <a:bodyPr wrap="square" lIns="0" tIns="0" rIns="0" bIns="0" rtlCol="0" anchor="ctr"/>
          <a:lstStyle/>
          <a:p>
            <a:pPr indent="0" marL="0">
              <a:buNone/>
            </a:pPr>
            <a:r>
              <a:rPr lang="en-US" sz="1500" b="1" i="1" dirty="0">
                <a:solidFill>
                  <a:srgbClr val="3DD68C"/>
                </a:solidFill>
                <a:latin typeface="Arial" pitchFamily="34" charset="0"/>
                <a:ea typeface="Arial" pitchFamily="34" charset="-122"/>
                <a:cs typeface="Arial" pitchFamily="34" charset="-120"/>
              </a:rPr>
              <a:t>Takeaway: when a rule is a privacy rule, encode it as a test — not a comment.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ARCHITECTURE</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Two machines, and only one of them is expensive</a:t>
            </a:r>
            <a:endParaRPr lang="en-US" sz="2800" dirty="0"/>
          </a:p>
        </p:txBody>
      </p:sp>
      <p:pic>
        <p:nvPicPr>
          <p:cNvPr id="4" name="Image 0" descr="architectur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DEPLOYMENT</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Same image. Different environment variable.</a:t>
            </a:r>
            <a:endParaRPr lang="en-US" sz="3400" dirty="0"/>
          </a:p>
        </p:txBody>
      </p:sp>
      <p:sp>
        <p:nvSpPr>
          <p:cNvPr id="4" name="Shape 2"/>
          <p:cNvSpPr/>
          <p:nvPr/>
        </p:nvSpPr>
        <p:spPr>
          <a:xfrm>
            <a:off x="566928" y="1554480"/>
            <a:ext cx="5394960" cy="3291840"/>
          </a:xfrm>
          <a:prstGeom prst="roundRect">
            <a:avLst>
              <a:gd name="adj" fmla="val 3889"/>
            </a:avLst>
          </a:prstGeom>
          <a:solidFill>
            <a:srgbClr val="1A2350"/>
          </a:solidFill>
          <a:ln w="25400">
            <a:solidFill>
              <a:srgbClr val="4C6FFF"/>
            </a:solidFill>
            <a:prstDash val="solid"/>
          </a:ln>
        </p:spPr>
      </p:sp>
      <p:sp>
        <p:nvSpPr>
          <p:cNvPr id="5" name="Text 3"/>
          <p:cNvSpPr/>
          <p:nvPr/>
        </p:nvSpPr>
        <p:spPr>
          <a:xfrm>
            <a:off x="886968" y="1737360"/>
            <a:ext cx="4754880" cy="365760"/>
          </a:xfrm>
          <a:prstGeom prst="rect">
            <a:avLst/>
          </a:prstGeom>
          <a:noFill/>
          <a:ln/>
        </p:spPr>
        <p:txBody>
          <a:bodyPr wrap="square" lIns="0" tIns="0" rIns="0" bIns="0" rtlCol="0" anchor="ctr"/>
          <a:lstStyle/>
          <a:p>
            <a:pPr indent="0" marL="0">
              <a:buNone/>
            </a:pPr>
            <a:r>
              <a:rPr lang="en-US" sz="1900" b="1" dirty="0">
                <a:solidFill>
                  <a:srgbClr val="4C6FFF"/>
                </a:solidFill>
                <a:latin typeface="Arial" pitchFamily="34" charset="0"/>
                <a:ea typeface="Arial" pitchFamily="34" charset="-122"/>
                <a:cs typeface="Arial" pitchFamily="34" charset="-120"/>
              </a:rPr>
              <a:t>API host — Render</a:t>
            </a:r>
            <a:endParaRPr lang="en-US" sz="1900" dirty="0"/>
          </a:p>
        </p:txBody>
      </p:sp>
      <p:sp>
        <p:nvSpPr>
          <p:cNvPr id="6" name="Text 4"/>
          <p:cNvSpPr/>
          <p:nvPr/>
        </p:nvSpPr>
        <p:spPr>
          <a:xfrm>
            <a:off x="886968" y="2121408"/>
            <a:ext cx="4754880" cy="320040"/>
          </a:xfrm>
          <a:prstGeom prst="rect">
            <a:avLst/>
          </a:prstGeom>
          <a:noFill/>
          <a:ln/>
        </p:spPr>
        <p:txBody>
          <a:bodyPr wrap="square" lIns="0" tIns="0" rIns="0" bIns="0" rtlCol="0" anchor="ctr"/>
          <a:lstStyle/>
          <a:p>
            <a:pPr indent="0" marL="0">
              <a:buNone/>
            </a:pPr>
            <a:r>
              <a:rPr lang="en-US" sz="1300" dirty="0">
                <a:solidFill>
                  <a:srgbClr val="A9BEFF"/>
                </a:solidFill>
                <a:latin typeface="Courier New" pitchFamily="34" charset="0"/>
                <a:ea typeface="Courier New" pitchFamily="34" charset="-122"/>
                <a:cs typeface="Courier New" pitchFamily="34" charset="-120"/>
              </a:rPr>
              <a:t>EL_WORKERS_INCLUDE=api,ingest</a:t>
            </a:r>
            <a:endParaRPr lang="en-US" sz="1300" dirty="0"/>
          </a:p>
        </p:txBody>
      </p:sp>
      <p:sp>
        <p:nvSpPr>
          <p:cNvPr id="7" name="Text 5"/>
          <p:cNvSpPr/>
          <p:nvPr/>
        </p:nvSpPr>
        <p:spPr>
          <a:xfrm>
            <a:off x="932688" y="2606040"/>
            <a:ext cx="4663440" cy="20116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Serves every HTTP request</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Owns the cron schedules</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Runs face clustering (CPU is fine)</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Decides when the GPU should exist</a:t>
            </a:r>
            <a:endParaRPr lang="en-US" sz="1400" dirty="0"/>
          </a:p>
        </p:txBody>
      </p:sp>
      <p:sp>
        <p:nvSpPr>
          <p:cNvPr id="8" name="Shape 6"/>
          <p:cNvSpPr/>
          <p:nvPr/>
        </p:nvSpPr>
        <p:spPr>
          <a:xfrm>
            <a:off x="6236208" y="1554480"/>
            <a:ext cx="5394960" cy="3291840"/>
          </a:xfrm>
          <a:prstGeom prst="roundRect">
            <a:avLst>
              <a:gd name="adj" fmla="val 3889"/>
            </a:avLst>
          </a:prstGeom>
          <a:solidFill>
            <a:srgbClr val="1A2350"/>
          </a:solidFill>
          <a:ln w="25400">
            <a:solidFill>
              <a:srgbClr val="FFB020"/>
            </a:solidFill>
            <a:prstDash val="solid"/>
          </a:ln>
        </p:spPr>
      </p:sp>
      <p:sp>
        <p:nvSpPr>
          <p:cNvPr id="9" name="Text 7"/>
          <p:cNvSpPr/>
          <p:nvPr/>
        </p:nvSpPr>
        <p:spPr>
          <a:xfrm>
            <a:off x="6556248" y="1737360"/>
            <a:ext cx="475488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GPU host — JarvisLabs</a:t>
            </a:r>
            <a:endParaRPr lang="en-US" sz="1900" dirty="0"/>
          </a:p>
        </p:txBody>
      </p:sp>
      <p:sp>
        <p:nvSpPr>
          <p:cNvPr id="10" name="Text 8"/>
          <p:cNvSpPr/>
          <p:nvPr/>
        </p:nvSpPr>
        <p:spPr>
          <a:xfrm>
            <a:off x="6556248" y="2121408"/>
            <a:ext cx="4754880" cy="320040"/>
          </a:xfrm>
          <a:prstGeom prst="rect">
            <a:avLst/>
          </a:prstGeom>
          <a:noFill/>
          <a:ln/>
        </p:spPr>
        <p:txBody>
          <a:bodyPr wrap="square" lIns="0" tIns="0" rIns="0" bIns="0" rtlCol="0" anchor="ctr"/>
          <a:lstStyle/>
          <a:p>
            <a:pPr indent="0" marL="0">
              <a:buNone/>
            </a:pPr>
            <a:r>
              <a:rPr lang="en-US" sz="1300" dirty="0">
                <a:solidFill>
                  <a:srgbClr val="A9BEFF"/>
                </a:solidFill>
                <a:latin typeface="Courier New" pitchFamily="34" charset="0"/>
                <a:ea typeface="Courier New" pitchFamily="34" charset="-122"/>
                <a:cs typeface="Courier New" pitchFamily="34" charset="-120"/>
              </a:rPr>
              <a:t>EL_WORKERS_INCLUDE=media</a:t>
            </a:r>
            <a:endParaRPr lang="en-US" sz="1300" dirty="0"/>
          </a:p>
        </p:txBody>
      </p:sp>
      <p:sp>
        <p:nvSpPr>
          <p:cNvPr id="11" name="Text 9"/>
          <p:cNvSpPr/>
          <p:nvPr/>
        </p:nvSpPr>
        <p:spPr>
          <a:xfrm>
            <a:off x="6601968" y="2606040"/>
            <a:ext cx="4663440" cy="20116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Face detection and embedding</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Thumbnails and video transcode</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Runs the ml sidecar next to it</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Exists only while there is work</a:t>
            </a:r>
            <a:endParaRPr lang="en-US" sz="1400" dirty="0"/>
          </a:p>
        </p:txBody>
      </p:sp>
      <p:sp>
        <p:nvSpPr>
          <p:cNvPr id="12" name="Shape 10"/>
          <p:cNvSpPr/>
          <p:nvPr/>
        </p:nvSpPr>
        <p:spPr>
          <a:xfrm>
            <a:off x="566928" y="5120640"/>
            <a:ext cx="11064240" cy="1097280"/>
          </a:xfrm>
          <a:prstGeom prst="roundRect">
            <a:avLst>
              <a:gd name="adj" fmla="val 11667"/>
            </a:avLst>
          </a:prstGeom>
          <a:solidFill>
            <a:srgbClr val="141B3E"/>
          </a:solidFill>
          <a:ln/>
        </p:spPr>
      </p:sp>
      <p:sp>
        <p:nvSpPr>
          <p:cNvPr id="13" name="Text 11"/>
          <p:cNvSpPr/>
          <p:nvPr/>
        </p:nvSpPr>
        <p:spPr>
          <a:xfrm>
            <a:off x="914400" y="5257800"/>
            <a:ext cx="10332720" cy="82296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Microservices do not require separate repositories. They require separate lifecycles — and here the queue, not the network call, is what separates them.</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PROCESS FLOW</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From an uploaded photo to a stranger’s private gallery</a:t>
            </a:r>
            <a:endParaRPr lang="en-US" sz="2800" dirty="0"/>
          </a:p>
        </p:txBody>
      </p:sp>
      <p:pic>
        <p:nvPicPr>
          <p:cNvPr id="4" name="Image 0" descr="process-flow.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330"/>
        </a:solidFill>
      </p:bgPr>
    </p:bg>
    <p:spTree>
      <p:nvGrpSpPr>
        <p:cNvPr id="1" name=""/>
        <p:cNvGrpSpPr/>
        <p:nvPr/>
      </p:nvGrpSpPr>
      <p:grpSpPr>
        <a:xfrm>
          <a:off x="0" y="0"/>
          <a:ext cx="0" cy="0"/>
          <a:chOff x="0" y="0"/>
          <a:chExt cx="0" cy="0"/>
        </a:xfrm>
      </p:grpSpPr>
      <p:sp>
        <p:nvSpPr>
          <p:cNvPr id="2" name="Shape 0"/>
          <p:cNvSpPr/>
          <p:nvPr/>
        </p:nvSpPr>
        <p:spPr>
          <a:xfrm>
            <a:off x="566928" y="1828800"/>
            <a:ext cx="2377440" cy="457200"/>
          </a:xfrm>
          <a:prstGeom prst="roundRect">
            <a:avLst>
              <a:gd name="adj" fmla="val 44000"/>
            </a:avLst>
          </a:prstGeom>
          <a:solidFill>
            <a:srgbClr val="FFB020"/>
          </a:solidFill>
          <a:ln/>
        </p:spPr>
      </p:sp>
      <p:sp>
        <p:nvSpPr>
          <p:cNvPr id="3" name="Text 1"/>
          <p:cNvSpPr/>
          <p:nvPr/>
        </p:nvSpPr>
        <p:spPr>
          <a:xfrm>
            <a:off x="566928" y="1828800"/>
            <a:ext cx="2377440" cy="457200"/>
          </a:xfrm>
          <a:prstGeom prst="rect">
            <a:avLst/>
          </a:prstGeom>
          <a:noFill/>
          <a:ln/>
        </p:spPr>
        <p:txBody>
          <a:bodyPr wrap="square" lIns="0" tIns="0" rIns="0" bIns="0" rtlCol="0" anchor="ctr"/>
          <a:lstStyle/>
          <a:p>
            <a:pPr algn="ctr" indent="0" marL="0">
              <a:buNone/>
            </a:pPr>
            <a:r>
              <a:rPr lang="en-US" sz="1200" b="1" dirty="0">
                <a:solidFill>
                  <a:srgbClr val="11162E"/>
                </a:solidFill>
                <a:latin typeface="Arial" pitchFamily="34" charset="0"/>
                <a:ea typeface="Arial" pitchFamily="34" charset="-122"/>
                <a:cs typeface="Arial" pitchFamily="34" charset="-120"/>
              </a:rPr>
              <a:t>THE MAIN EVENT</a:t>
            </a:r>
            <a:endParaRPr lang="en-US" sz="1200" dirty="0"/>
          </a:p>
        </p:txBody>
      </p:sp>
      <p:sp>
        <p:nvSpPr>
          <p:cNvPr id="4" name="Text 2"/>
          <p:cNvSpPr/>
          <p:nvPr/>
        </p:nvSpPr>
        <p:spPr>
          <a:xfrm>
            <a:off x="566928" y="2423160"/>
            <a:ext cx="10515600" cy="109728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JarvisLabs</a:t>
            </a:r>
            <a:endParaRPr lang="en-US" sz="6200" dirty="0"/>
          </a:p>
        </p:txBody>
      </p:sp>
      <p:sp>
        <p:nvSpPr>
          <p:cNvPr id="5" name="Text 3"/>
          <p:cNvSpPr/>
          <p:nvPr/>
        </p:nvSpPr>
        <p:spPr>
          <a:xfrm>
            <a:off x="566928" y="3520440"/>
            <a:ext cx="9601200" cy="640080"/>
          </a:xfrm>
          <a:prstGeom prst="rect">
            <a:avLst/>
          </a:prstGeom>
          <a:noFill/>
          <a:ln/>
        </p:spPr>
        <p:txBody>
          <a:bodyPr wrap="square" lIns="0" tIns="0" rIns="0" bIns="0" rtlCol="0" anchor="ctr"/>
          <a:lstStyle/>
          <a:p>
            <a:pPr indent="0" marL="0">
              <a:buNone/>
            </a:pPr>
            <a:r>
              <a:rPr lang="en-US" sz="2000" dirty="0">
                <a:solidFill>
                  <a:srgbClr val="A9BEFF"/>
                </a:solidFill>
                <a:latin typeface="Arial" pitchFamily="34" charset="0"/>
                <a:ea typeface="Arial" pitchFamily="34" charset="-122"/>
                <a:cs typeface="Arial" pitchFamily="34" charset="-120"/>
              </a:rPr>
              <a:t>Four problems we hit running a per-second GPU from a web app — and what each one taught us.</a:t>
            </a:r>
            <a:endParaRPr lang="en-US" sz="2000" dirty="0"/>
          </a:p>
        </p:txBody>
      </p:sp>
      <p:sp>
        <p:nvSpPr>
          <p:cNvPr id="6" name="Shape 4"/>
          <p:cNvSpPr/>
          <p:nvPr/>
        </p:nvSpPr>
        <p:spPr>
          <a:xfrm>
            <a:off x="566928" y="4663440"/>
            <a:ext cx="2606040" cy="822960"/>
          </a:xfrm>
          <a:prstGeom prst="roundRect">
            <a:avLst>
              <a:gd name="adj" fmla="val 13333"/>
            </a:avLst>
          </a:prstGeom>
          <a:solidFill>
            <a:srgbClr val="1A2350"/>
          </a:solidFill>
          <a:ln w="19050">
            <a:solidFill>
              <a:srgbClr val="FFB020"/>
            </a:solidFill>
            <a:prstDash val="solid"/>
          </a:ln>
        </p:spPr>
      </p:sp>
      <p:sp>
        <p:nvSpPr>
          <p:cNvPr id="7" name="Text 5"/>
          <p:cNvSpPr/>
          <p:nvPr/>
        </p:nvSpPr>
        <p:spPr>
          <a:xfrm>
            <a:off x="704088" y="4663440"/>
            <a:ext cx="2331720" cy="822960"/>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No REST API exists</a:t>
            </a:r>
            <a:endParaRPr lang="en-US" sz="1400" dirty="0"/>
          </a:p>
        </p:txBody>
      </p:sp>
      <p:sp>
        <p:nvSpPr>
          <p:cNvPr id="8" name="Shape 6"/>
          <p:cNvSpPr/>
          <p:nvPr/>
        </p:nvSpPr>
        <p:spPr>
          <a:xfrm>
            <a:off x="3355848" y="4663440"/>
            <a:ext cx="2606040" cy="822960"/>
          </a:xfrm>
          <a:prstGeom prst="roundRect">
            <a:avLst>
              <a:gd name="adj" fmla="val 13333"/>
            </a:avLst>
          </a:prstGeom>
          <a:solidFill>
            <a:srgbClr val="1A2350"/>
          </a:solidFill>
          <a:ln w="19050">
            <a:solidFill>
              <a:srgbClr val="FFB020"/>
            </a:solidFill>
            <a:prstDash val="solid"/>
          </a:ln>
        </p:spPr>
      </p:sp>
      <p:sp>
        <p:nvSpPr>
          <p:cNvPr id="9" name="Text 7"/>
          <p:cNvSpPr/>
          <p:nvPr/>
        </p:nvSpPr>
        <p:spPr>
          <a:xfrm>
            <a:off x="3493008" y="4663440"/>
            <a:ext cx="2331720" cy="822960"/>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When to wake it</a:t>
            </a:r>
            <a:endParaRPr lang="en-US" sz="1400" dirty="0"/>
          </a:p>
        </p:txBody>
      </p:sp>
      <p:sp>
        <p:nvSpPr>
          <p:cNvPr id="10" name="Shape 8"/>
          <p:cNvSpPr/>
          <p:nvPr/>
        </p:nvSpPr>
        <p:spPr>
          <a:xfrm>
            <a:off x="6144768" y="4663440"/>
            <a:ext cx="2606040" cy="822960"/>
          </a:xfrm>
          <a:prstGeom prst="roundRect">
            <a:avLst>
              <a:gd name="adj" fmla="val 13333"/>
            </a:avLst>
          </a:prstGeom>
          <a:solidFill>
            <a:srgbClr val="1A2350"/>
          </a:solidFill>
          <a:ln w="19050">
            <a:solidFill>
              <a:srgbClr val="FFB020"/>
            </a:solidFill>
            <a:prstDash val="solid"/>
          </a:ln>
        </p:spPr>
      </p:sp>
      <p:sp>
        <p:nvSpPr>
          <p:cNvPr id="11" name="Text 9"/>
          <p:cNvSpPr/>
          <p:nvPr/>
        </p:nvSpPr>
        <p:spPr>
          <a:xfrm>
            <a:off x="6281928" y="4663440"/>
            <a:ext cx="2331720" cy="822960"/>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When to sleep it</a:t>
            </a:r>
            <a:endParaRPr lang="en-US" sz="1400" dirty="0"/>
          </a:p>
        </p:txBody>
      </p:sp>
      <p:sp>
        <p:nvSpPr>
          <p:cNvPr id="12" name="Shape 10"/>
          <p:cNvSpPr/>
          <p:nvPr/>
        </p:nvSpPr>
        <p:spPr>
          <a:xfrm>
            <a:off x="8933688" y="4663440"/>
            <a:ext cx="2606040" cy="822960"/>
          </a:xfrm>
          <a:prstGeom prst="roundRect">
            <a:avLst>
              <a:gd name="adj" fmla="val 13333"/>
            </a:avLst>
          </a:prstGeom>
          <a:solidFill>
            <a:srgbClr val="1A2350"/>
          </a:solidFill>
          <a:ln w="19050">
            <a:solidFill>
              <a:srgbClr val="FFB020"/>
            </a:solidFill>
            <a:prstDash val="solid"/>
          </a:ln>
        </p:spPr>
      </p:sp>
      <p:sp>
        <p:nvSpPr>
          <p:cNvPr id="13" name="Text 11"/>
          <p:cNvSpPr/>
          <p:nvPr/>
        </p:nvSpPr>
        <p:spPr>
          <a:xfrm>
            <a:off x="9070848" y="4663440"/>
            <a:ext cx="2331720" cy="822960"/>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What if the stop call fails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 ZERO</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The workload is bursty. The billing is not.</a:t>
            </a:r>
            <a:endParaRPr lang="en-US" sz="3400" dirty="0"/>
          </a:p>
        </p:txBody>
      </p:sp>
      <p:sp>
        <p:nvSpPr>
          <p:cNvPr id="4" name="Shape 2"/>
          <p:cNvSpPr/>
          <p:nvPr/>
        </p:nvSpPr>
        <p:spPr>
          <a:xfrm>
            <a:off x="566928" y="1554480"/>
            <a:ext cx="5394960" cy="2377440"/>
          </a:xfrm>
          <a:prstGeom prst="roundRect">
            <a:avLst>
              <a:gd name="adj" fmla="val 5385"/>
            </a:avLst>
          </a:prstGeom>
          <a:solidFill>
            <a:srgbClr val="1A2350"/>
          </a:solidFill>
          <a:ln w="25400">
            <a:solidFill>
              <a:srgbClr val="33407F"/>
            </a:solidFill>
            <a:prstDash val="solid"/>
          </a:ln>
        </p:spPr>
      </p:sp>
      <p:sp>
        <p:nvSpPr>
          <p:cNvPr id="5" name="Text 3"/>
          <p:cNvSpPr/>
          <p:nvPr/>
        </p:nvSpPr>
        <p:spPr>
          <a:xfrm>
            <a:off x="868680" y="1737360"/>
            <a:ext cx="4846320" cy="320040"/>
          </a:xfrm>
          <a:prstGeom prst="rect">
            <a:avLst/>
          </a:prstGeom>
          <a:noFill/>
          <a:ln/>
        </p:spPr>
        <p:txBody>
          <a:bodyPr wrap="square" lIns="0" tIns="0" rIns="0" bIns="0" rtlCol="0" anchor="ctr"/>
          <a:lstStyle/>
          <a:p>
            <a:pPr indent="0" marL="0">
              <a:buNone/>
            </a:pPr>
            <a:r>
              <a:rPr lang="en-US" sz="1600" b="1" dirty="0">
                <a:solidFill>
                  <a:srgbClr val="8A93B8"/>
                </a:solidFill>
                <a:latin typeface="Arial" pitchFamily="34" charset="0"/>
                <a:ea typeface="Arial" pitchFamily="34" charset="-122"/>
                <a:cs typeface="Arial" pitchFamily="34" charset="-120"/>
              </a:rPr>
              <a:t>What a GPU costs you</a:t>
            </a:r>
            <a:endParaRPr lang="en-US" sz="1600" dirty="0"/>
          </a:p>
        </p:txBody>
      </p:sp>
      <p:sp>
        <p:nvSpPr>
          <p:cNvPr id="6" name="Text 4"/>
          <p:cNvSpPr/>
          <p:nvPr/>
        </p:nvSpPr>
        <p:spPr>
          <a:xfrm>
            <a:off x="868680" y="2148840"/>
            <a:ext cx="484632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24 × 7</a:t>
            </a:r>
            <a:endParaRPr lang="en-US" sz="4800" dirty="0"/>
          </a:p>
        </p:txBody>
      </p:sp>
      <p:sp>
        <p:nvSpPr>
          <p:cNvPr id="7" name="Text 5"/>
          <p:cNvSpPr/>
          <p:nvPr/>
        </p:nvSpPr>
        <p:spPr>
          <a:xfrm>
            <a:off x="868680" y="3017520"/>
            <a:ext cx="4846320" cy="7315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Billed per second, whether or not a single photo was uploaded that day.</a:t>
            </a:r>
            <a:endParaRPr lang="en-US" sz="1400" dirty="0"/>
          </a:p>
        </p:txBody>
      </p:sp>
      <p:sp>
        <p:nvSpPr>
          <p:cNvPr id="8" name="Shape 6"/>
          <p:cNvSpPr/>
          <p:nvPr/>
        </p:nvSpPr>
        <p:spPr>
          <a:xfrm>
            <a:off x="6236208" y="1554480"/>
            <a:ext cx="5394960" cy="2377440"/>
          </a:xfrm>
          <a:prstGeom prst="roundRect">
            <a:avLst>
              <a:gd name="adj" fmla="val 5385"/>
            </a:avLst>
          </a:prstGeom>
          <a:solidFill>
            <a:srgbClr val="1A2350"/>
          </a:solidFill>
          <a:ln w="25400">
            <a:solidFill>
              <a:srgbClr val="FFB020"/>
            </a:solidFill>
            <a:prstDash val="solid"/>
          </a:ln>
        </p:spPr>
      </p:sp>
      <p:sp>
        <p:nvSpPr>
          <p:cNvPr id="9" name="Text 7"/>
          <p:cNvSpPr/>
          <p:nvPr/>
        </p:nvSpPr>
        <p:spPr>
          <a:xfrm>
            <a:off x="6537960" y="1737360"/>
            <a:ext cx="4846320" cy="320040"/>
          </a:xfrm>
          <a:prstGeom prst="rect">
            <a:avLst/>
          </a:prstGeom>
          <a:noFill/>
          <a:ln/>
        </p:spPr>
        <p:txBody>
          <a:bodyPr wrap="square" lIns="0" tIns="0" rIns="0" bIns="0" rtlCol="0" anchor="ctr"/>
          <a:lstStyle/>
          <a:p>
            <a:pPr indent="0" marL="0">
              <a:buNone/>
            </a:pPr>
            <a:r>
              <a:rPr lang="en-US" sz="1600" b="1" dirty="0">
                <a:solidFill>
                  <a:srgbClr val="FFB020"/>
                </a:solidFill>
                <a:latin typeface="Arial" pitchFamily="34" charset="0"/>
                <a:ea typeface="Arial" pitchFamily="34" charset="-122"/>
                <a:cs typeface="Arial" pitchFamily="34" charset="-120"/>
              </a:rPr>
              <a:t>What the work actually needs</a:t>
            </a:r>
            <a:endParaRPr lang="en-US" sz="1600" dirty="0"/>
          </a:p>
        </p:txBody>
      </p:sp>
      <p:sp>
        <p:nvSpPr>
          <p:cNvPr id="10" name="Text 8"/>
          <p:cNvSpPr/>
          <p:nvPr/>
        </p:nvSpPr>
        <p:spPr>
          <a:xfrm>
            <a:off x="6537960" y="2148840"/>
            <a:ext cx="4846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minutes a day</a:t>
            </a:r>
            <a:endParaRPr lang="en-US" sz="4000" dirty="0"/>
          </a:p>
        </p:txBody>
      </p:sp>
      <p:sp>
        <p:nvSpPr>
          <p:cNvPr id="11" name="Text 9"/>
          <p:cNvSpPr/>
          <p:nvPr/>
        </p:nvSpPr>
        <p:spPr>
          <a:xfrm>
            <a:off x="6537960" y="3017520"/>
            <a:ext cx="4846320" cy="7315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A fest dumps 4,000 photos in one evening, then nothing at all for two weeks.</a:t>
            </a:r>
            <a:endParaRPr lang="en-US" sz="1400" dirty="0"/>
          </a:p>
        </p:txBody>
      </p:sp>
      <p:sp>
        <p:nvSpPr>
          <p:cNvPr id="12" name="Shape 10"/>
          <p:cNvSpPr/>
          <p:nvPr/>
        </p:nvSpPr>
        <p:spPr>
          <a:xfrm>
            <a:off x="566928" y="4206240"/>
            <a:ext cx="11064240" cy="1554480"/>
          </a:xfrm>
          <a:prstGeom prst="roundRect">
            <a:avLst>
              <a:gd name="adj" fmla="val 8235"/>
            </a:avLst>
          </a:prstGeom>
          <a:solidFill>
            <a:srgbClr val="141B3E"/>
          </a:solidFill>
          <a:ln w="25400">
            <a:solidFill>
              <a:srgbClr val="3DD68C"/>
            </a:solidFill>
            <a:prstDash val="solid"/>
          </a:ln>
        </p:spPr>
      </p:sp>
      <p:sp>
        <p:nvSpPr>
          <p:cNvPr id="13" name="Text 11"/>
          <p:cNvSpPr/>
          <p:nvPr/>
        </p:nvSpPr>
        <p:spPr>
          <a:xfrm>
            <a:off x="914400" y="4389120"/>
            <a:ext cx="10332720" cy="411480"/>
          </a:xfrm>
          <a:prstGeom prst="rect">
            <a:avLst/>
          </a:prstGeom>
          <a:noFill/>
          <a:ln/>
        </p:spPr>
        <p:txBody>
          <a:bodyPr wrap="square" lIns="0" tIns="0" rIns="0" bIns="0" rtlCol="0" anchor="ctr"/>
          <a:lstStyle/>
          <a:p>
            <a:pPr indent="0" marL="0">
              <a:buNone/>
            </a:pPr>
            <a:r>
              <a:rPr lang="en-US" sz="2000" b="1" dirty="0">
                <a:solidFill>
                  <a:srgbClr val="3DD68C"/>
                </a:solidFill>
                <a:latin typeface="Arial" pitchFamily="34" charset="0"/>
                <a:ea typeface="Arial" pitchFamily="34" charset="-122"/>
                <a:cs typeface="Arial" pitchFamily="34" charset="-120"/>
              </a:rPr>
              <a:t>So: switch the machine on when there is work, and off when there is not.</a:t>
            </a:r>
            <a:endParaRPr lang="en-US" sz="2000" dirty="0"/>
          </a:p>
        </p:txBody>
      </p:sp>
      <p:sp>
        <p:nvSpPr>
          <p:cNvPr id="14" name="Text 12"/>
          <p:cNvSpPr/>
          <p:nvPr/>
        </p:nvSpPr>
        <p:spPr>
          <a:xfrm>
            <a:off x="914400" y="4846320"/>
            <a:ext cx="10332720" cy="73152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Easy to say. The next four slides are everything that goes wrong between saying it and it being safe to run unattended.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 1</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JarvisLabs ships no REST API</a:t>
            </a:r>
            <a:endParaRPr lang="en-US" sz="3400" dirty="0"/>
          </a:p>
        </p:txBody>
      </p:sp>
      <p:sp>
        <p:nvSpPr>
          <p:cNvPr id="4" name="Shape 2"/>
          <p:cNvSpPr/>
          <p:nvPr/>
        </p:nvSpPr>
        <p:spPr>
          <a:xfrm>
            <a:off x="566928" y="1508760"/>
            <a:ext cx="11064240" cy="1143000"/>
          </a:xfrm>
          <a:prstGeom prst="roundRect">
            <a:avLst>
              <a:gd name="adj" fmla="val 11200"/>
            </a:avLst>
          </a:prstGeom>
          <a:solidFill>
            <a:srgbClr val="141B3E"/>
          </a:solidFill>
          <a:ln w="25400">
            <a:solidFill>
              <a:srgbClr val="FFB020"/>
            </a:solidFill>
            <a:prstDash val="solid"/>
          </a:ln>
        </p:spPr>
      </p:sp>
      <p:sp>
        <p:nvSpPr>
          <p:cNvPr id="5" name="Text 3"/>
          <p:cNvSpPr/>
          <p:nvPr/>
        </p:nvSpPr>
        <p:spPr>
          <a:xfrm>
            <a:off x="914400" y="1600200"/>
            <a:ext cx="10332720" cy="96012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There is a jl CLI and a Python SDK. That is it. So the Node backend controls a GPU by spawning a child process.</a:t>
            </a:r>
            <a:endParaRPr lang="en-US" sz="1800" dirty="0"/>
          </a:p>
        </p:txBody>
      </p:sp>
      <p:sp>
        <p:nvSpPr>
          <p:cNvPr id="6" name="Shape 4"/>
          <p:cNvSpPr/>
          <p:nvPr/>
        </p:nvSpPr>
        <p:spPr>
          <a:xfrm>
            <a:off x="566928" y="2834640"/>
            <a:ext cx="11064240" cy="932688"/>
          </a:xfrm>
          <a:prstGeom prst="roundRect">
            <a:avLst>
              <a:gd name="adj" fmla="val 9804"/>
            </a:avLst>
          </a:prstGeom>
          <a:solidFill>
            <a:srgbClr val="1A2350"/>
          </a:solidFill>
          <a:ln/>
        </p:spPr>
      </p:sp>
      <p:sp>
        <p:nvSpPr>
          <p:cNvPr id="7" name="Text 5"/>
          <p:cNvSpPr/>
          <p:nvPr/>
        </p:nvSpPr>
        <p:spPr>
          <a:xfrm>
            <a:off x="914400" y="2944368"/>
            <a:ext cx="10332720" cy="320040"/>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Auth through the environment</a:t>
            </a:r>
            <a:endParaRPr lang="en-US" sz="1600" dirty="0"/>
          </a:p>
        </p:txBody>
      </p:sp>
      <p:sp>
        <p:nvSpPr>
          <p:cNvPr id="8" name="Text 6"/>
          <p:cNvSpPr/>
          <p:nvPr/>
        </p:nvSpPr>
        <p:spPr>
          <a:xfrm>
            <a:off x="914400" y="3273552"/>
            <a:ext cx="103327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JL_API_KEY is read straight from env. No jl setup, no config file written — which is exactly why it works on a read-only container filesystem.</a:t>
            </a:r>
            <a:endParaRPr lang="en-US" sz="1300" dirty="0"/>
          </a:p>
        </p:txBody>
      </p:sp>
      <p:sp>
        <p:nvSpPr>
          <p:cNvPr id="9" name="Shape 7"/>
          <p:cNvSpPr/>
          <p:nvPr/>
        </p:nvSpPr>
        <p:spPr>
          <a:xfrm>
            <a:off x="566928" y="3886200"/>
            <a:ext cx="11064240" cy="932688"/>
          </a:xfrm>
          <a:prstGeom prst="roundRect">
            <a:avLst>
              <a:gd name="adj" fmla="val 9804"/>
            </a:avLst>
          </a:prstGeom>
          <a:solidFill>
            <a:srgbClr val="1A2350"/>
          </a:solidFill>
          <a:ln/>
        </p:spPr>
      </p:sp>
      <p:sp>
        <p:nvSpPr>
          <p:cNvPr id="10" name="Text 8"/>
          <p:cNvSpPr/>
          <p:nvPr/>
        </p:nvSpPr>
        <p:spPr>
          <a:xfrm>
            <a:off x="914400" y="3995928"/>
            <a:ext cx="10332720" cy="320040"/>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Machine-readable by force</a:t>
            </a:r>
            <a:endParaRPr lang="en-US" sz="1600" dirty="0"/>
          </a:p>
        </p:txBody>
      </p:sp>
      <p:sp>
        <p:nvSpPr>
          <p:cNvPr id="11" name="Text 9"/>
          <p:cNvSpPr/>
          <p:nvPr/>
        </p:nvSpPr>
        <p:spPr>
          <a:xfrm>
            <a:off x="914400" y="4325112"/>
            <a:ext cx="103327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--json on every call; --yes only on the verbs that prompt, because the read-only verbs reject it.</a:t>
            </a:r>
            <a:endParaRPr lang="en-US" sz="1300" dirty="0"/>
          </a:p>
        </p:txBody>
      </p:sp>
      <p:sp>
        <p:nvSpPr>
          <p:cNvPr id="12" name="Shape 10"/>
          <p:cNvSpPr/>
          <p:nvPr/>
        </p:nvSpPr>
        <p:spPr>
          <a:xfrm>
            <a:off x="566928" y="4937760"/>
            <a:ext cx="11064240" cy="932688"/>
          </a:xfrm>
          <a:prstGeom prst="roundRect">
            <a:avLst>
              <a:gd name="adj" fmla="val 9804"/>
            </a:avLst>
          </a:prstGeom>
          <a:solidFill>
            <a:srgbClr val="1A2350"/>
          </a:solidFill>
          <a:ln/>
        </p:spPr>
      </p:sp>
      <p:sp>
        <p:nvSpPr>
          <p:cNvPr id="13" name="Text 11"/>
          <p:cNvSpPr/>
          <p:nvPr/>
        </p:nvSpPr>
        <p:spPr>
          <a:xfrm>
            <a:off x="914400" y="5047488"/>
            <a:ext cx="10332720" cy="320040"/>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Installed into a venv</a:t>
            </a:r>
            <a:endParaRPr lang="en-US" sz="1600" dirty="0"/>
          </a:p>
        </p:txBody>
      </p:sp>
      <p:sp>
        <p:nvSpPr>
          <p:cNvPr id="14" name="Text 12"/>
          <p:cNvSpPr/>
          <p:nvPr/>
        </p:nvSpPr>
        <p:spPr>
          <a:xfrm>
            <a:off x="914400" y="5376672"/>
            <a:ext cx="103327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Debian marks the system Python externally-managed (PEP 668), so a plain pip install is refused. The image puts it in /opt/jarvislabs and symlinks jl.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 1, CONTINUED</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Three ways driving a CLI bites you</a:t>
            </a:r>
            <a:endParaRPr lang="en-US" sz="3400" dirty="0"/>
          </a:p>
        </p:txBody>
      </p:sp>
      <p:sp>
        <p:nvSpPr>
          <p:cNvPr id="4" name="Shape 2"/>
          <p:cNvSpPr/>
          <p:nvPr/>
        </p:nvSpPr>
        <p:spPr>
          <a:xfrm>
            <a:off x="566928" y="1508760"/>
            <a:ext cx="11064240" cy="1298448"/>
          </a:xfrm>
          <a:prstGeom prst="roundRect">
            <a:avLst>
              <a:gd name="adj" fmla="val 8451"/>
            </a:avLst>
          </a:prstGeom>
          <a:solidFill>
            <a:srgbClr val="1A2350"/>
          </a:solidFill>
          <a:ln w="25400">
            <a:solidFill>
              <a:srgbClr val="FFB020"/>
            </a:solidFill>
            <a:prstDash val="solid"/>
          </a:ln>
        </p:spPr>
      </p:sp>
      <p:sp>
        <p:nvSpPr>
          <p:cNvPr id="5" name="Shape 3"/>
          <p:cNvSpPr/>
          <p:nvPr/>
        </p:nvSpPr>
        <p:spPr>
          <a:xfrm>
            <a:off x="841248" y="1947672"/>
            <a:ext cx="420624" cy="420624"/>
          </a:xfrm>
          <a:prstGeom prst="ellipse">
            <a:avLst/>
          </a:prstGeom>
          <a:solidFill>
            <a:srgbClr val="FFB020"/>
          </a:solidFill>
          <a:ln/>
        </p:spPr>
      </p:sp>
      <p:sp>
        <p:nvSpPr>
          <p:cNvPr id="6" name="Text 4"/>
          <p:cNvSpPr/>
          <p:nvPr/>
        </p:nvSpPr>
        <p:spPr>
          <a:xfrm>
            <a:off x="841248" y="194767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508760" y="1691640"/>
            <a:ext cx="97840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Errors arrive on stdout, not the exit code</a:t>
            </a:r>
            <a:endParaRPr lang="en-US" sz="1700" dirty="0"/>
          </a:p>
        </p:txBody>
      </p:sp>
      <p:sp>
        <p:nvSpPr>
          <p:cNvPr id="8" name="Text 6"/>
          <p:cNvSpPr/>
          <p:nvPr/>
        </p:nvSpPr>
        <p:spPr>
          <a:xfrm>
            <a:off x="1508760" y="2075688"/>
            <a:ext cx="9784080" cy="594360"/>
          </a:xfrm>
          <a:prstGeom prst="rect">
            <a:avLst/>
          </a:prstGeom>
          <a:noFill/>
          <a:ln/>
        </p:spPr>
        <p:txBody>
          <a:bodyPr wrap="square" lIns="0" tIns="0" rIns="0" bIns="0" rtlCol="0" anchor="t"/>
          <a:lstStyle/>
          <a:p>
            <a:pPr indent="0" marL="0">
              <a:buNone/>
            </a:pPr>
            <a:r>
              <a:rPr lang="en-US" sz="1300" dirty="0">
                <a:solidFill>
                  <a:srgbClr val="8A93B8"/>
                </a:solidFill>
                <a:latin typeface="Arial" pitchFamily="34" charset="0"/>
                <a:ea typeface="Arial" pitchFamily="34" charset="-122"/>
                <a:cs typeface="Arial" pitchFamily="34" charset="-120"/>
              </a:rPr>
              <a:t>jl reports failure as {"error": "..."} on stdout with a non-zero exit. Read the body — the exit code alone tells you nothing useful to show an operator.</a:t>
            </a:r>
            <a:endParaRPr lang="en-US" sz="1300" dirty="0"/>
          </a:p>
        </p:txBody>
      </p:sp>
      <p:sp>
        <p:nvSpPr>
          <p:cNvPr id="9" name="Shape 7"/>
          <p:cNvSpPr/>
          <p:nvPr/>
        </p:nvSpPr>
        <p:spPr>
          <a:xfrm>
            <a:off x="566928" y="2971800"/>
            <a:ext cx="11064240" cy="1298448"/>
          </a:xfrm>
          <a:prstGeom prst="roundRect">
            <a:avLst>
              <a:gd name="adj" fmla="val 8451"/>
            </a:avLst>
          </a:prstGeom>
          <a:solidFill>
            <a:srgbClr val="1A2350"/>
          </a:solidFill>
          <a:ln w="25400">
            <a:solidFill>
              <a:srgbClr val="4C6FFF"/>
            </a:solidFill>
            <a:prstDash val="solid"/>
          </a:ln>
        </p:spPr>
      </p:sp>
      <p:sp>
        <p:nvSpPr>
          <p:cNvPr id="10" name="Shape 8"/>
          <p:cNvSpPr/>
          <p:nvPr/>
        </p:nvSpPr>
        <p:spPr>
          <a:xfrm>
            <a:off x="841248" y="3410712"/>
            <a:ext cx="420624" cy="420624"/>
          </a:xfrm>
          <a:prstGeom prst="ellipse">
            <a:avLst/>
          </a:prstGeom>
          <a:solidFill>
            <a:srgbClr val="4C6FFF"/>
          </a:solidFill>
          <a:ln/>
        </p:spPr>
      </p:sp>
      <p:sp>
        <p:nvSpPr>
          <p:cNvPr id="11" name="Text 9"/>
          <p:cNvSpPr/>
          <p:nvPr/>
        </p:nvSpPr>
        <p:spPr>
          <a:xfrm>
            <a:off x="841248" y="341071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508760" y="3154680"/>
            <a:ext cx="97840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Resume can hand back a different machine id</a:t>
            </a:r>
            <a:endParaRPr lang="en-US" sz="1700" dirty="0"/>
          </a:p>
        </p:txBody>
      </p:sp>
      <p:sp>
        <p:nvSpPr>
          <p:cNvPr id="13" name="Text 11"/>
          <p:cNvSpPr/>
          <p:nvPr/>
        </p:nvSpPr>
        <p:spPr>
          <a:xfrm>
            <a:off x="1508760" y="3538728"/>
            <a:ext cx="9784080" cy="594360"/>
          </a:xfrm>
          <a:prstGeom prst="rect">
            <a:avLst/>
          </a:prstGeom>
          <a:noFill/>
          <a:ln/>
        </p:spPr>
        <p:txBody>
          <a:bodyPr wrap="square" lIns="0" tIns="0" rIns="0" bIns="0" rtlCol="0" anchor="t"/>
          <a:lstStyle/>
          <a:p>
            <a:pPr indent="0" marL="0">
              <a:buNone/>
            </a:pPr>
            <a:r>
              <a:rPr lang="en-US" sz="1300" dirty="0">
                <a:solidFill>
                  <a:srgbClr val="8A93B8"/>
                </a:solidFill>
                <a:latin typeface="Arial" pitchFamily="34" charset="0"/>
                <a:ea typeface="Arial" pitchFamily="34" charset="-122"/>
                <a:cs typeface="Arial" pitchFamily="34" charset="-120"/>
              </a:rPr>
              <a:t>Keep using the old id and you are targeting a machine that no longer exists. We log the reassignment and adopt the new id immediately.</a:t>
            </a:r>
            <a:endParaRPr lang="en-US" sz="1300" dirty="0"/>
          </a:p>
        </p:txBody>
      </p:sp>
      <p:sp>
        <p:nvSpPr>
          <p:cNvPr id="14" name="Shape 12"/>
          <p:cNvSpPr/>
          <p:nvPr/>
        </p:nvSpPr>
        <p:spPr>
          <a:xfrm>
            <a:off x="566928" y="4434840"/>
            <a:ext cx="11064240" cy="1298448"/>
          </a:xfrm>
          <a:prstGeom prst="roundRect">
            <a:avLst>
              <a:gd name="adj" fmla="val 8451"/>
            </a:avLst>
          </a:prstGeom>
          <a:solidFill>
            <a:srgbClr val="1A2350"/>
          </a:solidFill>
          <a:ln w="25400">
            <a:solidFill>
              <a:srgbClr val="3DD68C"/>
            </a:solidFill>
            <a:prstDash val="solid"/>
          </a:ln>
        </p:spPr>
      </p:sp>
      <p:sp>
        <p:nvSpPr>
          <p:cNvPr id="15" name="Shape 13"/>
          <p:cNvSpPr/>
          <p:nvPr/>
        </p:nvSpPr>
        <p:spPr>
          <a:xfrm>
            <a:off x="841248" y="4873752"/>
            <a:ext cx="420624" cy="420624"/>
          </a:xfrm>
          <a:prstGeom prst="ellipse">
            <a:avLst/>
          </a:prstGeom>
          <a:solidFill>
            <a:srgbClr val="3DD68C"/>
          </a:solidFill>
          <a:ln/>
        </p:spPr>
      </p:sp>
      <p:sp>
        <p:nvSpPr>
          <p:cNvPr id="16" name="Text 14"/>
          <p:cNvSpPr/>
          <p:nvPr/>
        </p:nvSpPr>
        <p:spPr>
          <a:xfrm>
            <a:off x="841248" y="487375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508760" y="4617720"/>
            <a:ext cx="97840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 missing binary must look like a message, not a crash</a:t>
            </a:r>
            <a:endParaRPr lang="en-US" sz="1700" dirty="0"/>
          </a:p>
        </p:txBody>
      </p:sp>
      <p:sp>
        <p:nvSpPr>
          <p:cNvPr id="18" name="Text 16"/>
          <p:cNvSpPr/>
          <p:nvPr/>
        </p:nvSpPr>
        <p:spPr>
          <a:xfrm>
            <a:off x="1508760" y="5001768"/>
            <a:ext cx="9784080" cy="594360"/>
          </a:xfrm>
          <a:prstGeom prst="rect">
            <a:avLst/>
          </a:prstGeom>
          <a:noFill/>
          <a:ln/>
        </p:spPr>
        <p:txBody>
          <a:bodyPr wrap="square" lIns="0" tIns="0" rIns="0" bIns="0" rtlCol="0" anchor="t"/>
          <a:lstStyle/>
          <a:p>
            <a:pPr indent="0" marL="0">
              <a:buNone/>
            </a:pPr>
            <a:r>
              <a:rPr lang="en-US" sz="1300" dirty="0">
                <a:solidFill>
                  <a:srgbClr val="8A93B8"/>
                </a:solidFill>
                <a:latin typeface="Arial" pitchFamily="34" charset="0"/>
                <a:ea typeface="Arial" pitchFamily="34" charset="-122"/>
                <a:cs typeface="Arial" pitchFamily="34" charset="-120"/>
              </a:rPr>
              <a:t>ENOENT becomes "the jl CLI is not installed on this host". This runs on the API box; a JarvisLabs outage should surface on the admin panel, not as an unhandled rejection.</a:t>
            </a:r>
            <a:endParaRPr lang="en-US" sz="1300" dirty="0"/>
          </a:p>
        </p:txBody>
      </p:sp>
      <p:sp>
        <p:nvSpPr>
          <p:cNvPr id="19" name="Text 17"/>
          <p:cNvSpPr/>
          <p:nvPr/>
        </p:nvSpPr>
        <p:spPr>
          <a:xfrm>
            <a:off x="566928" y="5989320"/>
            <a:ext cx="11064240" cy="457200"/>
          </a:xfrm>
          <a:prstGeom prst="rect">
            <a:avLst/>
          </a:prstGeom>
          <a:noFill/>
          <a:ln/>
        </p:spPr>
        <p:txBody>
          <a:bodyPr wrap="square" lIns="0" tIns="0" rIns="0" bIns="0" rtlCol="0" anchor="ctr"/>
          <a:lstStyle/>
          <a:p>
            <a:pPr indent="0" marL="0">
              <a:buNone/>
            </a:pPr>
            <a:r>
              <a:rPr lang="en-US" sz="1500" b="1" i="1" dirty="0">
                <a:solidFill>
                  <a:srgbClr val="FFB020"/>
                </a:solidFill>
                <a:latin typeface="Arial" pitchFamily="34" charset="0"/>
                <a:ea typeface="Arial" pitchFamily="34" charset="-122"/>
                <a:cs typeface="Arial" pitchFamily="34" charset="-120"/>
              </a:rPr>
              <a:t>"No API" does not mean "cannot automate". It means your integration layer is a subprocess — and subprocesses need defensive handling.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PROBLEMS 2 &amp; 3</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When to wake it, and when to let it sleep</a:t>
            </a:r>
            <a:endParaRPr lang="en-US" sz="2800" dirty="0"/>
          </a:p>
        </p:txBody>
      </p:sp>
      <p:pic>
        <p:nvPicPr>
          <p:cNvPr id="4" name="Image 0" descr="gpu-lifecycl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THE ACTUAL SETTINGS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Four numbers decide everything</a:t>
            </a:r>
            <a:endParaRPr lang="en-US" sz="3400" dirty="0"/>
          </a:p>
        </p:txBody>
      </p:sp>
      <p:sp>
        <p:nvSpPr>
          <p:cNvPr id="4" name="Shape 2"/>
          <p:cNvSpPr/>
          <p:nvPr/>
        </p:nvSpPr>
        <p:spPr>
          <a:xfrm>
            <a:off x="566928" y="1508760"/>
            <a:ext cx="11064240" cy="822960"/>
          </a:xfrm>
          <a:prstGeom prst="roundRect">
            <a:avLst>
              <a:gd name="adj" fmla="val 11111"/>
            </a:avLst>
          </a:prstGeom>
          <a:solidFill>
            <a:srgbClr val="1A2350"/>
          </a:solidFill>
          <a:ln/>
        </p:spPr>
      </p:sp>
      <p:sp>
        <p:nvSpPr>
          <p:cNvPr id="5" name="Text 3"/>
          <p:cNvSpPr/>
          <p:nvPr/>
        </p:nvSpPr>
        <p:spPr>
          <a:xfrm>
            <a:off x="914400" y="1508760"/>
            <a:ext cx="3840480" cy="822960"/>
          </a:xfrm>
          <a:prstGeom prst="rect">
            <a:avLst/>
          </a:prstGeom>
          <a:noFill/>
          <a:ln/>
        </p:spPr>
        <p:txBody>
          <a:bodyPr wrap="square" lIns="0" tIns="0" rIns="0" bIns="0" rtlCol="0" anchor="ctr"/>
          <a:lstStyle/>
          <a:p>
            <a:pPr indent="0" marL="0">
              <a:buNone/>
            </a:pPr>
            <a:r>
              <a:rPr lang="en-US" sz="1500" b="1" dirty="0">
                <a:solidFill>
                  <a:srgbClr val="FFB020"/>
                </a:solidFill>
                <a:latin typeface="Courier New" pitchFamily="34" charset="0"/>
                <a:ea typeface="Courier New" pitchFamily="34" charset="-122"/>
                <a:cs typeface="Courier New" pitchFamily="34" charset="-120"/>
              </a:rPr>
              <a:t>pendingThreshold</a:t>
            </a:r>
            <a:endParaRPr lang="en-US" sz="1500" dirty="0"/>
          </a:p>
        </p:txBody>
      </p:sp>
      <p:sp>
        <p:nvSpPr>
          <p:cNvPr id="6" name="Text 4"/>
          <p:cNvSpPr/>
          <p:nvPr/>
        </p:nvSpPr>
        <p:spPr>
          <a:xfrm>
            <a:off x="4846320" y="1508760"/>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25</a:t>
            </a:r>
            <a:endParaRPr lang="en-US" sz="2400" dirty="0"/>
          </a:p>
        </p:txBody>
      </p:sp>
      <p:sp>
        <p:nvSpPr>
          <p:cNvPr id="7" name="Text 5"/>
          <p:cNvSpPr/>
          <p:nvPr/>
        </p:nvSpPr>
        <p:spPr>
          <a:xfrm>
            <a:off x="5943600" y="1508760"/>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Wake once this many jobs are queued across the GPU queues.</a:t>
            </a:r>
            <a:endParaRPr lang="en-US" sz="1400" dirty="0"/>
          </a:p>
        </p:txBody>
      </p:sp>
      <p:sp>
        <p:nvSpPr>
          <p:cNvPr id="8" name="Shape 6"/>
          <p:cNvSpPr/>
          <p:nvPr/>
        </p:nvSpPr>
        <p:spPr>
          <a:xfrm>
            <a:off x="566928" y="2441448"/>
            <a:ext cx="11064240" cy="822960"/>
          </a:xfrm>
          <a:prstGeom prst="roundRect">
            <a:avLst>
              <a:gd name="adj" fmla="val 11111"/>
            </a:avLst>
          </a:prstGeom>
          <a:solidFill>
            <a:srgbClr val="1A2350"/>
          </a:solidFill>
          <a:ln/>
        </p:spPr>
      </p:sp>
      <p:sp>
        <p:nvSpPr>
          <p:cNvPr id="9" name="Text 7"/>
          <p:cNvSpPr/>
          <p:nvPr/>
        </p:nvSpPr>
        <p:spPr>
          <a:xfrm>
            <a:off x="914400" y="2441448"/>
            <a:ext cx="3840480" cy="822960"/>
          </a:xfrm>
          <a:prstGeom prst="rect">
            <a:avLst/>
          </a:prstGeom>
          <a:noFill/>
          <a:ln/>
        </p:spPr>
        <p:txBody>
          <a:bodyPr wrap="square" lIns="0" tIns="0" rIns="0" bIns="0" rtlCol="0" anchor="ctr"/>
          <a:lstStyle/>
          <a:p>
            <a:pPr indent="0" marL="0">
              <a:buNone/>
            </a:pPr>
            <a:r>
              <a:rPr lang="en-US" sz="1500" b="1" dirty="0">
                <a:solidFill>
                  <a:srgbClr val="FFB020"/>
                </a:solidFill>
                <a:latin typeface="Courier New" pitchFamily="34" charset="0"/>
                <a:ea typeface="Courier New" pitchFamily="34" charset="-122"/>
                <a:cs typeface="Courier New" pitchFamily="34" charset="-120"/>
              </a:rPr>
              <a:t>maxPendingAgeMinutes</a:t>
            </a:r>
            <a:endParaRPr lang="en-US" sz="1500" dirty="0"/>
          </a:p>
        </p:txBody>
      </p:sp>
      <p:sp>
        <p:nvSpPr>
          <p:cNvPr id="10" name="Text 8"/>
          <p:cNvSpPr/>
          <p:nvPr/>
        </p:nvSpPr>
        <p:spPr>
          <a:xfrm>
            <a:off x="4846320" y="2441448"/>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120</a:t>
            </a:r>
            <a:endParaRPr lang="en-US" sz="2400" dirty="0"/>
          </a:p>
        </p:txBody>
      </p:sp>
      <p:sp>
        <p:nvSpPr>
          <p:cNvPr id="11" name="Text 9"/>
          <p:cNvSpPr/>
          <p:nvPr/>
        </p:nvSpPr>
        <p:spPr>
          <a:xfrm>
            <a:off x="5943600" y="2441448"/>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…or once the oldest waiting job has sat this long.</a:t>
            </a:r>
            <a:endParaRPr lang="en-US" sz="1400" dirty="0"/>
          </a:p>
        </p:txBody>
      </p:sp>
      <p:sp>
        <p:nvSpPr>
          <p:cNvPr id="12" name="Shape 10"/>
          <p:cNvSpPr/>
          <p:nvPr/>
        </p:nvSpPr>
        <p:spPr>
          <a:xfrm>
            <a:off x="566928" y="3374136"/>
            <a:ext cx="11064240" cy="822960"/>
          </a:xfrm>
          <a:prstGeom prst="roundRect">
            <a:avLst>
              <a:gd name="adj" fmla="val 11111"/>
            </a:avLst>
          </a:prstGeom>
          <a:solidFill>
            <a:srgbClr val="1A2350"/>
          </a:solidFill>
          <a:ln/>
        </p:spPr>
      </p:sp>
      <p:sp>
        <p:nvSpPr>
          <p:cNvPr id="13" name="Text 11"/>
          <p:cNvSpPr/>
          <p:nvPr/>
        </p:nvSpPr>
        <p:spPr>
          <a:xfrm>
            <a:off x="914400" y="3374136"/>
            <a:ext cx="3840480" cy="822960"/>
          </a:xfrm>
          <a:prstGeom prst="rect">
            <a:avLst/>
          </a:prstGeom>
          <a:noFill/>
          <a:ln/>
        </p:spPr>
        <p:txBody>
          <a:bodyPr wrap="square" lIns="0" tIns="0" rIns="0" bIns="0" rtlCol="0" anchor="ctr"/>
          <a:lstStyle/>
          <a:p>
            <a:pPr indent="0" marL="0">
              <a:buNone/>
            </a:pPr>
            <a:r>
              <a:rPr lang="en-US" sz="1500" b="1" dirty="0">
                <a:solidFill>
                  <a:srgbClr val="4C6FFF"/>
                </a:solidFill>
                <a:latin typeface="Courier New" pitchFamily="34" charset="0"/>
                <a:ea typeface="Courier New" pitchFamily="34" charset="-122"/>
                <a:cs typeface="Courier New" pitchFamily="34" charset="-120"/>
              </a:rPr>
              <a:t>idleShutdownMinutes</a:t>
            </a:r>
            <a:endParaRPr lang="en-US" sz="1500" dirty="0"/>
          </a:p>
        </p:txBody>
      </p:sp>
      <p:sp>
        <p:nvSpPr>
          <p:cNvPr id="14" name="Text 12"/>
          <p:cNvSpPr/>
          <p:nvPr/>
        </p:nvSpPr>
        <p:spPr>
          <a:xfrm>
            <a:off x="4846320" y="3374136"/>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10</a:t>
            </a:r>
            <a:endParaRPr lang="en-US" sz="2400" dirty="0"/>
          </a:p>
        </p:txBody>
      </p:sp>
      <p:sp>
        <p:nvSpPr>
          <p:cNvPr id="15" name="Text 13"/>
          <p:cNvSpPr/>
          <p:nvPr/>
        </p:nvSpPr>
        <p:spPr>
          <a:xfrm>
            <a:off x="5943600" y="3374136"/>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Stop this long after the queues go quiet.</a:t>
            </a:r>
            <a:endParaRPr lang="en-US" sz="1400" dirty="0"/>
          </a:p>
        </p:txBody>
      </p:sp>
      <p:sp>
        <p:nvSpPr>
          <p:cNvPr id="16" name="Shape 14"/>
          <p:cNvSpPr/>
          <p:nvPr/>
        </p:nvSpPr>
        <p:spPr>
          <a:xfrm>
            <a:off x="566928" y="4306824"/>
            <a:ext cx="11064240" cy="822960"/>
          </a:xfrm>
          <a:prstGeom prst="roundRect">
            <a:avLst>
              <a:gd name="adj" fmla="val 11111"/>
            </a:avLst>
          </a:prstGeom>
          <a:solidFill>
            <a:srgbClr val="1A2350"/>
          </a:solidFill>
          <a:ln/>
        </p:spPr>
      </p:sp>
      <p:sp>
        <p:nvSpPr>
          <p:cNvPr id="17" name="Text 15"/>
          <p:cNvSpPr/>
          <p:nvPr/>
        </p:nvSpPr>
        <p:spPr>
          <a:xfrm>
            <a:off x="914400" y="4306824"/>
            <a:ext cx="3840480" cy="822960"/>
          </a:xfrm>
          <a:prstGeom prst="rect">
            <a:avLst/>
          </a:prstGeom>
          <a:noFill/>
          <a:ln/>
        </p:spPr>
        <p:txBody>
          <a:bodyPr wrap="square" lIns="0" tIns="0" rIns="0" bIns="0" rtlCol="0" anchor="ctr"/>
          <a:lstStyle/>
          <a:p>
            <a:pPr indent="0" marL="0">
              <a:buNone/>
            </a:pPr>
            <a:r>
              <a:rPr lang="en-US" sz="1500" b="1" dirty="0">
                <a:solidFill>
                  <a:srgbClr val="4C6FFF"/>
                </a:solidFill>
                <a:latin typeface="Courier New" pitchFamily="34" charset="0"/>
                <a:ea typeface="Courier New" pitchFamily="34" charset="-122"/>
                <a:cs typeface="Courier New" pitchFamily="34" charset="-120"/>
              </a:rPr>
              <a:t>startTimeoutMinutes</a:t>
            </a:r>
            <a:endParaRPr lang="en-US" sz="1500" dirty="0"/>
          </a:p>
        </p:txBody>
      </p:sp>
      <p:sp>
        <p:nvSpPr>
          <p:cNvPr id="18" name="Text 16"/>
          <p:cNvSpPr/>
          <p:nvPr/>
        </p:nvSpPr>
        <p:spPr>
          <a:xfrm>
            <a:off x="4846320" y="4306824"/>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20</a:t>
            </a:r>
            <a:endParaRPr lang="en-US" sz="2400" dirty="0"/>
          </a:p>
        </p:txBody>
      </p:sp>
      <p:sp>
        <p:nvSpPr>
          <p:cNvPr id="19" name="Text 17"/>
          <p:cNvSpPr/>
          <p:nvPr/>
        </p:nvSpPr>
        <p:spPr>
          <a:xfrm>
            <a:off x="5943600" y="4306824"/>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Give up and stop if the box never reports in.</a:t>
            </a:r>
            <a:endParaRPr lang="en-US" sz="1400" dirty="0"/>
          </a:p>
        </p:txBody>
      </p:sp>
      <p:sp>
        <p:nvSpPr>
          <p:cNvPr id="20" name="Shape 18"/>
          <p:cNvSpPr/>
          <p:nvPr/>
        </p:nvSpPr>
        <p:spPr>
          <a:xfrm>
            <a:off x="566928" y="5349240"/>
            <a:ext cx="11064240" cy="1097280"/>
          </a:xfrm>
          <a:prstGeom prst="roundRect">
            <a:avLst>
              <a:gd name="adj" fmla="val 11667"/>
            </a:avLst>
          </a:prstGeom>
          <a:solidFill>
            <a:srgbClr val="141B3E"/>
          </a:solidFill>
          <a:ln w="25400">
            <a:solidFill>
              <a:srgbClr val="3DD68C"/>
            </a:solidFill>
            <a:prstDash val="solid"/>
          </a:ln>
        </p:spPr>
      </p:sp>
      <p:sp>
        <p:nvSpPr>
          <p:cNvPr id="21" name="Text 19"/>
          <p:cNvSpPr/>
          <p:nvPr/>
        </p:nvSpPr>
        <p:spPr>
          <a:xfrm>
            <a:off x="914400" y="5486400"/>
            <a:ext cx="10332720" cy="82296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Why there are two wake conditions: a threshold on its own starves a single job forever. The age rule is what rescues the one photo that arrived on a quiet Tuesday.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PROBLEM 4</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What if the stop call simply fails?</a:t>
            </a:r>
            <a:endParaRPr lang="en-US" sz="3400" dirty="0"/>
          </a:p>
        </p:txBody>
      </p:sp>
      <p:sp>
        <p:nvSpPr>
          <p:cNvPr id="4" name="Shape 2"/>
          <p:cNvSpPr/>
          <p:nvPr/>
        </p:nvSpPr>
        <p:spPr>
          <a:xfrm>
            <a:off x="566928" y="1508760"/>
            <a:ext cx="5394960" cy="2514600"/>
          </a:xfrm>
          <a:prstGeom prst="roundRect">
            <a:avLst>
              <a:gd name="adj" fmla="val 5091"/>
            </a:avLst>
          </a:prstGeom>
          <a:solidFill>
            <a:srgbClr val="1A2350"/>
          </a:solidFill>
          <a:ln w="25400">
            <a:solidFill>
              <a:srgbClr val="FFB020"/>
            </a:solidFill>
            <a:prstDash val="solid"/>
          </a:ln>
        </p:spPr>
      </p:sp>
      <p:sp>
        <p:nvSpPr>
          <p:cNvPr id="5" name="Text 3"/>
          <p:cNvSpPr/>
          <p:nvPr/>
        </p:nvSpPr>
        <p:spPr>
          <a:xfrm>
            <a:off x="886968" y="1691640"/>
            <a:ext cx="47548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Fast path</a:t>
            </a:r>
            <a:endParaRPr lang="en-US" sz="1500" dirty="0"/>
          </a:p>
        </p:txBody>
      </p:sp>
      <p:sp>
        <p:nvSpPr>
          <p:cNvPr id="6" name="Text 4"/>
          <p:cNvSpPr/>
          <p:nvPr/>
        </p:nvSpPr>
        <p:spPr>
          <a:xfrm>
            <a:off x="886968" y="2057400"/>
            <a:ext cx="475488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API runs jl pause.</a:t>
            </a:r>
            <a:endParaRPr lang="en-US" sz="1900" dirty="0"/>
          </a:p>
        </p:txBody>
      </p:sp>
      <p:sp>
        <p:nvSpPr>
          <p:cNvPr id="7" name="Text 5"/>
          <p:cNvSpPr/>
          <p:nvPr/>
        </p:nvSpPr>
        <p:spPr>
          <a:xfrm>
            <a:off x="886968" y="2651760"/>
            <a:ext cx="4754880" cy="11887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Quick, normal, and the thing that happens 99% of the time.</a:t>
            </a:r>
            <a:endParaRPr lang="en-US" sz="1400" dirty="0"/>
          </a:p>
        </p:txBody>
      </p:sp>
      <p:sp>
        <p:nvSpPr>
          <p:cNvPr id="8" name="Shape 6"/>
          <p:cNvSpPr/>
          <p:nvPr/>
        </p:nvSpPr>
        <p:spPr>
          <a:xfrm>
            <a:off x="6236208" y="1508760"/>
            <a:ext cx="5394960" cy="2514600"/>
          </a:xfrm>
          <a:prstGeom prst="roundRect">
            <a:avLst>
              <a:gd name="adj" fmla="val 5091"/>
            </a:avLst>
          </a:prstGeom>
          <a:solidFill>
            <a:srgbClr val="1A2350"/>
          </a:solidFill>
          <a:ln w="25400">
            <a:solidFill>
              <a:srgbClr val="3DD68C"/>
            </a:solidFill>
            <a:prstDash val="solid"/>
          </a:ln>
        </p:spPr>
      </p:sp>
      <p:sp>
        <p:nvSpPr>
          <p:cNvPr id="9" name="Text 7"/>
          <p:cNvSpPr/>
          <p:nvPr/>
        </p:nvSpPr>
        <p:spPr>
          <a:xfrm>
            <a:off x="6556248" y="1691640"/>
            <a:ext cx="4754880" cy="320040"/>
          </a:xfrm>
          <a:prstGeom prst="rect">
            <a:avLst/>
          </a:prstGeom>
          <a:noFill/>
          <a:ln/>
        </p:spPr>
        <p:txBody>
          <a:bodyPr wrap="square" lIns="0" tIns="0" rIns="0" bIns="0" rtlCol="0" anchor="ctr"/>
          <a:lstStyle/>
          <a:p>
            <a:pPr indent="0" marL="0">
              <a:buNone/>
            </a:pPr>
            <a:r>
              <a:rPr lang="en-US" sz="1500" b="1" dirty="0">
                <a:solidFill>
                  <a:srgbClr val="3DD68C"/>
                </a:solidFill>
                <a:latin typeface="Arial" pitchFamily="34" charset="0"/>
                <a:ea typeface="Arial" pitchFamily="34" charset="-122"/>
                <a:cs typeface="Arial" pitchFamily="34" charset="-120"/>
              </a:rPr>
              <a:t>Backstop</a:t>
            </a:r>
            <a:endParaRPr lang="en-US" sz="1500" dirty="0"/>
          </a:p>
        </p:txBody>
      </p:sp>
      <p:sp>
        <p:nvSpPr>
          <p:cNvPr id="10" name="Text 8"/>
          <p:cNvSpPr/>
          <p:nvPr/>
        </p:nvSpPr>
        <p:spPr>
          <a:xfrm>
            <a:off x="6556248" y="2057400"/>
            <a:ext cx="475488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box polls us and kills itself.</a:t>
            </a:r>
            <a:endParaRPr lang="en-US" sz="1900" dirty="0"/>
          </a:p>
        </p:txBody>
      </p:sp>
      <p:sp>
        <p:nvSpPr>
          <p:cNvPr id="11" name="Text 9"/>
          <p:cNvSpPr/>
          <p:nvPr/>
        </p:nvSpPr>
        <p:spPr>
          <a:xfrm>
            <a:off x="6556248" y="2651760"/>
            <a:ext cx="4754880" cy="11887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GET /api/webhooks/gpu/heartbeat → { keepAlive, reason, pending }. If the API says stop — or is simply unreachable — the box shuts down on its own.</a:t>
            </a:r>
            <a:endParaRPr lang="en-US" sz="1400" dirty="0"/>
          </a:p>
        </p:txBody>
      </p:sp>
      <p:sp>
        <p:nvSpPr>
          <p:cNvPr id="12" name="Shape 10"/>
          <p:cNvSpPr/>
          <p:nvPr/>
        </p:nvSpPr>
        <p:spPr>
          <a:xfrm>
            <a:off x="566928" y="4297680"/>
            <a:ext cx="11064240" cy="1828800"/>
          </a:xfrm>
          <a:prstGeom prst="roundRect">
            <a:avLst>
              <a:gd name="adj" fmla="val 7000"/>
            </a:avLst>
          </a:prstGeom>
          <a:solidFill>
            <a:srgbClr val="141B3E"/>
          </a:solidFill>
          <a:ln w="31750">
            <a:solidFill>
              <a:srgbClr val="3DD68C"/>
            </a:solidFill>
            <a:prstDash val="solid"/>
          </a:ln>
        </p:spPr>
      </p:sp>
      <p:sp>
        <p:nvSpPr>
          <p:cNvPr id="13" name="Text 11"/>
          <p:cNvSpPr/>
          <p:nvPr/>
        </p:nvSpPr>
        <p:spPr>
          <a:xfrm>
            <a:off x="914400" y="4480560"/>
            <a:ext cx="10332720" cy="457200"/>
          </a:xfrm>
          <a:prstGeom prst="rect">
            <a:avLst/>
          </a:prstGeom>
          <a:noFill/>
          <a:ln/>
        </p:spPr>
        <p:txBody>
          <a:bodyPr wrap="square" lIns="0" tIns="0" rIns="0" bIns="0" rtlCol="0" anchor="ctr"/>
          <a:lstStyle/>
          <a:p>
            <a:pPr indent="0" marL="0">
              <a:buNone/>
            </a:pPr>
            <a:r>
              <a:rPr lang="en-US" sz="2600" b="1" dirty="0">
                <a:solidFill>
                  <a:srgbClr val="3DD68C"/>
                </a:solidFill>
                <a:latin typeface="Cambria" pitchFamily="34" charset="0"/>
                <a:ea typeface="Cambria" pitchFamily="34" charset="-122"/>
                <a:cs typeface="Cambria" pitchFamily="34" charset="-120"/>
              </a:rPr>
              <a:t>The expensive resource fails closed.</a:t>
            </a:r>
            <a:endParaRPr lang="en-US" sz="2600" dirty="0"/>
          </a:p>
        </p:txBody>
      </p:sp>
      <p:sp>
        <p:nvSpPr>
          <p:cNvPr id="14" name="Text 12"/>
          <p:cNvSpPr/>
          <p:nvPr/>
        </p:nvSpPr>
        <p:spPr>
          <a:xfrm>
            <a:off x="914400" y="4983480"/>
            <a:ext cx="10332720" cy="10058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An outage, a bad deploy, or a bug costs you an idle machine for a few minutes — not a weekend of GPU billing. And because the box polls us rather than us pushing to it, the VM needs no inbound network access at all.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THE BUG THAT PAYS FOR ITSELF</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One orphaned job can pin a GPU up forever</a:t>
            </a:r>
            <a:endParaRPr lang="en-US" sz="3400" dirty="0"/>
          </a:p>
        </p:txBody>
      </p:sp>
      <p:sp>
        <p:nvSpPr>
          <p:cNvPr id="4" name="Shape 2"/>
          <p:cNvSpPr/>
          <p:nvPr/>
        </p:nvSpPr>
        <p:spPr>
          <a:xfrm>
            <a:off x="566928" y="1508760"/>
            <a:ext cx="11064240" cy="932688"/>
          </a:xfrm>
          <a:prstGeom prst="roundRect">
            <a:avLst>
              <a:gd name="adj" fmla="val 9804"/>
            </a:avLst>
          </a:prstGeom>
          <a:solidFill>
            <a:srgbClr val="1A2350"/>
          </a:solidFill>
          <a:ln/>
        </p:spPr>
      </p:sp>
      <p:sp>
        <p:nvSpPr>
          <p:cNvPr id="5" name="Text 3"/>
          <p:cNvSpPr/>
          <p:nvPr/>
        </p:nvSpPr>
        <p:spPr>
          <a:xfrm>
            <a:off x="914400" y="1508760"/>
            <a:ext cx="365760" cy="932688"/>
          </a:xfrm>
          <a:prstGeom prst="rect">
            <a:avLst/>
          </a:prstGeom>
          <a:noFill/>
          <a:ln/>
        </p:spPr>
        <p:txBody>
          <a:bodyPr wrap="square" lIns="0" tIns="0" rIns="0" bIns="0" rtlCol="0" anchor="ctr"/>
          <a:lstStyle/>
          <a:p>
            <a:pPr indent="0" marL="0">
              <a:buNone/>
            </a:pPr>
            <a:r>
              <a:rPr lang="en-US" sz="1200" dirty="0">
                <a:solidFill>
                  <a:srgbClr val="FFB020"/>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371600" y="1618488"/>
            <a:ext cx="987552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box is paused mid-batch</a:t>
            </a:r>
            <a:endParaRPr lang="en-US" sz="1700" dirty="0"/>
          </a:p>
        </p:txBody>
      </p:sp>
      <p:sp>
        <p:nvSpPr>
          <p:cNvPr id="7" name="Text 5"/>
          <p:cNvSpPr/>
          <p:nvPr/>
        </p:nvSpPr>
        <p:spPr>
          <a:xfrm>
            <a:off x="1371600" y="1947672"/>
            <a:ext cx="9875520" cy="38404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By design — that is the whole point of pausing.</a:t>
            </a:r>
            <a:endParaRPr lang="en-US" sz="1300" dirty="0"/>
          </a:p>
        </p:txBody>
      </p:sp>
      <p:sp>
        <p:nvSpPr>
          <p:cNvPr id="8" name="Shape 6"/>
          <p:cNvSpPr/>
          <p:nvPr/>
        </p:nvSpPr>
        <p:spPr>
          <a:xfrm>
            <a:off x="566928" y="2560320"/>
            <a:ext cx="11064240" cy="932688"/>
          </a:xfrm>
          <a:prstGeom prst="roundRect">
            <a:avLst>
              <a:gd name="adj" fmla="val 9804"/>
            </a:avLst>
          </a:prstGeom>
          <a:solidFill>
            <a:srgbClr val="1A2350"/>
          </a:solidFill>
          <a:ln/>
        </p:spPr>
      </p:sp>
      <p:sp>
        <p:nvSpPr>
          <p:cNvPr id="9" name="Text 7"/>
          <p:cNvSpPr/>
          <p:nvPr/>
        </p:nvSpPr>
        <p:spPr>
          <a:xfrm>
            <a:off x="914400" y="2560320"/>
            <a:ext cx="365760" cy="932688"/>
          </a:xfrm>
          <a:prstGeom prst="rect">
            <a:avLst/>
          </a:prstGeom>
          <a:noFill/>
          <a:ln/>
        </p:spPr>
        <p:txBody>
          <a:bodyPr wrap="square" lIns="0" tIns="0" rIns="0" bIns="0" rtlCol="0" anchor="ctr"/>
          <a:lstStyle/>
          <a:p>
            <a:pPr indent="0" marL="0">
              <a:buNone/>
            </a:pPr>
            <a:r>
              <a:rPr lang="en-US" sz="1200" dirty="0">
                <a:solidFill>
                  <a:srgbClr val="FFB020"/>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1371600" y="2670048"/>
            <a:ext cx="987552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 job is left "active" in Redis</a:t>
            </a:r>
            <a:endParaRPr lang="en-US" sz="1700" dirty="0"/>
          </a:p>
        </p:txBody>
      </p:sp>
      <p:sp>
        <p:nvSpPr>
          <p:cNvPr id="11" name="Text 9"/>
          <p:cNvSpPr/>
          <p:nvPr/>
        </p:nvSpPr>
        <p:spPr>
          <a:xfrm>
            <a:off x="1371600" y="2999232"/>
            <a:ext cx="9875520" cy="38404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Nobody is alive to finish it or fail it. It never clears on its own.</a:t>
            </a:r>
            <a:endParaRPr lang="en-US" sz="1300" dirty="0"/>
          </a:p>
        </p:txBody>
      </p:sp>
      <p:sp>
        <p:nvSpPr>
          <p:cNvPr id="12" name="Shape 10"/>
          <p:cNvSpPr/>
          <p:nvPr/>
        </p:nvSpPr>
        <p:spPr>
          <a:xfrm>
            <a:off x="566928" y="3611880"/>
            <a:ext cx="11064240" cy="932688"/>
          </a:xfrm>
          <a:prstGeom prst="roundRect">
            <a:avLst>
              <a:gd name="adj" fmla="val 9804"/>
            </a:avLst>
          </a:prstGeom>
          <a:solidFill>
            <a:srgbClr val="1A2350"/>
          </a:solidFill>
          <a:ln/>
        </p:spPr>
      </p:sp>
      <p:sp>
        <p:nvSpPr>
          <p:cNvPr id="13" name="Text 11"/>
          <p:cNvSpPr/>
          <p:nvPr/>
        </p:nvSpPr>
        <p:spPr>
          <a:xfrm>
            <a:off x="914400" y="3611880"/>
            <a:ext cx="365760" cy="932688"/>
          </a:xfrm>
          <a:prstGeom prst="rect">
            <a:avLst/>
          </a:prstGeom>
          <a:noFill/>
          <a:ln/>
        </p:spPr>
        <p:txBody>
          <a:bodyPr wrap="square" lIns="0" tIns="0" rIns="0" bIns="0" rtlCol="0" anchor="ctr"/>
          <a:lstStyle/>
          <a:p>
            <a:pPr indent="0" marL="0">
              <a:buNone/>
            </a:pPr>
            <a:r>
              <a:rPr lang="en-US" sz="1200" dirty="0">
                <a:solidFill>
                  <a:srgbClr val="FFB020"/>
                </a:solidFill>
                <a:latin typeface="Arial" pitchFamily="34" charset="0"/>
                <a:ea typeface="Arial" pitchFamily="34" charset="-122"/>
                <a:cs typeface="Arial" pitchFamily="34" charset="-120"/>
              </a:rPr>
              <a:t>▶</a:t>
            </a:r>
            <a:endParaRPr lang="en-US" sz="1200" dirty="0"/>
          </a:p>
        </p:txBody>
      </p:sp>
      <p:sp>
        <p:nvSpPr>
          <p:cNvPr id="14" name="Text 12"/>
          <p:cNvSpPr/>
          <p:nvPr/>
        </p:nvSpPr>
        <p:spPr>
          <a:xfrm>
            <a:off x="1371600" y="3721608"/>
            <a:ext cx="987552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active &gt; 0 keeps the box alive</a:t>
            </a:r>
            <a:endParaRPr lang="en-US" sz="1700" dirty="0"/>
          </a:p>
        </p:txBody>
      </p:sp>
      <p:sp>
        <p:nvSpPr>
          <p:cNvPr id="15" name="Text 13"/>
          <p:cNvSpPr/>
          <p:nvPr/>
        </p:nvSpPr>
        <p:spPr>
          <a:xfrm>
            <a:off x="1371600" y="4050792"/>
            <a:ext cx="9875520" cy="38404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And that is exactly the runaway bill the autoshutdown existed to prevent.</a:t>
            </a:r>
            <a:endParaRPr lang="en-US" sz="1300" dirty="0"/>
          </a:p>
        </p:txBody>
      </p:sp>
      <p:sp>
        <p:nvSpPr>
          <p:cNvPr id="16" name="Shape 14"/>
          <p:cNvSpPr/>
          <p:nvPr/>
        </p:nvSpPr>
        <p:spPr>
          <a:xfrm>
            <a:off x="566928" y="4754880"/>
            <a:ext cx="11064240" cy="1463040"/>
          </a:xfrm>
          <a:prstGeom prst="roundRect">
            <a:avLst>
              <a:gd name="adj" fmla="val 8750"/>
            </a:avLst>
          </a:prstGeom>
          <a:solidFill>
            <a:srgbClr val="141B3E"/>
          </a:solidFill>
          <a:ln w="25400">
            <a:solidFill>
              <a:srgbClr val="3DD68C"/>
            </a:solidFill>
            <a:prstDash val="solid"/>
          </a:ln>
        </p:spPr>
      </p:sp>
      <p:sp>
        <p:nvSpPr>
          <p:cNvPr id="17" name="Text 15"/>
          <p:cNvSpPr/>
          <p:nvPr/>
        </p:nvSpPr>
        <p:spPr>
          <a:xfrm>
            <a:off x="914400" y="4919472"/>
            <a:ext cx="10332720" cy="41148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The fix: anything active for more than 30 minutes is an orphan, not work.</a:t>
            </a:r>
            <a:endParaRPr lang="en-US" sz="1900" dirty="0"/>
          </a:p>
        </p:txBody>
      </p:sp>
      <p:sp>
        <p:nvSpPr>
          <p:cNvPr id="18" name="Text 16"/>
          <p:cNvSpPr/>
          <p:nvPr/>
        </p:nvSpPr>
        <p:spPr>
          <a:xfrm>
            <a:off x="914400" y="5349240"/>
            <a:ext cx="10332720" cy="7315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Generous on purpose. A long video transcode legitimately holds a job for many minutes, and cutting the box off mid-encode wastes the work already done. Thirty minutes is past any real job here and still caps the damage.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THE PART NOBODY EXPECTS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The GPU’s sleep schedule changed the copy on the page</a:t>
            </a:r>
            <a:endParaRPr lang="en-US" sz="3400" dirty="0"/>
          </a:p>
        </p:txBody>
      </p:sp>
      <p:sp>
        <p:nvSpPr>
          <p:cNvPr id="4" name="Shape 2"/>
          <p:cNvSpPr/>
          <p:nvPr/>
        </p:nvSpPr>
        <p:spPr>
          <a:xfrm>
            <a:off x="566928" y="1554480"/>
            <a:ext cx="5394960" cy="2651760"/>
          </a:xfrm>
          <a:prstGeom prst="roundRect">
            <a:avLst>
              <a:gd name="adj" fmla="val 4828"/>
            </a:avLst>
          </a:prstGeom>
          <a:solidFill>
            <a:srgbClr val="1A2350"/>
          </a:solidFill>
          <a:ln w="25400">
            <a:solidFill>
              <a:srgbClr val="3DD68C"/>
            </a:solidFill>
            <a:prstDash val="solid"/>
          </a:ln>
        </p:spPr>
      </p:sp>
      <p:sp>
        <p:nvSpPr>
          <p:cNvPr id="5" name="Shape 3"/>
          <p:cNvSpPr/>
          <p:nvPr/>
        </p:nvSpPr>
        <p:spPr>
          <a:xfrm>
            <a:off x="886968" y="1783080"/>
            <a:ext cx="1051560" cy="347472"/>
          </a:xfrm>
          <a:prstGeom prst="roundRect">
            <a:avLst>
              <a:gd name="adj" fmla="val 44737"/>
            </a:avLst>
          </a:prstGeom>
          <a:solidFill>
            <a:srgbClr val="3DD68C"/>
          </a:solidFill>
          <a:ln/>
        </p:spPr>
      </p:sp>
      <p:sp>
        <p:nvSpPr>
          <p:cNvPr id="6" name="Text 4"/>
          <p:cNvSpPr/>
          <p:nvPr/>
        </p:nvSpPr>
        <p:spPr>
          <a:xfrm>
            <a:off x="886968" y="1783080"/>
            <a:ext cx="1051560" cy="347472"/>
          </a:xfrm>
          <a:prstGeom prst="rect">
            <a:avLst/>
          </a:prstGeom>
          <a:noFill/>
          <a:ln/>
        </p:spPr>
        <p:txBody>
          <a:bodyPr wrap="square" lIns="0" tIns="0" rIns="0" bIns="0" rtlCol="0" anchor="ctr"/>
          <a:lstStyle/>
          <a:p>
            <a:pPr algn="ctr" indent="0" marL="0">
              <a:buNone/>
            </a:pPr>
            <a:r>
              <a:rPr lang="en-US" sz="1200" b="1" dirty="0">
                <a:solidFill>
                  <a:srgbClr val="11162E"/>
                </a:solidFill>
                <a:latin typeface="Courier New" pitchFamily="34" charset="0"/>
                <a:ea typeface="Courier New" pitchFamily="34" charset="-122"/>
                <a:cs typeface="Courier New" pitchFamily="34" charset="-120"/>
              </a:rPr>
              <a:t>live</a:t>
            </a:r>
            <a:endParaRPr lang="en-US" sz="1200" dirty="0"/>
          </a:p>
        </p:txBody>
      </p:sp>
      <p:sp>
        <p:nvSpPr>
          <p:cNvPr id="7" name="Text 5"/>
          <p:cNvSpPr/>
          <p:nvPr/>
        </p:nvSpPr>
        <p:spPr>
          <a:xfrm>
            <a:off x="886968" y="2286000"/>
            <a:ext cx="47548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Box awake and keeping up</a:t>
            </a:r>
            <a:endParaRPr lang="en-US" sz="1800" dirty="0"/>
          </a:p>
        </p:txBody>
      </p:sp>
      <p:sp>
        <p:nvSpPr>
          <p:cNvPr id="8" name="Text 6"/>
          <p:cNvSpPr/>
          <p:nvPr/>
        </p:nvSpPr>
        <p:spPr>
          <a:xfrm>
            <a:off x="886968" y="2788920"/>
            <a:ext cx="4754880" cy="12801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A spinner, "you are number 4 in the queue", and a rough estimate. It flips to the result if it finishes while they watch.</a:t>
            </a:r>
            <a:endParaRPr lang="en-US" sz="1400" dirty="0"/>
          </a:p>
        </p:txBody>
      </p:sp>
      <p:sp>
        <p:nvSpPr>
          <p:cNvPr id="9" name="Shape 7"/>
          <p:cNvSpPr/>
          <p:nvPr/>
        </p:nvSpPr>
        <p:spPr>
          <a:xfrm>
            <a:off x="6236208" y="1554480"/>
            <a:ext cx="5394960" cy="2651760"/>
          </a:xfrm>
          <a:prstGeom prst="roundRect">
            <a:avLst>
              <a:gd name="adj" fmla="val 4828"/>
            </a:avLst>
          </a:prstGeom>
          <a:solidFill>
            <a:srgbClr val="1A2350"/>
          </a:solidFill>
          <a:ln w="25400">
            <a:solidFill>
              <a:srgbClr val="FFB020"/>
            </a:solidFill>
            <a:prstDash val="solid"/>
          </a:ln>
        </p:spPr>
      </p:sp>
      <p:sp>
        <p:nvSpPr>
          <p:cNvPr id="10" name="Shape 8"/>
          <p:cNvSpPr/>
          <p:nvPr/>
        </p:nvSpPr>
        <p:spPr>
          <a:xfrm>
            <a:off x="6556248" y="1783080"/>
            <a:ext cx="1051560" cy="347472"/>
          </a:xfrm>
          <a:prstGeom prst="roundRect">
            <a:avLst>
              <a:gd name="adj" fmla="val 44737"/>
            </a:avLst>
          </a:prstGeom>
          <a:solidFill>
            <a:srgbClr val="FFB020"/>
          </a:solidFill>
          <a:ln/>
        </p:spPr>
      </p:sp>
      <p:sp>
        <p:nvSpPr>
          <p:cNvPr id="11" name="Text 9"/>
          <p:cNvSpPr/>
          <p:nvPr/>
        </p:nvSpPr>
        <p:spPr>
          <a:xfrm>
            <a:off x="6556248" y="1783080"/>
            <a:ext cx="1051560" cy="347472"/>
          </a:xfrm>
          <a:prstGeom prst="rect">
            <a:avLst/>
          </a:prstGeom>
          <a:noFill/>
          <a:ln/>
        </p:spPr>
        <p:txBody>
          <a:bodyPr wrap="square" lIns="0" tIns="0" rIns="0" bIns="0" rtlCol="0" anchor="ctr"/>
          <a:lstStyle/>
          <a:p>
            <a:pPr algn="ctr" indent="0" marL="0">
              <a:buNone/>
            </a:pPr>
            <a:r>
              <a:rPr lang="en-US" sz="1200" b="1" dirty="0">
                <a:solidFill>
                  <a:srgbClr val="11162E"/>
                </a:solidFill>
                <a:latin typeface="Courier New" pitchFamily="34" charset="0"/>
                <a:ea typeface="Courier New" pitchFamily="34" charset="-122"/>
                <a:cs typeface="Courier New" pitchFamily="34" charset="-120"/>
              </a:rPr>
              <a:t>deferred</a:t>
            </a:r>
            <a:endParaRPr lang="en-US" sz="1200" dirty="0"/>
          </a:p>
        </p:txBody>
      </p:sp>
      <p:sp>
        <p:nvSpPr>
          <p:cNvPr id="12" name="Text 10"/>
          <p:cNvSpPr/>
          <p:nvPr/>
        </p:nvSpPr>
        <p:spPr>
          <a:xfrm>
            <a:off x="6556248" y="2286000"/>
            <a:ext cx="47548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Box asleep, or badly backed up</a:t>
            </a:r>
            <a:endParaRPr lang="en-US" sz="1800" dirty="0"/>
          </a:p>
        </p:txBody>
      </p:sp>
      <p:sp>
        <p:nvSpPr>
          <p:cNvPr id="13" name="Text 11"/>
          <p:cNvSpPr/>
          <p:nvPr/>
        </p:nvSpPr>
        <p:spPr>
          <a:xfrm>
            <a:off x="6556248" y="2788920"/>
            <a:ext cx="4754880" cy="12801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"Thanks — we will email you when your photos are ready." No fake progress bar, no promise we cannot keep.</a:t>
            </a:r>
            <a:endParaRPr lang="en-US" sz="1400" dirty="0"/>
          </a:p>
        </p:txBody>
      </p:sp>
      <p:sp>
        <p:nvSpPr>
          <p:cNvPr id="14" name="Shape 12"/>
          <p:cNvSpPr/>
          <p:nvPr/>
        </p:nvSpPr>
        <p:spPr>
          <a:xfrm>
            <a:off x="566928" y="4480560"/>
            <a:ext cx="11064240" cy="1691640"/>
          </a:xfrm>
          <a:prstGeom prst="roundRect">
            <a:avLst>
              <a:gd name="adj" fmla="val 7568"/>
            </a:avLst>
          </a:prstGeom>
          <a:solidFill>
            <a:srgbClr val="141B3E"/>
          </a:solidFill>
          <a:ln/>
        </p:spPr>
      </p:sp>
      <p:sp>
        <p:nvSpPr>
          <p:cNvPr id="15" name="Text 13"/>
          <p:cNvSpPr/>
          <p:nvPr/>
        </p:nvSpPr>
        <p:spPr>
          <a:xfrm>
            <a:off x="914400" y="4617720"/>
            <a:ext cx="10332720" cy="9144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cutoff is total GPU queue depth, not the selfie queue’s own depth. The selfie queue can be nearly empty while an import has thousands of faces queued ahead of it on the same GPU — total depth is the only honest signal for whether an estimate means anything.</a:t>
            </a:r>
            <a:endParaRPr lang="en-US" sz="1500" dirty="0"/>
          </a:p>
        </p:txBody>
      </p:sp>
      <p:sp>
        <p:nvSpPr>
          <p:cNvPr id="16" name="Text 14"/>
          <p:cNvSpPr/>
          <p:nvPr/>
        </p:nvSpPr>
        <p:spPr>
          <a:xfrm>
            <a:off x="914400" y="5577840"/>
            <a:ext cx="10332720" cy="457200"/>
          </a:xfrm>
          <a:prstGeom prst="rect">
            <a:avLst/>
          </a:prstGeom>
          <a:noFill/>
          <a:ln/>
        </p:spPr>
        <p:txBody>
          <a:bodyPr wrap="square" lIns="0" tIns="0" rIns="0" bIns="0" rtlCol="0" anchor="ctr"/>
          <a:lstStyle/>
          <a:p>
            <a:pPr indent="0" marL="0">
              <a:buNone/>
            </a:pPr>
            <a:r>
              <a:rPr lang="en-US" sz="1500" b="1" i="1" dirty="0">
                <a:solidFill>
                  <a:srgbClr val="A9BEFF"/>
                </a:solidFill>
                <a:latin typeface="Arial" pitchFamily="34" charset="0"/>
                <a:ea typeface="Arial" pitchFamily="34" charset="-122"/>
                <a:cs typeface="Arial" pitchFamily="34" charset="-120"/>
              </a:rPr>
              <a:t>Cost optimisation was not a setting bolted on at the end. It changed the queue design, the deploy topology, and the words on the page.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MEASURED, NOT CLAIMED</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What we can actually prove</a:t>
            </a:r>
            <a:endParaRPr lang="en-US" sz="3400" dirty="0"/>
          </a:p>
        </p:txBody>
      </p:sp>
      <p:sp>
        <p:nvSpPr>
          <p:cNvPr id="4" name="Shape 2"/>
          <p:cNvSpPr/>
          <p:nvPr/>
        </p:nvSpPr>
        <p:spPr>
          <a:xfrm>
            <a:off x="566928" y="1554480"/>
            <a:ext cx="3520440" cy="2011680"/>
          </a:xfrm>
          <a:prstGeom prst="roundRect">
            <a:avLst>
              <a:gd name="adj" fmla="val 6364"/>
            </a:avLst>
          </a:prstGeom>
          <a:solidFill>
            <a:srgbClr val="1A2350"/>
          </a:solidFill>
          <a:ln/>
        </p:spPr>
      </p:sp>
      <p:sp>
        <p:nvSpPr>
          <p:cNvPr id="5" name="Text 3"/>
          <p:cNvSpPr/>
          <p:nvPr/>
        </p:nvSpPr>
        <p:spPr>
          <a:xfrm>
            <a:off x="566928" y="1691640"/>
            <a:ext cx="3520440" cy="914400"/>
          </a:xfrm>
          <a:prstGeom prst="rect">
            <a:avLst/>
          </a:prstGeom>
          <a:noFill/>
          <a:ln/>
        </p:spPr>
        <p:txBody>
          <a:bodyPr wrap="square" lIns="0" tIns="0" rIns="0" bIns="0" rtlCol="0" anchor="ctr"/>
          <a:lstStyle/>
          <a:p>
            <a:pPr algn="ctr" indent="0" marL="0">
              <a:buNone/>
            </a:pPr>
            <a:r>
              <a:rPr lang="en-US" sz="4600" b="1" dirty="0">
                <a:solidFill>
                  <a:srgbClr val="3DD68C"/>
                </a:solidFill>
                <a:latin typeface="Cambria" pitchFamily="34" charset="0"/>
                <a:ea typeface="Cambria" pitchFamily="34" charset="-122"/>
                <a:cs typeface="Cambria" pitchFamily="34" charset="-120"/>
              </a:rPr>
              <a:t>13.7s</a:t>
            </a:r>
            <a:endParaRPr lang="en-US" sz="4600" dirty="0"/>
          </a:p>
        </p:txBody>
      </p:sp>
      <p:sp>
        <p:nvSpPr>
          <p:cNvPr id="6" name="Text 4"/>
          <p:cNvSpPr/>
          <p:nvPr/>
        </p:nvSpPr>
        <p:spPr>
          <a:xfrm>
            <a:off x="841248" y="2651760"/>
            <a:ext cx="2971800" cy="777240"/>
          </a:xfrm>
          <a:prstGeom prst="rect">
            <a:avLst/>
          </a:prstGeom>
          <a:noFill/>
          <a:ln/>
        </p:spPr>
        <p:txBody>
          <a:bodyPr wrap="square" lIns="0" tIns="0" rIns="0" bIns="0" rtlCol="0" anchor="ctr"/>
          <a:lstStyle/>
          <a:p>
            <a:pPr algn="ctr" indent="0" marL="0">
              <a:buNone/>
            </a:pPr>
            <a:r>
              <a:rPr lang="en-US" sz="1300" dirty="0">
                <a:solidFill>
                  <a:srgbClr val="8A93B8"/>
                </a:solidFill>
                <a:latin typeface="Arial" pitchFamily="34" charset="0"/>
                <a:ea typeface="Arial" pitchFamily="34" charset="-122"/>
                <a:cs typeface="Arial" pitchFamily="34" charset="-120"/>
              </a:rPr>
              <a:t>to rematch 10,000 faces across 500 participants</a:t>
            </a:r>
            <a:endParaRPr lang="en-US" sz="1300" dirty="0"/>
          </a:p>
        </p:txBody>
      </p:sp>
      <p:sp>
        <p:nvSpPr>
          <p:cNvPr id="7" name="Shape 5"/>
          <p:cNvSpPr/>
          <p:nvPr/>
        </p:nvSpPr>
        <p:spPr>
          <a:xfrm>
            <a:off x="4270248" y="1554480"/>
            <a:ext cx="3520440" cy="2011680"/>
          </a:xfrm>
          <a:prstGeom prst="roundRect">
            <a:avLst>
              <a:gd name="adj" fmla="val 6364"/>
            </a:avLst>
          </a:prstGeom>
          <a:solidFill>
            <a:srgbClr val="1A2350"/>
          </a:solidFill>
          <a:ln/>
        </p:spPr>
      </p:sp>
      <p:sp>
        <p:nvSpPr>
          <p:cNvPr id="8" name="Text 6"/>
          <p:cNvSpPr/>
          <p:nvPr/>
        </p:nvSpPr>
        <p:spPr>
          <a:xfrm>
            <a:off x="4270248" y="1691640"/>
            <a:ext cx="3520440" cy="914400"/>
          </a:xfrm>
          <a:prstGeom prst="rect">
            <a:avLst/>
          </a:prstGeom>
          <a:noFill/>
          <a:ln/>
        </p:spPr>
        <p:txBody>
          <a:bodyPr wrap="square" lIns="0" tIns="0" rIns="0" bIns="0" rtlCol="0" anchor="ctr"/>
          <a:lstStyle/>
          <a:p>
            <a:pPr algn="ctr" indent="0" marL="0">
              <a:buNone/>
            </a:pPr>
            <a:r>
              <a:rPr lang="en-US" sz="4600" b="1" dirty="0">
                <a:solidFill>
                  <a:srgbClr val="3DD68C"/>
                </a:solidFill>
                <a:latin typeface="Cambria" pitchFamily="34" charset="0"/>
                <a:ea typeface="Cambria" pitchFamily="34" charset="-122"/>
                <a:cs typeface="Cambria" pitchFamily="34" charset="-120"/>
              </a:rPr>
              <a:t>0</a:t>
            </a:r>
            <a:endParaRPr lang="en-US" sz="4600" dirty="0"/>
          </a:p>
        </p:txBody>
      </p:sp>
      <p:sp>
        <p:nvSpPr>
          <p:cNvPr id="9" name="Text 7"/>
          <p:cNvSpPr/>
          <p:nvPr/>
        </p:nvSpPr>
        <p:spPr>
          <a:xfrm>
            <a:off x="4544568" y="2651760"/>
            <a:ext cx="2971800" cy="777240"/>
          </a:xfrm>
          <a:prstGeom prst="rect">
            <a:avLst/>
          </a:prstGeom>
          <a:noFill/>
          <a:ln/>
        </p:spPr>
        <p:txBody>
          <a:bodyPr wrap="square" lIns="0" tIns="0" rIns="0" bIns="0" rtlCol="0" anchor="ctr"/>
          <a:lstStyle/>
          <a:p>
            <a:pPr algn="ctr" indent="0" marL="0">
              <a:buNone/>
            </a:pPr>
            <a:r>
              <a:rPr lang="en-US" sz="1300" dirty="0">
                <a:solidFill>
                  <a:srgbClr val="8A93B8"/>
                </a:solidFill>
                <a:latin typeface="Arial" pitchFamily="34" charset="0"/>
                <a:ea typeface="Arial" pitchFamily="34" charset="-122"/>
                <a:cs typeface="Arial" pitchFamily="34" charset="-120"/>
              </a:rPr>
              <a:t>duplicate persons, and zero cross-identity matches</a:t>
            </a:r>
            <a:endParaRPr lang="en-US" sz="1300" dirty="0"/>
          </a:p>
        </p:txBody>
      </p:sp>
      <p:sp>
        <p:nvSpPr>
          <p:cNvPr id="10" name="Shape 8"/>
          <p:cNvSpPr/>
          <p:nvPr/>
        </p:nvSpPr>
        <p:spPr>
          <a:xfrm>
            <a:off x="7973568" y="1554480"/>
            <a:ext cx="3520440" cy="2011680"/>
          </a:xfrm>
          <a:prstGeom prst="roundRect">
            <a:avLst>
              <a:gd name="adj" fmla="val 6364"/>
            </a:avLst>
          </a:prstGeom>
          <a:solidFill>
            <a:srgbClr val="1A2350"/>
          </a:solidFill>
          <a:ln/>
        </p:spPr>
      </p:sp>
      <p:sp>
        <p:nvSpPr>
          <p:cNvPr id="11" name="Text 9"/>
          <p:cNvSpPr/>
          <p:nvPr/>
        </p:nvSpPr>
        <p:spPr>
          <a:xfrm>
            <a:off x="7973568" y="1691640"/>
            <a:ext cx="3520440" cy="914400"/>
          </a:xfrm>
          <a:prstGeom prst="rect">
            <a:avLst/>
          </a:prstGeom>
          <a:noFill/>
          <a:ln/>
        </p:spPr>
        <p:txBody>
          <a:bodyPr wrap="square" lIns="0" tIns="0" rIns="0" bIns="0" rtlCol="0" anchor="ctr"/>
          <a:lstStyle/>
          <a:p>
            <a:pPr algn="ctr" indent="0" marL="0">
              <a:buNone/>
            </a:pPr>
            <a:r>
              <a:rPr lang="en-US" sz="4600" b="1" dirty="0">
                <a:solidFill>
                  <a:srgbClr val="4C6FFF"/>
                </a:solidFill>
                <a:latin typeface="Cambria" pitchFamily="34" charset="0"/>
                <a:ea typeface="Cambria" pitchFamily="34" charset="-122"/>
                <a:cs typeface="Cambria" pitchFamily="34" charset="-120"/>
              </a:rPr>
              <a:t>79 / 11</a:t>
            </a:r>
            <a:endParaRPr lang="en-US" sz="4600" dirty="0"/>
          </a:p>
        </p:txBody>
      </p:sp>
      <p:sp>
        <p:nvSpPr>
          <p:cNvPr id="12" name="Text 10"/>
          <p:cNvSpPr/>
          <p:nvPr/>
        </p:nvSpPr>
        <p:spPr>
          <a:xfrm>
            <a:off x="8247888" y="2651760"/>
            <a:ext cx="2971800" cy="777240"/>
          </a:xfrm>
          <a:prstGeom prst="rect">
            <a:avLst/>
          </a:prstGeom>
          <a:noFill/>
          <a:ln/>
        </p:spPr>
        <p:txBody>
          <a:bodyPr wrap="square" lIns="0" tIns="0" rIns="0" bIns="0" rtlCol="0" anchor="ctr"/>
          <a:lstStyle/>
          <a:p>
            <a:pPr algn="ctr" indent="0" marL="0">
              <a:buNone/>
            </a:pPr>
            <a:r>
              <a:rPr lang="en-US" sz="1300" dirty="0">
                <a:solidFill>
                  <a:srgbClr val="8A93B8"/>
                </a:solidFill>
                <a:latin typeface="Arial" pitchFamily="34" charset="0"/>
                <a:ea typeface="Arial" pitchFamily="34" charset="-122"/>
                <a:cs typeface="Arial" pitchFamily="34" charset="-120"/>
              </a:rPr>
              <a:t>faces found and sensible clusters, on real photos</a:t>
            </a:r>
            <a:endParaRPr lang="en-US" sz="1300" dirty="0"/>
          </a:p>
        </p:txBody>
      </p:sp>
      <p:sp>
        <p:nvSpPr>
          <p:cNvPr id="13" name="Shape 11"/>
          <p:cNvSpPr/>
          <p:nvPr/>
        </p:nvSpPr>
        <p:spPr>
          <a:xfrm>
            <a:off x="566928" y="3886200"/>
            <a:ext cx="5394960" cy="2194560"/>
          </a:xfrm>
          <a:prstGeom prst="roundRect">
            <a:avLst>
              <a:gd name="adj" fmla="val 5833"/>
            </a:avLst>
          </a:prstGeom>
          <a:solidFill>
            <a:srgbClr val="141B3E"/>
          </a:solidFill>
          <a:ln w="25400">
            <a:solidFill>
              <a:srgbClr val="33407F"/>
            </a:solidFill>
            <a:prstDash val="solid"/>
          </a:ln>
        </p:spPr>
      </p:sp>
      <p:sp>
        <p:nvSpPr>
          <p:cNvPr id="14" name="Text 12"/>
          <p:cNvSpPr/>
          <p:nvPr/>
        </p:nvSpPr>
        <p:spPr>
          <a:xfrm>
            <a:off x="868680" y="4069080"/>
            <a:ext cx="4846320" cy="320040"/>
          </a:xfrm>
          <a:prstGeom prst="rect">
            <a:avLst/>
          </a:prstGeom>
          <a:noFill/>
          <a:ln/>
        </p:spPr>
        <p:txBody>
          <a:bodyPr wrap="square" lIns="0" tIns="0" rIns="0" bIns="0" rtlCol="0" anchor="ctr"/>
          <a:lstStyle/>
          <a:p>
            <a:pPr indent="0" marL="0">
              <a:buNone/>
            </a:pPr>
            <a:r>
              <a:rPr lang="en-US" sz="1500" b="1" dirty="0">
                <a:solidFill>
                  <a:srgbClr val="A9BEFF"/>
                </a:solidFill>
                <a:latin typeface="Arial" pitchFamily="34" charset="0"/>
                <a:ea typeface="Arial" pitchFamily="34" charset="-122"/>
                <a:cs typeface="Arial" pitchFamily="34" charset="-120"/>
              </a:rPr>
              <a:t>And the GPU?</a:t>
            </a:r>
            <a:endParaRPr lang="en-US" sz="1500" dirty="0"/>
          </a:p>
        </p:txBody>
      </p:sp>
      <p:sp>
        <p:nvSpPr>
          <p:cNvPr id="15" name="Text 13"/>
          <p:cNvSpPr/>
          <p:nvPr/>
        </p:nvSpPr>
        <p:spPr>
          <a:xfrm>
            <a:off x="868680" y="4434840"/>
            <a:ext cx="4846320" cy="14630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Up during ingest bursts, paused the rest of the time, with the pause visible on the admin panel alongside what the provider itself reports — because the two disagreeing is the expensive case.</a:t>
            </a:r>
            <a:endParaRPr lang="en-US" sz="1400" dirty="0"/>
          </a:p>
        </p:txBody>
      </p:sp>
      <p:sp>
        <p:nvSpPr>
          <p:cNvPr id="16" name="Shape 14"/>
          <p:cNvSpPr/>
          <p:nvPr/>
        </p:nvSpPr>
        <p:spPr>
          <a:xfrm>
            <a:off x="6236208" y="3886200"/>
            <a:ext cx="5394960" cy="2194560"/>
          </a:xfrm>
          <a:prstGeom prst="roundRect">
            <a:avLst>
              <a:gd name="adj" fmla="val 5833"/>
            </a:avLst>
          </a:prstGeom>
          <a:solidFill>
            <a:srgbClr val="141B3E"/>
          </a:solidFill>
          <a:ln w="25400">
            <a:solidFill>
              <a:srgbClr val="FFB020"/>
            </a:solidFill>
            <a:prstDash val="solid"/>
          </a:ln>
        </p:spPr>
      </p:sp>
      <p:sp>
        <p:nvSpPr>
          <p:cNvPr id="17" name="Text 15"/>
          <p:cNvSpPr/>
          <p:nvPr/>
        </p:nvSpPr>
        <p:spPr>
          <a:xfrm>
            <a:off x="6537960" y="4069080"/>
            <a:ext cx="484632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What is honestly not done</a:t>
            </a:r>
            <a:endParaRPr lang="en-US" sz="1500" dirty="0"/>
          </a:p>
        </p:txBody>
      </p:sp>
      <p:sp>
        <p:nvSpPr>
          <p:cNvPr id="18" name="Text 16"/>
          <p:cNvSpPr/>
          <p:nvPr/>
        </p:nvSpPr>
        <p:spPr>
          <a:xfrm>
            <a:off x="6537960" y="4434840"/>
            <a:ext cx="4846320" cy="14630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Live OAuth for the cloud imports is still unverified, and the multi-VM deploy has never been run on real VMs — only in compose. Browser-level UI testing is still API-level only.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TAKE THESE HOME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Five rules that outlive this project</a:t>
            </a:r>
            <a:endParaRPr lang="en-US" sz="3400" dirty="0"/>
          </a:p>
        </p:txBody>
      </p:sp>
      <p:sp>
        <p:nvSpPr>
          <p:cNvPr id="4" name="Shape 2"/>
          <p:cNvSpPr/>
          <p:nvPr/>
        </p:nvSpPr>
        <p:spPr>
          <a:xfrm>
            <a:off x="566928" y="1463040"/>
            <a:ext cx="11064240" cy="841248"/>
          </a:xfrm>
          <a:prstGeom prst="roundRect">
            <a:avLst>
              <a:gd name="adj" fmla="val 10870"/>
            </a:avLst>
          </a:prstGeom>
          <a:solidFill>
            <a:srgbClr val="1A2350"/>
          </a:solidFill>
          <a:ln/>
        </p:spPr>
      </p:sp>
      <p:sp>
        <p:nvSpPr>
          <p:cNvPr id="5" name="Shape 3"/>
          <p:cNvSpPr/>
          <p:nvPr/>
        </p:nvSpPr>
        <p:spPr>
          <a:xfrm>
            <a:off x="822960" y="1673352"/>
            <a:ext cx="420624" cy="420624"/>
          </a:xfrm>
          <a:prstGeom prst="ellipse">
            <a:avLst/>
          </a:prstGeom>
          <a:solidFill>
            <a:srgbClr val="FFB020"/>
          </a:solidFill>
          <a:ln/>
        </p:spPr>
      </p:sp>
      <p:sp>
        <p:nvSpPr>
          <p:cNvPr id="6" name="Text 4"/>
          <p:cNvSpPr/>
          <p:nvPr/>
        </p:nvSpPr>
        <p:spPr>
          <a:xfrm>
            <a:off x="822960" y="167335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81328" y="1463040"/>
            <a:ext cx="9875520" cy="841248"/>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Queues are what let you turn expensive things off.</a:t>
            </a:r>
            <a:endParaRPr lang="en-US" sz="1600" dirty="0"/>
          </a:p>
        </p:txBody>
      </p:sp>
      <p:sp>
        <p:nvSpPr>
          <p:cNvPr id="8" name="Shape 6"/>
          <p:cNvSpPr/>
          <p:nvPr/>
        </p:nvSpPr>
        <p:spPr>
          <a:xfrm>
            <a:off x="566928" y="2423160"/>
            <a:ext cx="11064240" cy="841248"/>
          </a:xfrm>
          <a:prstGeom prst="roundRect">
            <a:avLst>
              <a:gd name="adj" fmla="val 10870"/>
            </a:avLst>
          </a:prstGeom>
          <a:solidFill>
            <a:srgbClr val="1A2350"/>
          </a:solidFill>
          <a:ln/>
        </p:spPr>
      </p:sp>
      <p:sp>
        <p:nvSpPr>
          <p:cNvPr id="9" name="Shape 7"/>
          <p:cNvSpPr/>
          <p:nvPr/>
        </p:nvSpPr>
        <p:spPr>
          <a:xfrm>
            <a:off x="822960" y="2633472"/>
            <a:ext cx="420624" cy="420624"/>
          </a:xfrm>
          <a:prstGeom prst="ellipse">
            <a:avLst/>
          </a:prstGeom>
          <a:solidFill>
            <a:srgbClr val="4C6FFF"/>
          </a:solidFill>
          <a:ln/>
        </p:spPr>
      </p:sp>
      <p:sp>
        <p:nvSpPr>
          <p:cNvPr id="10" name="Text 8"/>
          <p:cNvSpPr/>
          <p:nvPr/>
        </p:nvSpPr>
        <p:spPr>
          <a:xfrm>
            <a:off x="822960" y="263347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1481328" y="2423160"/>
            <a:ext cx="9875520" cy="841248"/>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No API? A CLI subprocess is a legitimate integration layer — just parse it defensively.</a:t>
            </a:r>
            <a:endParaRPr lang="en-US" sz="1600" dirty="0"/>
          </a:p>
        </p:txBody>
      </p:sp>
      <p:sp>
        <p:nvSpPr>
          <p:cNvPr id="12" name="Shape 10"/>
          <p:cNvSpPr/>
          <p:nvPr/>
        </p:nvSpPr>
        <p:spPr>
          <a:xfrm>
            <a:off x="566928" y="3383280"/>
            <a:ext cx="11064240" cy="841248"/>
          </a:xfrm>
          <a:prstGeom prst="roundRect">
            <a:avLst>
              <a:gd name="adj" fmla="val 10870"/>
            </a:avLst>
          </a:prstGeom>
          <a:solidFill>
            <a:srgbClr val="1A2350"/>
          </a:solidFill>
          <a:ln/>
        </p:spPr>
      </p:sp>
      <p:sp>
        <p:nvSpPr>
          <p:cNvPr id="13" name="Shape 11"/>
          <p:cNvSpPr/>
          <p:nvPr/>
        </p:nvSpPr>
        <p:spPr>
          <a:xfrm>
            <a:off x="822960" y="3593592"/>
            <a:ext cx="420624" cy="420624"/>
          </a:xfrm>
          <a:prstGeom prst="ellipse">
            <a:avLst/>
          </a:prstGeom>
          <a:solidFill>
            <a:srgbClr val="FFB020"/>
          </a:solidFill>
          <a:ln/>
        </p:spPr>
      </p:sp>
      <p:sp>
        <p:nvSpPr>
          <p:cNvPr id="14" name="Text 12"/>
          <p:cNvSpPr/>
          <p:nvPr/>
        </p:nvSpPr>
        <p:spPr>
          <a:xfrm>
            <a:off x="822960" y="359359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1481328" y="3383280"/>
            <a:ext cx="9875520" cy="841248"/>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Make the expensive resource fail closed, and let it kill itself rather than trusting someone else to.</a:t>
            </a:r>
            <a:endParaRPr lang="en-US" sz="1600" dirty="0"/>
          </a:p>
        </p:txBody>
      </p:sp>
      <p:sp>
        <p:nvSpPr>
          <p:cNvPr id="16" name="Shape 14"/>
          <p:cNvSpPr/>
          <p:nvPr/>
        </p:nvSpPr>
        <p:spPr>
          <a:xfrm>
            <a:off x="566928" y="4343400"/>
            <a:ext cx="11064240" cy="841248"/>
          </a:xfrm>
          <a:prstGeom prst="roundRect">
            <a:avLst>
              <a:gd name="adj" fmla="val 10870"/>
            </a:avLst>
          </a:prstGeom>
          <a:solidFill>
            <a:srgbClr val="1A2350"/>
          </a:solidFill>
          <a:ln/>
        </p:spPr>
      </p:sp>
      <p:sp>
        <p:nvSpPr>
          <p:cNvPr id="17" name="Shape 15"/>
          <p:cNvSpPr/>
          <p:nvPr/>
        </p:nvSpPr>
        <p:spPr>
          <a:xfrm>
            <a:off x="822960" y="4553712"/>
            <a:ext cx="420624" cy="420624"/>
          </a:xfrm>
          <a:prstGeom prst="ellipse">
            <a:avLst/>
          </a:prstGeom>
          <a:solidFill>
            <a:srgbClr val="4C6FFF"/>
          </a:solidFill>
          <a:ln/>
        </p:spPr>
      </p:sp>
      <p:sp>
        <p:nvSpPr>
          <p:cNvPr id="18" name="Text 16"/>
          <p:cNvSpPr/>
          <p:nvPr/>
        </p:nvSpPr>
        <p:spPr>
          <a:xfrm>
            <a:off x="822960" y="455371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1481328" y="4343400"/>
            <a:ext cx="9875520" cy="841248"/>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Every managed dependency deserves a real local stand-in. No mocks, same code paths.</a:t>
            </a:r>
            <a:endParaRPr lang="en-US" sz="1600" dirty="0"/>
          </a:p>
        </p:txBody>
      </p:sp>
      <p:sp>
        <p:nvSpPr>
          <p:cNvPr id="20" name="Shape 18"/>
          <p:cNvSpPr/>
          <p:nvPr/>
        </p:nvSpPr>
        <p:spPr>
          <a:xfrm>
            <a:off x="566928" y="5303520"/>
            <a:ext cx="11064240" cy="841248"/>
          </a:xfrm>
          <a:prstGeom prst="roundRect">
            <a:avLst>
              <a:gd name="adj" fmla="val 10870"/>
            </a:avLst>
          </a:prstGeom>
          <a:solidFill>
            <a:srgbClr val="1A2350"/>
          </a:solidFill>
          <a:ln/>
        </p:spPr>
      </p:sp>
      <p:sp>
        <p:nvSpPr>
          <p:cNvPr id="21" name="Shape 19"/>
          <p:cNvSpPr/>
          <p:nvPr/>
        </p:nvSpPr>
        <p:spPr>
          <a:xfrm>
            <a:off x="822960" y="5513832"/>
            <a:ext cx="420624" cy="420624"/>
          </a:xfrm>
          <a:prstGeom prst="ellipse">
            <a:avLst/>
          </a:prstGeom>
          <a:solidFill>
            <a:srgbClr val="FFB020"/>
          </a:solidFill>
          <a:ln/>
        </p:spPr>
      </p:sp>
      <p:sp>
        <p:nvSpPr>
          <p:cNvPr id="22" name="Text 20"/>
          <p:cNvSpPr/>
          <p:nvPr/>
        </p:nvSpPr>
        <p:spPr>
          <a:xfrm>
            <a:off x="822960" y="551383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5</a:t>
            </a:r>
            <a:endParaRPr lang="en-US" sz="1600" dirty="0"/>
          </a:p>
        </p:txBody>
      </p:sp>
      <p:sp>
        <p:nvSpPr>
          <p:cNvPr id="23" name="Text 21"/>
          <p:cNvSpPr/>
          <p:nvPr/>
        </p:nvSpPr>
        <p:spPr>
          <a:xfrm>
            <a:off x="1481328" y="5303520"/>
            <a:ext cx="9875520" cy="841248"/>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Privacy rules belong in tests, not comments.</a:t>
            </a:r>
            <a:endParaRPr lang="en-US" sz="1600" dirty="0"/>
          </a:p>
        </p:txBody>
      </p:sp>
      <p:sp>
        <p:nvSpPr>
          <p:cNvPr id="24" name="Text 22"/>
          <p:cNvSpPr/>
          <p:nvPr/>
        </p:nvSpPr>
        <p:spPr>
          <a:xfrm>
            <a:off x="566928" y="6263640"/>
            <a:ext cx="11064240" cy="411480"/>
          </a:xfrm>
          <a:prstGeom prst="rect">
            <a:avLst/>
          </a:prstGeom>
          <a:noFill/>
          <a:ln/>
        </p:spPr>
        <p:txBody>
          <a:bodyPr wrap="square" lIns="0" tIns="0" rIns="0" bIns="0" rtlCol="0" anchor="ctr"/>
          <a:lstStyle/>
          <a:p>
            <a:pPr indent="0" marL="0">
              <a:buNone/>
            </a:pPr>
            <a:r>
              <a:rPr lang="en-US" sz="1400" i="1" dirty="0">
                <a:solidFill>
                  <a:srgbClr val="8A93B8"/>
                </a:solidFill>
                <a:latin typeface="Arial" pitchFamily="34" charset="0"/>
                <a:ea typeface="Arial" pitchFamily="34" charset="-122"/>
                <a:cs typeface="Arial" pitchFamily="34" charset="-120"/>
              </a:rPr>
              <a:t>None of these are about face recognition. All of them are about running something you cannot afford to leave switched 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1371600"/>
            <a:ext cx="10515600"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Questions</a:t>
            </a:r>
            <a:endParaRPr lang="en-US" sz="5600" dirty="0"/>
          </a:p>
        </p:txBody>
      </p:sp>
      <p:sp>
        <p:nvSpPr>
          <p:cNvPr id="3" name="Text 1"/>
          <p:cNvSpPr/>
          <p:nvPr/>
        </p:nvSpPr>
        <p:spPr>
          <a:xfrm>
            <a:off x="566928" y="2468880"/>
            <a:ext cx="10515600" cy="457200"/>
          </a:xfrm>
          <a:prstGeom prst="rect">
            <a:avLst/>
          </a:prstGeom>
          <a:noFill/>
          <a:ln/>
        </p:spPr>
        <p:txBody>
          <a:bodyPr wrap="square" lIns="0" tIns="0" rIns="0" bIns="0" rtlCol="0" anchor="ctr"/>
          <a:lstStyle/>
          <a:p>
            <a:pPr indent="0" marL="0">
              <a:buNone/>
            </a:pPr>
            <a:r>
              <a:rPr lang="en-US" sz="1700" dirty="0">
                <a:solidFill>
                  <a:srgbClr val="A9BEFF"/>
                </a:solidFill>
                <a:latin typeface="Arial" pitchFamily="34" charset="0"/>
                <a:ea typeface="Arial" pitchFamily="34" charset="-122"/>
                <a:cs typeface="Arial" pitchFamily="34" charset="-120"/>
              </a:rPr>
              <a:t>Seed the room with these if it goes quiet:</a:t>
            </a:r>
            <a:endParaRPr lang="en-US" sz="1700" dirty="0"/>
          </a:p>
        </p:txBody>
      </p:sp>
      <p:sp>
        <p:nvSpPr>
          <p:cNvPr id="4" name="Shape 2"/>
          <p:cNvSpPr/>
          <p:nvPr/>
        </p:nvSpPr>
        <p:spPr>
          <a:xfrm>
            <a:off x="566928" y="3017520"/>
            <a:ext cx="5394960" cy="960120"/>
          </a:xfrm>
          <a:prstGeom prst="roundRect">
            <a:avLst>
              <a:gd name="adj" fmla="val 11429"/>
            </a:avLst>
          </a:prstGeom>
          <a:solidFill>
            <a:srgbClr val="1A2350"/>
          </a:solidFill>
          <a:ln w="19050">
            <a:solidFill>
              <a:srgbClr val="33407F"/>
            </a:solidFill>
            <a:prstDash val="solid"/>
          </a:ln>
        </p:spPr>
      </p:sp>
      <p:sp>
        <p:nvSpPr>
          <p:cNvPr id="5" name="Text 3"/>
          <p:cNvSpPr/>
          <p:nvPr/>
        </p:nvSpPr>
        <p:spPr>
          <a:xfrm>
            <a:off x="886968" y="3017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Why not just run inference on CPU?</a:t>
            </a:r>
            <a:endParaRPr lang="en-US" sz="1500" dirty="0"/>
          </a:p>
        </p:txBody>
      </p:sp>
      <p:sp>
        <p:nvSpPr>
          <p:cNvPr id="6" name="Shape 4"/>
          <p:cNvSpPr/>
          <p:nvPr/>
        </p:nvSpPr>
        <p:spPr>
          <a:xfrm>
            <a:off x="6236208" y="3017520"/>
            <a:ext cx="5394960" cy="960120"/>
          </a:xfrm>
          <a:prstGeom prst="roundRect">
            <a:avLst>
              <a:gd name="adj" fmla="val 11429"/>
            </a:avLst>
          </a:prstGeom>
          <a:solidFill>
            <a:srgbClr val="1A2350"/>
          </a:solidFill>
          <a:ln w="19050">
            <a:solidFill>
              <a:srgbClr val="33407F"/>
            </a:solidFill>
            <a:prstDash val="solid"/>
          </a:ln>
        </p:spPr>
      </p:sp>
      <p:sp>
        <p:nvSpPr>
          <p:cNvPr id="7" name="Text 5"/>
          <p:cNvSpPr/>
          <p:nvPr/>
        </p:nvSpPr>
        <p:spPr>
          <a:xfrm>
            <a:off x="6556248" y="3017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What happens if the same person is in two different events?</a:t>
            </a:r>
            <a:endParaRPr lang="en-US" sz="1500" dirty="0"/>
          </a:p>
        </p:txBody>
      </p:sp>
      <p:sp>
        <p:nvSpPr>
          <p:cNvPr id="8" name="Shape 6"/>
          <p:cNvSpPr/>
          <p:nvPr/>
        </p:nvSpPr>
        <p:spPr>
          <a:xfrm>
            <a:off x="566928" y="4160520"/>
            <a:ext cx="5394960" cy="960120"/>
          </a:xfrm>
          <a:prstGeom prst="roundRect">
            <a:avLst>
              <a:gd name="adj" fmla="val 11429"/>
            </a:avLst>
          </a:prstGeom>
          <a:solidFill>
            <a:srgbClr val="1A2350"/>
          </a:solidFill>
          <a:ln w="19050">
            <a:solidFill>
              <a:srgbClr val="33407F"/>
            </a:solidFill>
            <a:prstDash val="solid"/>
          </a:ln>
        </p:spPr>
      </p:sp>
      <p:sp>
        <p:nvSpPr>
          <p:cNvPr id="9" name="Text 7"/>
          <p:cNvSpPr/>
          <p:nvPr/>
        </p:nvSpPr>
        <p:spPr>
          <a:xfrm>
            <a:off x="886968" y="4160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Why not serverless GPU instead of a machine you pause?</a:t>
            </a:r>
            <a:endParaRPr lang="en-US" sz="1500" dirty="0"/>
          </a:p>
        </p:txBody>
      </p:sp>
      <p:sp>
        <p:nvSpPr>
          <p:cNvPr id="10" name="Shape 8"/>
          <p:cNvSpPr/>
          <p:nvPr/>
        </p:nvSpPr>
        <p:spPr>
          <a:xfrm>
            <a:off x="6236208" y="4160520"/>
            <a:ext cx="5394960" cy="960120"/>
          </a:xfrm>
          <a:prstGeom prst="roundRect">
            <a:avLst>
              <a:gd name="adj" fmla="val 11429"/>
            </a:avLst>
          </a:prstGeom>
          <a:solidFill>
            <a:srgbClr val="1A2350"/>
          </a:solidFill>
          <a:ln w="19050">
            <a:solidFill>
              <a:srgbClr val="33407F"/>
            </a:solidFill>
            <a:prstDash val="solid"/>
          </a:ln>
        </p:spPr>
      </p:sp>
      <p:sp>
        <p:nvSpPr>
          <p:cNvPr id="11" name="Text 9"/>
          <p:cNvSpPr/>
          <p:nvPr/>
        </p:nvSpPr>
        <p:spPr>
          <a:xfrm>
            <a:off x="6556248" y="4160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How would you know if the pause silently failed?</a:t>
            </a:r>
            <a:endParaRPr lang="en-US" sz="1500" dirty="0"/>
          </a:p>
        </p:txBody>
      </p:sp>
      <p:sp>
        <p:nvSpPr>
          <p:cNvPr id="12" name="Text 10"/>
          <p:cNvSpPr/>
          <p:nvPr/>
        </p:nvSpPr>
        <p:spPr>
          <a:xfrm>
            <a:off x="566928" y="5943600"/>
            <a:ext cx="11064240" cy="45720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Code: github.com/Sriharan-S/event-media-platform   ·   Deployment notes: docs/deploy-production.md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EventLens — running a GPU only when it earns its keep</dc:title>
  <dc:subject>PptxGenJS Presentation</dc:subject>
  <dc:creator>EventLens</dc:creator>
  <cp:lastModifiedBy>EventLens</cp:lastModifiedBy>
  <cp:revision>1</cp:revision>
  <dcterms:created xsi:type="dcterms:W3CDTF">2026-07-23T09:38:56Z</dcterms:created>
  <dcterms:modified xsi:type="dcterms:W3CDTF">2026-07-23T09:38:56Z</dcterms:modified>
</cp:coreProperties>
</file>