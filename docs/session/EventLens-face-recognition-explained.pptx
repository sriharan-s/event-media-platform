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 front: no maths on these slides. If you can picture a map with dots on it, you can follow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someone WILL arrive with roughly this model. Confirm it warmly, then correct precisely. Do not lead with the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this six-word spine early. Every later slide is a zoom into one of these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point at the third panel and say: everything after this point is arithmetic on those numbers. The photograph is never looked at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half of their question and they got it right. Say so explicitly before expanding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box is a nice real-world detail: the same face has two different sources depending on what you need 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tilt their heads. Say: to you these are obviously the same face. To a naive model they are two unrelated grids of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single number means anything" card usually gets a question. Good — it is the honest answer, and it is also why you cannot audit these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2D picture is a lie of convenience. In 512 dimensions there is far more room, which is exactly why the clusters stay separated.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decision-making lesson in the deck. Asymmetric costs should push the default, not a coin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YES branch and the NO branch out loud. Then say: run that for every face and people fall out. Nobody ever wrote a function called findPeople().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JarvisLabs session. The ML design and the cost design are the same decision viewed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of these, keep the two-pass one. It is the subtler bug and the better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the selfie flow re-runs clustering. It does not. Make that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the line from the first session. Repetition across two decks is deliberate — it is the thing you most want them to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present recognition as solved. The manual review tools exist precisely because this list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here, then take questions. If they ask about training the model, be clear we did not train anything — we run a pretrained ArcFace.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 you reconstruct the face" question matters legally as much as technically. Say plainly: we treat embeddings as personal data, which is why erasure deletes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371600"/>
            <a:ext cx="1828800" cy="384048"/>
          </a:xfrm>
          <a:prstGeom prst="roundRect">
            <a:avLst>
              <a:gd name="adj" fmla="val 47619"/>
            </a:avLst>
          </a:prstGeom>
          <a:solidFill>
            <a:srgbClr val="A9BEFF"/>
          </a:solidFill>
          <a:ln/>
        </p:spPr>
      </p:sp>
      <p:sp>
        <p:nvSpPr>
          <p:cNvPr id="3" name="Text 1"/>
          <p:cNvSpPr/>
          <p:nvPr/>
        </p:nvSpPr>
        <p:spPr>
          <a:xfrm>
            <a:off x="566928" y="1371600"/>
            <a:ext cx="1828800" cy="384048"/>
          </a:xfrm>
          <a:prstGeom prst="rect">
            <a:avLst/>
          </a:prstGeom>
          <a:noFill/>
          <a:ln/>
        </p:spPr>
        <p:txBody>
          <a:bodyPr wrap="square" lIns="0" tIns="0" rIns="0" bIns="0" rtlCol="0" anchor="ctr"/>
          <a:lstStyle/>
          <a:p>
            <a:pPr algn="ctr" indent="0" marL="0">
              <a:buNone/>
            </a:pPr>
            <a:r>
              <a:rPr lang="en-US" sz="1000" b="1" dirty="0">
                <a:solidFill>
                  <a:srgbClr val="11162E"/>
                </a:solidFill>
                <a:latin typeface="Arial" pitchFamily="34" charset="0"/>
                <a:ea typeface="Arial" pitchFamily="34" charset="-122"/>
                <a:cs typeface="Arial" pitchFamily="34" charset="-120"/>
              </a:rPr>
              <a:t>DEEP DIVE — PART 2</a:t>
            </a:r>
            <a:endParaRPr lang="en-US" sz="1000" dirty="0"/>
          </a:p>
        </p:txBody>
      </p:sp>
      <p:sp>
        <p:nvSpPr>
          <p:cNvPr id="4" name="Text 2"/>
          <p:cNvSpPr/>
          <p:nvPr/>
        </p:nvSpPr>
        <p:spPr>
          <a:xfrm>
            <a:off x="566928" y="1874520"/>
            <a:ext cx="10515600" cy="1737360"/>
          </a:xfrm>
          <a:prstGeom prst="rect">
            <a:avLst/>
          </a:prstGeom>
          <a:noFill/>
          <a:ln/>
        </p:spPr>
        <p:txBody>
          <a:bodyPr wrap="square" lIns="0" tIns="0" rIns="0" bIns="0" rtlCol="0" anchor="ctr"/>
          <a:lstStyle/>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512 numbers</a:t>
            </a:r>
            <a:endParaRPr lang="en-US" sz="5000" dirty="0"/>
          </a:p>
          <a:p>
            <a:pPr indent="0" marL="0">
              <a:lnSpc>
                <a:spcPts val="5400"/>
              </a:lnSpc>
              <a:buNone/>
            </a:pPr>
            <a:r>
              <a:rPr lang="en-US" sz="5000" b="1" dirty="0">
                <a:solidFill>
                  <a:srgbClr val="FFFFFF"/>
                </a:solidFill>
                <a:latin typeface="Cambria" pitchFamily="34" charset="0"/>
                <a:ea typeface="Cambria" pitchFamily="34" charset="-122"/>
                <a:cs typeface="Cambria" pitchFamily="34" charset="-120"/>
              </a:rPr>
              <a:t>that mean “you”</a:t>
            </a:r>
            <a:endParaRPr lang="en-US" sz="5000" dirty="0"/>
          </a:p>
        </p:txBody>
      </p:sp>
      <p:sp>
        <p:nvSpPr>
          <p:cNvPr id="5" name="Text 3"/>
          <p:cNvSpPr/>
          <p:nvPr/>
        </p:nvSpPr>
        <p:spPr>
          <a:xfrm>
            <a:off x="566928" y="3703320"/>
            <a:ext cx="9875520" cy="548640"/>
          </a:xfrm>
          <a:prstGeom prst="rect">
            <a:avLst/>
          </a:prstGeom>
          <a:noFill/>
          <a:ln/>
        </p:spPr>
        <p:txBody>
          <a:bodyPr wrap="square" lIns="0" tIns="0" rIns="0" bIns="0" rtlCol="0" anchor="ctr"/>
          <a:lstStyle/>
          <a:p>
            <a:pPr indent="0" marL="0">
              <a:buNone/>
            </a:pPr>
            <a:r>
              <a:rPr lang="en-US" sz="1900" dirty="0">
                <a:solidFill>
                  <a:srgbClr val="A9BEFF"/>
                </a:solidFill>
                <a:latin typeface="Arial" pitchFamily="34" charset="0"/>
                <a:ea typeface="Arial" pitchFamily="34" charset="-122"/>
                <a:cs typeface="Arial" pitchFamily="34" charset="-120"/>
              </a:rPr>
              <a:t>How a photograph turns into a face, a face turns into a vector, and a pile of vectors turns into a person.</a:t>
            </a:r>
            <a:endParaRPr lang="en-US" sz="1900" dirty="0"/>
          </a:p>
        </p:txBody>
      </p:sp>
      <p:sp>
        <p:nvSpPr>
          <p:cNvPr id="6" name="Shape 4"/>
          <p:cNvSpPr/>
          <p:nvPr/>
        </p:nvSpPr>
        <p:spPr>
          <a:xfrm>
            <a:off x="566928" y="4709160"/>
            <a:ext cx="3520440" cy="1005840"/>
          </a:xfrm>
          <a:prstGeom prst="roundRect">
            <a:avLst>
              <a:gd name="adj" fmla="val 10909"/>
            </a:avLst>
          </a:prstGeom>
          <a:solidFill>
            <a:srgbClr val="1A2350"/>
          </a:solidFill>
          <a:ln w="19050">
            <a:solidFill>
              <a:srgbClr val="FFB020"/>
            </a:solidFill>
            <a:prstDash val="solid"/>
          </a:ln>
        </p:spPr>
      </p:sp>
      <p:sp>
        <p:nvSpPr>
          <p:cNvPr id="7" name="Text 5"/>
          <p:cNvSpPr/>
          <p:nvPr/>
        </p:nvSpPr>
        <p:spPr>
          <a:xfrm>
            <a:off x="841248" y="4846320"/>
            <a:ext cx="3017520" cy="320040"/>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RetinaFace</a:t>
            </a:r>
            <a:endParaRPr lang="en-US" sz="1600" dirty="0"/>
          </a:p>
        </p:txBody>
      </p:sp>
      <p:sp>
        <p:nvSpPr>
          <p:cNvPr id="8" name="Text 6"/>
          <p:cNvSpPr/>
          <p:nvPr/>
        </p:nvSpPr>
        <p:spPr>
          <a:xfrm>
            <a:off x="841248" y="5166360"/>
            <a:ext cx="30175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find and align the faces</a:t>
            </a:r>
            <a:endParaRPr lang="en-US" sz="1300" dirty="0"/>
          </a:p>
        </p:txBody>
      </p:sp>
      <p:sp>
        <p:nvSpPr>
          <p:cNvPr id="9" name="Shape 7"/>
          <p:cNvSpPr/>
          <p:nvPr/>
        </p:nvSpPr>
        <p:spPr>
          <a:xfrm>
            <a:off x="4270248" y="4709160"/>
            <a:ext cx="3520440" cy="1005840"/>
          </a:xfrm>
          <a:prstGeom prst="roundRect">
            <a:avLst>
              <a:gd name="adj" fmla="val 10909"/>
            </a:avLst>
          </a:prstGeom>
          <a:solidFill>
            <a:srgbClr val="1A2350"/>
          </a:solidFill>
          <a:ln w="19050">
            <a:solidFill>
              <a:srgbClr val="A9BEFF"/>
            </a:solidFill>
            <a:prstDash val="solid"/>
          </a:ln>
        </p:spPr>
      </p:sp>
      <p:sp>
        <p:nvSpPr>
          <p:cNvPr id="10" name="Text 8"/>
          <p:cNvSpPr/>
          <p:nvPr/>
        </p:nvSpPr>
        <p:spPr>
          <a:xfrm>
            <a:off x="4544568" y="4846320"/>
            <a:ext cx="30175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ArcFace buffalo_l</a:t>
            </a:r>
            <a:endParaRPr lang="en-US" sz="1600" dirty="0"/>
          </a:p>
        </p:txBody>
      </p:sp>
      <p:sp>
        <p:nvSpPr>
          <p:cNvPr id="11" name="Text 9"/>
          <p:cNvSpPr/>
          <p:nvPr/>
        </p:nvSpPr>
        <p:spPr>
          <a:xfrm>
            <a:off x="4544568" y="5166360"/>
            <a:ext cx="30175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turn each face into 512 numbers</a:t>
            </a:r>
            <a:endParaRPr lang="en-US" sz="1300" dirty="0"/>
          </a:p>
        </p:txBody>
      </p:sp>
      <p:sp>
        <p:nvSpPr>
          <p:cNvPr id="12" name="Shape 10"/>
          <p:cNvSpPr/>
          <p:nvPr/>
        </p:nvSpPr>
        <p:spPr>
          <a:xfrm>
            <a:off x="7973568" y="4709160"/>
            <a:ext cx="3520440" cy="1005840"/>
          </a:xfrm>
          <a:prstGeom prst="roundRect">
            <a:avLst>
              <a:gd name="adj" fmla="val 10909"/>
            </a:avLst>
          </a:prstGeom>
          <a:solidFill>
            <a:srgbClr val="1A2350"/>
          </a:solidFill>
          <a:ln w="19050">
            <a:solidFill>
              <a:srgbClr val="3DD68C"/>
            </a:solidFill>
            <a:prstDash val="solid"/>
          </a:ln>
        </p:spPr>
      </p:sp>
      <p:sp>
        <p:nvSpPr>
          <p:cNvPr id="13" name="Text 11"/>
          <p:cNvSpPr/>
          <p:nvPr/>
        </p:nvSpPr>
        <p:spPr>
          <a:xfrm>
            <a:off x="8247888" y="4846320"/>
            <a:ext cx="3017520" cy="320040"/>
          </a:xfrm>
          <a:prstGeom prst="rect">
            <a:avLst/>
          </a:prstGeom>
          <a:noFill/>
          <a:ln/>
        </p:spPr>
        <p:txBody>
          <a:bodyPr wrap="square" lIns="0" tIns="0" rIns="0" bIns="0" rtlCol="0" anchor="ctr"/>
          <a:lstStyle/>
          <a:p>
            <a:pPr indent="0" marL="0">
              <a:buNone/>
            </a:pPr>
            <a:r>
              <a:rPr lang="en-US" sz="1600" b="1" dirty="0">
                <a:solidFill>
                  <a:srgbClr val="3DD68C"/>
                </a:solidFill>
                <a:latin typeface="Arial" pitchFamily="34" charset="0"/>
                <a:ea typeface="Arial" pitchFamily="34" charset="-122"/>
                <a:cs typeface="Arial" pitchFamily="34" charset="-120"/>
              </a:rPr>
              <a:t>pgvector</a:t>
            </a:r>
            <a:endParaRPr lang="en-US" sz="1600" dirty="0"/>
          </a:p>
        </p:txBody>
      </p:sp>
      <p:sp>
        <p:nvSpPr>
          <p:cNvPr id="14" name="Text 12"/>
          <p:cNvSpPr/>
          <p:nvPr/>
        </p:nvSpPr>
        <p:spPr>
          <a:xfrm>
            <a:off x="8247888" y="5166360"/>
            <a:ext cx="30175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store them and search them fast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START HERE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one-paragraph version — and the three things it misses</a:t>
            </a:r>
            <a:endParaRPr lang="en-US" sz="3400" dirty="0"/>
          </a:p>
        </p:txBody>
      </p:sp>
      <p:sp>
        <p:nvSpPr>
          <p:cNvPr id="4" name="Shape 2"/>
          <p:cNvSpPr/>
          <p:nvPr/>
        </p:nvSpPr>
        <p:spPr>
          <a:xfrm>
            <a:off x="566928" y="1417320"/>
            <a:ext cx="11064240" cy="1051560"/>
          </a:xfrm>
          <a:prstGeom prst="roundRect">
            <a:avLst>
              <a:gd name="adj" fmla="val 12174"/>
            </a:avLst>
          </a:prstGeom>
          <a:solidFill>
            <a:srgbClr val="141B3E"/>
          </a:solidFill>
          <a:ln w="25400">
            <a:solidFill>
              <a:srgbClr val="3DD68C"/>
            </a:solidFill>
            <a:prstDash val="solid"/>
          </a:ln>
        </p:spPr>
      </p:sp>
      <p:sp>
        <p:nvSpPr>
          <p:cNvPr id="5" name="Text 3"/>
          <p:cNvSpPr/>
          <p:nvPr/>
        </p:nvSpPr>
        <p:spPr>
          <a:xfrm>
            <a:off x="914400" y="1508760"/>
            <a:ext cx="10332720" cy="868680"/>
          </a:xfrm>
          <a:prstGeom prst="rect">
            <a:avLst/>
          </a:prstGeom>
          <a:noFill/>
          <a:ln/>
        </p:spPr>
        <p:txBody>
          <a:bodyPr wrap="square" lIns="0" tIns="0" rIns="0" bIns="0" rtlCol="0" anchor="ctr"/>
          <a:lstStyle/>
          <a:p>
            <a:pPr indent="0" marL="0">
              <a:buNone/>
            </a:pPr>
            <a:r>
              <a:rPr lang="en-US" sz="1700" i="1" dirty="0">
                <a:solidFill>
                  <a:srgbClr val="FFFFFF"/>
                </a:solidFill>
                <a:latin typeface="Arial" pitchFamily="34" charset="0"/>
                <a:ea typeface="Arial" pitchFamily="34" charset="-122"/>
                <a:cs typeface="Arial" pitchFamily="34" charset="-120"/>
              </a:rPr>
              <a:t>“Your face is analysed into a 512-number fingerprint. Your other photos produce nearby numbers. Those nearby ones get grouped together into a person.”</a:t>
            </a:r>
            <a:endParaRPr lang="en-US" sz="1700" dirty="0"/>
          </a:p>
        </p:txBody>
      </p:sp>
      <p:sp>
        <p:nvSpPr>
          <p:cNvPr id="6" name="Text 4"/>
          <p:cNvSpPr/>
          <p:nvPr/>
        </p:nvSpPr>
        <p:spPr>
          <a:xfrm>
            <a:off x="566928" y="2606040"/>
            <a:ext cx="11064240" cy="320040"/>
          </a:xfrm>
          <a:prstGeom prst="rect">
            <a:avLst/>
          </a:prstGeom>
          <a:noFill/>
          <a:ln/>
        </p:spPr>
        <p:txBody>
          <a:bodyPr wrap="square" lIns="0" tIns="0" rIns="0" bIns="0" rtlCol="0" anchor="ctr"/>
          <a:lstStyle/>
          <a:p>
            <a:pPr indent="0" marL="0">
              <a:buNone/>
            </a:pPr>
            <a:r>
              <a:rPr lang="en-US" sz="1500" b="1" dirty="0">
                <a:solidFill>
                  <a:srgbClr val="3DD68C"/>
                </a:solidFill>
                <a:latin typeface="Arial" pitchFamily="34" charset="0"/>
                <a:ea typeface="Arial" pitchFamily="34" charset="-122"/>
                <a:cs typeface="Arial" pitchFamily="34" charset="-120"/>
              </a:rPr>
              <a:t>That is right. Three details change how you would build it:</a:t>
            </a:r>
            <a:endParaRPr lang="en-US" sz="1500" dirty="0"/>
          </a:p>
        </p:txBody>
      </p:sp>
      <p:sp>
        <p:nvSpPr>
          <p:cNvPr id="7" name="Shape 5"/>
          <p:cNvSpPr/>
          <p:nvPr/>
        </p:nvSpPr>
        <p:spPr>
          <a:xfrm>
            <a:off x="566928" y="3063240"/>
            <a:ext cx="11064240" cy="932688"/>
          </a:xfrm>
          <a:prstGeom prst="roundRect">
            <a:avLst>
              <a:gd name="adj" fmla="val 9804"/>
            </a:avLst>
          </a:prstGeom>
          <a:solidFill>
            <a:srgbClr val="1A2350"/>
          </a:solidFill>
          <a:ln/>
        </p:spPr>
      </p:sp>
      <p:sp>
        <p:nvSpPr>
          <p:cNvPr id="8" name="Shape 6"/>
          <p:cNvSpPr/>
          <p:nvPr/>
        </p:nvSpPr>
        <p:spPr>
          <a:xfrm>
            <a:off x="841248" y="3319272"/>
            <a:ext cx="420624" cy="420624"/>
          </a:xfrm>
          <a:prstGeom prst="ellipse">
            <a:avLst/>
          </a:prstGeom>
          <a:solidFill>
            <a:srgbClr val="FFB020"/>
          </a:solidFill>
          <a:ln/>
        </p:spPr>
      </p:sp>
      <p:sp>
        <p:nvSpPr>
          <p:cNvPr id="9" name="Text 7"/>
          <p:cNvSpPr/>
          <p:nvPr/>
        </p:nvSpPr>
        <p:spPr>
          <a:xfrm>
            <a:off x="841248" y="33192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1508760" y="3154680"/>
            <a:ext cx="9784080" cy="329184"/>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Numbers, not digits</a:t>
            </a:r>
            <a:endParaRPr lang="en-US" sz="1700" dirty="0"/>
          </a:p>
        </p:txBody>
      </p:sp>
      <p:sp>
        <p:nvSpPr>
          <p:cNvPr id="11" name="Text 9"/>
          <p:cNvSpPr/>
          <p:nvPr/>
        </p:nvSpPr>
        <p:spPr>
          <a:xfrm>
            <a:off x="1508760" y="349300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They are 512 decimals like -0.118 — not 512 single digits. Together they are one arrow pointing somewhere in space.</a:t>
            </a:r>
            <a:endParaRPr lang="en-US" sz="1300" dirty="0"/>
          </a:p>
        </p:txBody>
      </p:sp>
      <p:sp>
        <p:nvSpPr>
          <p:cNvPr id="12" name="Shape 10"/>
          <p:cNvSpPr/>
          <p:nvPr/>
        </p:nvSpPr>
        <p:spPr>
          <a:xfrm>
            <a:off x="566928" y="4114800"/>
            <a:ext cx="11064240" cy="932688"/>
          </a:xfrm>
          <a:prstGeom prst="roundRect">
            <a:avLst>
              <a:gd name="adj" fmla="val 9804"/>
            </a:avLst>
          </a:prstGeom>
          <a:solidFill>
            <a:srgbClr val="1A2350"/>
          </a:solidFill>
          <a:ln/>
        </p:spPr>
      </p:sp>
      <p:sp>
        <p:nvSpPr>
          <p:cNvPr id="13" name="Shape 11"/>
          <p:cNvSpPr/>
          <p:nvPr/>
        </p:nvSpPr>
        <p:spPr>
          <a:xfrm>
            <a:off x="841248" y="4370832"/>
            <a:ext cx="420624" cy="420624"/>
          </a:xfrm>
          <a:prstGeom prst="ellipse">
            <a:avLst/>
          </a:prstGeom>
          <a:solidFill>
            <a:srgbClr val="4C6FFF"/>
          </a:solidFill>
          <a:ln/>
        </p:spPr>
      </p:sp>
      <p:sp>
        <p:nvSpPr>
          <p:cNvPr id="14" name="Text 12"/>
          <p:cNvSpPr/>
          <p:nvPr/>
        </p:nvSpPr>
        <p:spPr>
          <a:xfrm>
            <a:off x="841248" y="437083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1508760" y="4206240"/>
            <a:ext cx="9784080" cy="329184"/>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One distance, not 512 comparisons</a:t>
            </a:r>
            <a:endParaRPr lang="en-US" sz="1700" dirty="0"/>
          </a:p>
        </p:txBody>
      </p:sp>
      <p:sp>
        <p:nvSpPr>
          <p:cNvPr id="16" name="Text 14"/>
          <p:cNvSpPr/>
          <p:nvPr/>
        </p:nvSpPr>
        <p:spPr>
          <a:xfrm>
            <a:off x="1508760" y="454456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You never compare number 7 to number 7. All 512 collapse into a single distance, and one threshold decides.</a:t>
            </a:r>
            <a:endParaRPr lang="en-US" sz="1300" dirty="0"/>
          </a:p>
        </p:txBody>
      </p:sp>
      <p:sp>
        <p:nvSpPr>
          <p:cNvPr id="17" name="Shape 15"/>
          <p:cNvSpPr/>
          <p:nvPr/>
        </p:nvSpPr>
        <p:spPr>
          <a:xfrm>
            <a:off x="566928" y="5166360"/>
            <a:ext cx="11064240" cy="932688"/>
          </a:xfrm>
          <a:prstGeom prst="roundRect">
            <a:avLst>
              <a:gd name="adj" fmla="val 9804"/>
            </a:avLst>
          </a:prstGeom>
          <a:solidFill>
            <a:srgbClr val="1A2350"/>
          </a:solidFill>
          <a:ln/>
        </p:spPr>
      </p:sp>
      <p:sp>
        <p:nvSpPr>
          <p:cNvPr id="18" name="Shape 16"/>
          <p:cNvSpPr/>
          <p:nvPr/>
        </p:nvSpPr>
        <p:spPr>
          <a:xfrm>
            <a:off x="841248" y="5422392"/>
            <a:ext cx="420624" cy="420624"/>
          </a:xfrm>
          <a:prstGeom prst="ellipse">
            <a:avLst/>
          </a:prstGeom>
          <a:solidFill>
            <a:srgbClr val="FF7AA8"/>
          </a:solidFill>
          <a:ln/>
        </p:spPr>
      </p:sp>
      <p:sp>
        <p:nvSpPr>
          <p:cNvPr id="19" name="Text 17"/>
          <p:cNvSpPr/>
          <p:nvPr/>
        </p:nvSpPr>
        <p:spPr>
          <a:xfrm>
            <a:off x="841248" y="542239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1508760" y="5257800"/>
            <a:ext cx="9784080" cy="329184"/>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Grouped one at a time, not all at once</a:t>
            </a:r>
            <a:endParaRPr lang="en-US" sz="1700" dirty="0"/>
          </a:p>
        </p:txBody>
      </p:sp>
      <p:sp>
        <p:nvSpPr>
          <p:cNvPr id="21" name="Text 19"/>
          <p:cNvSpPr/>
          <p:nvPr/>
        </p:nvSpPr>
        <p:spPr>
          <a:xfrm>
            <a:off x="1508760" y="559612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There is no big grouping pass. Each new face asks one question — “does a close neighbour already have a person?” — and joins or starts one.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WHOLE THING IN SIX WORDS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Find · Align · Measure · Store · Compare · Group</a:t>
            </a:r>
            <a:endParaRPr lang="en-US" sz="3400" dirty="0"/>
          </a:p>
        </p:txBody>
      </p:sp>
      <p:sp>
        <p:nvSpPr>
          <p:cNvPr id="4" name="Shape 2"/>
          <p:cNvSpPr/>
          <p:nvPr/>
        </p:nvSpPr>
        <p:spPr>
          <a:xfrm>
            <a:off x="566928" y="1554480"/>
            <a:ext cx="3520440" cy="1920240"/>
          </a:xfrm>
          <a:prstGeom prst="roundRect">
            <a:avLst>
              <a:gd name="adj" fmla="val 6667"/>
            </a:avLst>
          </a:prstGeom>
          <a:solidFill>
            <a:srgbClr val="1A2350"/>
          </a:solidFill>
          <a:ln w="25400">
            <a:solidFill>
              <a:srgbClr val="FFB020"/>
            </a:solidFill>
            <a:prstDash val="solid"/>
          </a:ln>
        </p:spPr>
      </p:sp>
      <p:sp>
        <p:nvSpPr>
          <p:cNvPr id="5" name="Shape 3"/>
          <p:cNvSpPr/>
          <p:nvPr/>
        </p:nvSpPr>
        <p:spPr>
          <a:xfrm>
            <a:off x="841248" y="1810512"/>
            <a:ext cx="402336" cy="402336"/>
          </a:xfrm>
          <a:prstGeom prst="ellipse">
            <a:avLst/>
          </a:prstGeom>
          <a:solidFill>
            <a:srgbClr val="FFB020"/>
          </a:solidFill>
          <a:ln/>
        </p:spPr>
      </p:sp>
      <p:sp>
        <p:nvSpPr>
          <p:cNvPr id="6" name="Text 4"/>
          <p:cNvSpPr/>
          <p:nvPr/>
        </p:nvSpPr>
        <p:spPr>
          <a:xfrm>
            <a:off x="84124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4124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Find</a:t>
            </a:r>
            <a:endParaRPr lang="en-US" sz="2400" dirty="0"/>
          </a:p>
        </p:txBody>
      </p:sp>
      <p:sp>
        <p:nvSpPr>
          <p:cNvPr id="8" name="Text 6"/>
          <p:cNvSpPr/>
          <p:nvPr/>
        </p:nvSpPr>
        <p:spPr>
          <a:xfrm>
            <a:off x="84124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RetinaFace locates every face in the frame.</a:t>
            </a:r>
            <a:endParaRPr lang="en-US" sz="1300" dirty="0"/>
          </a:p>
        </p:txBody>
      </p:sp>
      <p:sp>
        <p:nvSpPr>
          <p:cNvPr id="9" name="Shape 7"/>
          <p:cNvSpPr/>
          <p:nvPr/>
        </p:nvSpPr>
        <p:spPr>
          <a:xfrm>
            <a:off x="4270248" y="1554480"/>
            <a:ext cx="3520440" cy="1920240"/>
          </a:xfrm>
          <a:prstGeom prst="roundRect">
            <a:avLst>
              <a:gd name="adj" fmla="val 6667"/>
            </a:avLst>
          </a:prstGeom>
          <a:solidFill>
            <a:srgbClr val="1A2350"/>
          </a:solidFill>
          <a:ln w="25400">
            <a:solidFill>
              <a:srgbClr val="FFB020"/>
            </a:solidFill>
            <a:prstDash val="solid"/>
          </a:ln>
        </p:spPr>
      </p:sp>
      <p:sp>
        <p:nvSpPr>
          <p:cNvPr id="10" name="Shape 8"/>
          <p:cNvSpPr/>
          <p:nvPr/>
        </p:nvSpPr>
        <p:spPr>
          <a:xfrm>
            <a:off x="4544568" y="1810512"/>
            <a:ext cx="402336" cy="402336"/>
          </a:xfrm>
          <a:prstGeom prst="ellipse">
            <a:avLst/>
          </a:prstGeom>
          <a:solidFill>
            <a:srgbClr val="FFB020"/>
          </a:solidFill>
          <a:ln/>
        </p:spPr>
      </p:sp>
      <p:sp>
        <p:nvSpPr>
          <p:cNvPr id="11" name="Text 9"/>
          <p:cNvSpPr/>
          <p:nvPr/>
        </p:nvSpPr>
        <p:spPr>
          <a:xfrm>
            <a:off x="454456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54456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Align</a:t>
            </a:r>
            <a:endParaRPr lang="en-US" sz="2400" dirty="0"/>
          </a:p>
        </p:txBody>
      </p:sp>
      <p:sp>
        <p:nvSpPr>
          <p:cNvPr id="13" name="Text 11"/>
          <p:cNvSpPr/>
          <p:nvPr/>
        </p:nvSpPr>
        <p:spPr>
          <a:xfrm>
            <a:off x="454456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Each face is cropped and rotated upright.</a:t>
            </a:r>
            <a:endParaRPr lang="en-US" sz="1300" dirty="0"/>
          </a:p>
        </p:txBody>
      </p:sp>
      <p:sp>
        <p:nvSpPr>
          <p:cNvPr id="14" name="Shape 12"/>
          <p:cNvSpPr/>
          <p:nvPr/>
        </p:nvSpPr>
        <p:spPr>
          <a:xfrm>
            <a:off x="7973568" y="1554480"/>
            <a:ext cx="3520440" cy="1920240"/>
          </a:xfrm>
          <a:prstGeom prst="roundRect">
            <a:avLst>
              <a:gd name="adj" fmla="val 6667"/>
            </a:avLst>
          </a:prstGeom>
          <a:solidFill>
            <a:srgbClr val="1A2350"/>
          </a:solidFill>
          <a:ln w="25400">
            <a:solidFill>
              <a:srgbClr val="A9BEFF"/>
            </a:solidFill>
            <a:prstDash val="solid"/>
          </a:ln>
        </p:spPr>
      </p:sp>
      <p:sp>
        <p:nvSpPr>
          <p:cNvPr id="15" name="Shape 13"/>
          <p:cNvSpPr/>
          <p:nvPr/>
        </p:nvSpPr>
        <p:spPr>
          <a:xfrm>
            <a:off x="8247888" y="1810512"/>
            <a:ext cx="402336" cy="402336"/>
          </a:xfrm>
          <a:prstGeom prst="ellipse">
            <a:avLst/>
          </a:prstGeom>
          <a:solidFill>
            <a:srgbClr val="A9BEFF"/>
          </a:solidFill>
          <a:ln/>
        </p:spPr>
      </p:sp>
      <p:sp>
        <p:nvSpPr>
          <p:cNvPr id="16" name="Text 14"/>
          <p:cNvSpPr/>
          <p:nvPr/>
        </p:nvSpPr>
        <p:spPr>
          <a:xfrm>
            <a:off x="824788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824788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Measure</a:t>
            </a:r>
            <a:endParaRPr lang="en-US" sz="2400" dirty="0"/>
          </a:p>
        </p:txBody>
      </p:sp>
      <p:sp>
        <p:nvSpPr>
          <p:cNvPr id="18" name="Text 16"/>
          <p:cNvSpPr/>
          <p:nvPr/>
        </p:nvSpPr>
        <p:spPr>
          <a:xfrm>
            <a:off x="824788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ArcFace turns the crop into 512 numbers.</a:t>
            </a:r>
            <a:endParaRPr lang="en-US" sz="1300" dirty="0"/>
          </a:p>
        </p:txBody>
      </p:sp>
      <p:sp>
        <p:nvSpPr>
          <p:cNvPr id="19" name="Shape 17"/>
          <p:cNvSpPr/>
          <p:nvPr/>
        </p:nvSpPr>
        <p:spPr>
          <a:xfrm>
            <a:off x="566928" y="3703320"/>
            <a:ext cx="3520440" cy="1920240"/>
          </a:xfrm>
          <a:prstGeom prst="roundRect">
            <a:avLst>
              <a:gd name="adj" fmla="val 6667"/>
            </a:avLst>
          </a:prstGeom>
          <a:solidFill>
            <a:srgbClr val="1A2350"/>
          </a:solidFill>
          <a:ln w="25400">
            <a:solidFill>
              <a:srgbClr val="3DD68C"/>
            </a:solidFill>
            <a:prstDash val="solid"/>
          </a:ln>
        </p:spPr>
      </p:sp>
      <p:sp>
        <p:nvSpPr>
          <p:cNvPr id="20" name="Shape 18"/>
          <p:cNvSpPr/>
          <p:nvPr/>
        </p:nvSpPr>
        <p:spPr>
          <a:xfrm>
            <a:off x="841248" y="3959352"/>
            <a:ext cx="402336" cy="402336"/>
          </a:xfrm>
          <a:prstGeom prst="ellipse">
            <a:avLst/>
          </a:prstGeom>
          <a:solidFill>
            <a:srgbClr val="3DD68C"/>
          </a:solidFill>
          <a:ln/>
        </p:spPr>
      </p:sp>
      <p:sp>
        <p:nvSpPr>
          <p:cNvPr id="21" name="Text 19"/>
          <p:cNvSpPr/>
          <p:nvPr/>
        </p:nvSpPr>
        <p:spPr>
          <a:xfrm>
            <a:off x="84124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84124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Store</a:t>
            </a:r>
            <a:endParaRPr lang="en-US" sz="2400" dirty="0"/>
          </a:p>
        </p:txBody>
      </p:sp>
      <p:sp>
        <p:nvSpPr>
          <p:cNvPr id="23" name="Text 21"/>
          <p:cNvSpPr/>
          <p:nvPr/>
        </p:nvSpPr>
        <p:spPr>
          <a:xfrm>
            <a:off x="84124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vector goes into Postgres with pgvector.</a:t>
            </a:r>
            <a:endParaRPr lang="en-US" sz="1300" dirty="0"/>
          </a:p>
        </p:txBody>
      </p:sp>
      <p:sp>
        <p:nvSpPr>
          <p:cNvPr id="24" name="Shape 22"/>
          <p:cNvSpPr/>
          <p:nvPr/>
        </p:nvSpPr>
        <p:spPr>
          <a:xfrm>
            <a:off x="4270248" y="3703320"/>
            <a:ext cx="3520440" cy="1920240"/>
          </a:xfrm>
          <a:prstGeom prst="roundRect">
            <a:avLst>
              <a:gd name="adj" fmla="val 6667"/>
            </a:avLst>
          </a:prstGeom>
          <a:solidFill>
            <a:srgbClr val="1A2350"/>
          </a:solidFill>
          <a:ln w="25400">
            <a:solidFill>
              <a:srgbClr val="4C6FFF"/>
            </a:solidFill>
            <a:prstDash val="solid"/>
          </a:ln>
        </p:spPr>
      </p:sp>
      <p:sp>
        <p:nvSpPr>
          <p:cNvPr id="25" name="Shape 23"/>
          <p:cNvSpPr/>
          <p:nvPr/>
        </p:nvSpPr>
        <p:spPr>
          <a:xfrm>
            <a:off x="4544568" y="3959352"/>
            <a:ext cx="402336" cy="402336"/>
          </a:xfrm>
          <a:prstGeom prst="ellipse">
            <a:avLst/>
          </a:prstGeom>
          <a:solidFill>
            <a:srgbClr val="4C6FFF"/>
          </a:solidFill>
          <a:ln/>
        </p:spPr>
      </p:sp>
      <p:sp>
        <p:nvSpPr>
          <p:cNvPr id="26" name="Text 24"/>
          <p:cNvSpPr/>
          <p:nvPr/>
        </p:nvSpPr>
        <p:spPr>
          <a:xfrm>
            <a:off x="454456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5</a:t>
            </a:r>
            <a:endParaRPr lang="en-US" sz="1500" dirty="0"/>
          </a:p>
        </p:txBody>
      </p:sp>
      <p:sp>
        <p:nvSpPr>
          <p:cNvPr id="27" name="Text 25"/>
          <p:cNvSpPr/>
          <p:nvPr/>
        </p:nvSpPr>
        <p:spPr>
          <a:xfrm>
            <a:off x="454456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Compare</a:t>
            </a:r>
            <a:endParaRPr lang="en-US" sz="2400" dirty="0"/>
          </a:p>
        </p:txBody>
      </p:sp>
      <p:sp>
        <p:nvSpPr>
          <p:cNvPr id="28" name="Text 26"/>
          <p:cNvSpPr/>
          <p:nvPr/>
        </p:nvSpPr>
        <p:spPr>
          <a:xfrm>
            <a:off x="454456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Distance to every other face in the event.</a:t>
            </a:r>
            <a:endParaRPr lang="en-US" sz="1300" dirty="0"/>
          </a:p>
        </p:txBody>
      </p:sp>
      <p:sp>
        <p:nvSpPr>
          <p:cNvPr id="29" name="Shape 27"/>
          <p:cNvSpPr/>
          <p:nvPr/>
        </p:nvSpPr>
        <p:spPr>
          <a:xfrm>
            <a:off x="7973568" y="3703320"/>
            <a:ext cx="3520440" cy="1920240"/>
          </a:xfrm>
          <a:prstGeom prst="roundRect">
            <a:avLst>
              <a:gd name="adj" fmla="val 6667"/>
            </a:avLst>
          </a:prstGeom>
          <a:solidFill>
            <a:srgbClr val="1A2350"/>
          </a:solidFill>
          <a:ln w="25400">
            <a:solidFill>
              <a:srgbClr val="FF7AA8"/>
            </a:solidFill>
            <a:prstDash val="solid"/>
          </a:ln>
        </p:spPr>
      </p:sp>
      <p:sp>
        <p:nvSpPr>
          <p:cNvPr id="30" name="Shape 28"/>
          <p:cNvSpPr/>
          <p:nvPr/>
        </p:nvSpPr>
        <p:spPr>
          <a:xfrm>
            <a:off x="8247888" y="3959352"/>
            <a:ext cx="402336" cy="402336"/>
          </a:xfrm>
          <a:prstGeom prst="ellipse">
            <a:avLst/>
          </a:prstGeom>
          <a:solidFill>
            <a:srgbClr val="FF7AA8"/>
          </a:solidFill>
          <a:ln/>
        </p:spPr>
      </p:sp>
      <p:sp>
        <p:nvSpPr>
          <p:cNvPr id="31" name="Text 29"/>
          <p:cNvSpPr/>
          <p:nvPr/>
        </p:nvSpPr>
        <p:spPr>
          <a:xfrm>
            <a:off x="824788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6</a:t>
            </a:r>
            <a:endParaRPr lang="en-US" sz="1500" dirty="0"/>
          </a:p>
        </p:txBody>
      </p:sp>
      <p:sp>
        <p:nvSpPr>
          <p:cNvPr id="32" name="Text 30"/>
          <p:cNvSpPr/>
          <p:nvPr/>
        </p:nvSpPr>
        <p:spPr>
          <a:xfrm>
            <a:off x="824788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Group</a:t>
            </a:r>
            <a:endParaRPr lang="en-US" sz="2400" dirty="0"/>
          </a:p>
        </p:txBody>
      </p:sp>
      <p:sp>
        <p:nvSpPr>
          <p:cNvPr id="33" name="Text 31"/>
          <p:cNvSpPr/>
          <p:nvPr/>
        </p:nvSpPr>
        <p:spPr>
          <a:xfrm>
            <a:off x="824788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Close enough? Same person.</a:t>
            </a:r>
            <a:endParaRPr lang="en-US" sz="1300" dirty="0"/>
          </a:p>
        </p:txBody>
      </p:sp>
      <p:sp>
        <p:nvSpPr>
          <p:cNvPr id="34" name="Text 32"/>
          <p:cNvSpPr/>
          <p:nvPr/>
        </p:nvSpPr>
        <p:spPr>
          <a:xfrm>
            <a:off x="566928" y="5943600"/>
            <a:ext cx="11064240" cy="41148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Steps 1–4 happen once per photo, on the GPU. Steps 5–6 happen once per face, and they are just database queries.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PIPELINE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photo goes in. One vector per face comes out.</a:t>
            </a:r>
            <a:endParaRPr lang="en-US" sz="2800" dirty="0"/>
          </a:p>
        </p:txBody>
      </p:sp>
      <p:pic>
        <p:nvPicPr>
          <p:cNvPr id="4" name="Image 0" descr="pipelin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YOU ASKED ABOUT THIS ONE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Yes — RetinaFace crops. And that changes the problem entirely.</a:t>
            </a:r>
            <a:endParaRPr lang="en-US" sz="3400" dirty="0"/>
          </a:p>
        </p:txBody>
      </p:sp>
      <p:sp>
        <p:nvSpPr>
          <p:cNvPr id="4" name="Shape 2"/>
          <p:cNvSpPr/>
          <p:nvPr/>
        </p:nvSpPr>
        <p:spPr>
          <a:xfrm>
            <a:off x="566928" y="1554480"/>
            <a:ext cx="5394960" cy="3749040"/>
          </a:xfrm>
          <a:prstGeom prst="roundRect">
            <a:avLst>
              <a:gd name="adj" fmla="val 3415"/>
            </a:avLst>
          </a:prstGeom>
          <a:solidFill>
            <a:srgbClr val="1A2350"/>
          </a:solidFill>
          <a:ln w="25400">
            <a:solidFill>
              <a:srgbClr val="FF7AA8"/>
            </a:solidFill>
            <a:prstDash val="solid"/>
          </a:ln>
        </p:spPr>
      </p:sp>
      <p:sp>
        <p:nvSpPr>
          <p:cNvPr id="5" name="Shape 3"/>
          <p:cNvSpPr/>
          <p:nvPr/>
        </p:nvSpPr>
        <p:spPr>
          <a:xfrm>
            <a:off x="886968" y="1783080"/>
            <a:ext cx="1737360" cy="347472"/>
          </a:xfrm>
          <a:prstGeom prst="roundRect">
            <a:avLst>
              <a:gd name="adj" fmla="val 44737"/>
            </a:avLst>
          </a:prstGeom>
          <a:solidFill>
            <a:srgbClr val="FF7AA8"/>
          </a:solidFill>
          <a:ln/>
        </p:spPr>
      </p:sp>
      <p:sp>
        <p:nvSpPr>
          <p:cNvPr id="6" name="Text 4"/>
          <p:cNvSpPr/>
          <p:nvPr/>
        </p:nvSpPr>
        <p:spPr>
          <a:xfrm>
            <a:off x="886968" y="1783080"/>
            <a:ext cx="1737360" cy="347472"/>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The wrong question</a:t>
            </a:r>
            <a:endParaRPr lang="en-US" sz="1100" dirty="0"/>
          </a:p>
        </p:txBody>
      </p:sp>
      <p:sp>
        <p:nvSpPr>
          <p:cNvPr id="7" name="Text 5"/>
          <p:cNvSpPr/>
          <p:nvPr/>
        </p:nvSpPr>
        <p:spPr>
          <a:xfrm>
            <a:off x="886968" y="2240280"/>
            <a:ext cx="47548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If you classified the whole photo</a:t>
            </a:r>
            <a:endParaRPr lang="en-US" sz="1800" dirty="0"/>
          </a:p>
        </p:txBody>
      </p:sp>
      <p:sp>
        <p:nvSpPr>
          <p:cNvPr id="8" name="Text 6"/>
          <p:cNvSpPr/>
          <p:nvPr/>
        </p:nvSpPr>
        <p:spPr>
          <a:xfrm>
            <a:off x="932688" y="27432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One answer for a frame containing thirty people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background and lighting dominate the result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person at the edge is ignored; the biggest face wins</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Move the camera and the “identity” changes</a:t>
            </a:r>
            <a:endParaRPr lang="en-US" sz="1400" dirty="0"/>
          </a:p>
        </p:txBody>
      </p:sp>
      <p:sp>
        <p:nvSpPr>
          <p:cNvPr id="9" name="Shape 7"/>
          <p:cNvSpPr/>
          <p:nvPr/>
        </p:nvSpPr>
        <p:spPr>
          <a:xfrm>
            <a:off x="6236208" y="1554480"/>
            <a:ext cx="5394960" cy="3749040"/>
          </a:xfrm>
          <a:prstGeom prst="roundRect">
            <a:avLst>
              <a:gd name="adj" fmla="val 3415"/>
            </a:avLst>
          </a:prstGeom>
          <a:solidFill>
            <a:srgbClr val="1A2350"/>
          </a:solidFill>
          <a:ln w="25400">
            <a:solidFill>
              <a:srgbClr val="3DD68C"/>
            </a:solidFill>
            <a:prstDash val="solid"/>
          </a:ln>
        </p:spPr>
      </p:sp>
      <p:sp>
        <p:nvSpPr>
          <p:cNvPr id="10" name="Shape 8"/>
          <p:cNvSpPr/>
          <p:nvPr/>
        </p:nvSpPr>
        <p:spPr>
          <a:xfrm>
            <a:off x="6556248" y="1783080"/>
            <a:ext cx="1737360" cy="347472"/>
          </a:xfrm>
          <a:prstGeom prst="roundRect">
            <a:avLst>
              <a:gd name="adj" fmla="val 44737"/>
            </a:avLst>
          </a:prstGeom>
          <a:solidFill>
            <a:srgbClr val="3DD68C"/>
          </a:solidFill>
          <a:ln/>
        </p:spPr>
      </p:sp>
      <p:sp>
        <p:nvSpPr>
          <p:cNvPr id="11" name="Text 9"/>
          <p:cNvSpPr/>
          <p:nvPr/>
        </p:nvSpPr>
        <p:spPr>
          <a:xfrm>
            <a:off x="6556248" y="1783080"/>
            <a:ext cx="1737360" cy="347472"/>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The right question</a:t>
            </a:r>
            <a:endParaRPr lang="en-US" sz="1100" dirty="0"/>
          </a:p>
        </p:txBody>
      </p:sp>
      <p:sp>
        <p:nvSpPr>
          <p:cNvPr id="12" name="Text 10"/>
          <p:cNvSpPr/>
          <p:nvPr/>
        </p:nvSpPr>
        <p:spPr>
          <a:xfrm>
            <a:off x="6556248" y="2240280"/>
            <a:ext cx="47548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Because you crop each face first</a:t>
            </a:r>
            <a:endParaRPr lang="en-US" sz="1800" dirty="0"/>
          </a:p>
        </p:txBody>
      </p:sp>
      <p:sp>
        <p:nvSpPr>
          <p:cNvPr id="13" name="Text 11"/>
          <p:cNvSpPr/>
          <p:nvPr/>
        </p:nvSpPr>
        <p:spPr>
          <a:xfrm>
            <a:off x="6601968" y="27432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Thirty faces become thirty separate, comparable problems</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model only ever sees a face, filling the frame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face at the edge counts exactly as much as one in front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same person in two photos produces two close vectors</a:t>
            </a:r>
            <a:endParaRPr lang="en-US" sz="1400" dirty="0"/>
          </a:p>
        </p:txBody>
      </p:sp>
      <p:sp>
        <p:nvSpPr>
          <p:cNvPr id="14" name="Shape 12"/>
          <p:cNvSpPr/>
          <p:nvPr/>
        </p:nvSpPr>
        <p:spPr>
          <a:xfrm>
            <a:off x="566928" y="5532120"/>
            <a:ext cx="11064240" cy="960120"/>
          </a:xfrm>
          <a:prstGeom prst="roundRect">
            <a:avLst>
              <a:gd name="adj" fmla="val 13333"/>
            </a:avLst>
          </a:prstGeom>
          <a:solidFill>
            <a:srgbClr val="141B3E"/>
          </a:solidFill>
          <a:ln/>
        </p:spPr>
      </p:sp>
      <p:sp>
        <p:nvSpPr>
          <p:cNvPr id="15" name="Text 13"/>
          <p:cNvSpPr/>
          <p:nvPr/>
        </p:nvSpPr>
        <p:spPr>
          <a:xfrm>
            <a:off x="914400" y="5623560"/>
            <a:ext cx="10332720" cy="7772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Detection is not a preprocessing chore. It is what makes the recognition model small, fast, and comparable across photos it has never seen together.</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STEP 1 — FIND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detection actually hands back</a:t>
            </a:r>
            <a:endParaRPr lang="en-US" sz="3400" dirty="0"/>
          </a:p>
        </p:txBody>
      </p:sp>
      <p:sp>
        <p:nvSpPr>
          <p:cNvPr id="4" name="Shape 2"/>
          <p:cNvSpPr/>
          <p:nvPr/>
        </p:nvSpPr>
        <p:spPr>
          <a:xfrm>
            <a:off x="566928" y="1508760"/>
            <a:ext cx="11064240" cy="1207008"/>
          </a:xfrm>
          <a:prstGeom prst="roundRect">
            <a:avLst>
              <a:gd name="adj" fmla="val 9091"/>
            </a:avLst>
          </a:prstGeom>
          <a:solidFill>
            <a:srgbClr val="1A2350"/>
          </a:solidFill>
          <a:ln w="25400">
            <a:solidFill>
              <a:srgbClr val="FFB020"/>
            </a:solidFill>
            <a:prstDash val="solid"/>
          </a:ln>
        </p:spPr>
      </p:sp>
      <p:sp>
        <p:nvSpPr>
          <p:cNvPr id="5" name="Text 3"/>
          <p:cNvSpPr/>
          <p:nvPr/>
        </p:nvSpPr>
        <p:spPr>
          <a:xfrm>
            <a:off x="914400" y="167335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 bounding box</a:t>
            </a:r>
            <a:endParaRPr lang="en-US" sz="1900" dirty="0"/>
          </a:p>
        </p:txBody>
      </p:sp>
      <p:sp>
        <p:nvSpPr>
          <p:cNvPr id="6" name="Text 4"/>
          <p:cNvSpPr/>
          <p:nvPr/>
        </p:nvSpPr>
        <p:spPr>
          <a:xfrm>
            <a:off x="914400" y="20756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x1, y1, x2, y2 — where the face sits in the frame. Stored per face, so we can crop a portrait later without re-running the model.</a:t>
            </a:r>
            <a:endParaRPr lang="en-US" sz="1400" dirty="0"/>
          </a:p>
        </p:txBody>
      </p:sp>
      <p:sp>
        <p:nvSpPr>
          <p:cNvPr id="7" name="Shape 5"/>
          <p:cNvSpPr/>
          <p:nvPr/>
        </p:nvSpPr>
        <p:spPr>
          <a:xfrm>
            <a:off x="566928" y="2880360"/>
            <a:ext cx="11064240" cy="1207008"/>
          </a:xfrm>
          <a:prstGeom prst="roundRect">
            <a:avLst>
              <a:gd name="adj" fmla="val 9091"/>
            </a:avLst>
          </a:prstGeom>
          <a:solidFill>
            <a:srgbClr val="1A2350"/>
          </a:solidFill>
          <a:ln w="25400">
            <a:solidFill>
              <a:srgbClr val="FFB020"/>
            </a:solidFill>
            <a:prstDash val="solid"/>
          </a:ln>
        </p:spPr>
      </p:sp>
      <p:sp>
        <p:nvSpPr>
          <p:cNvPr id="8" name="Text 6"/>
          <p:cNvSpPr/>
          <p:nvPr/>
        </p:nvSpPr>
        <p:spPr>
          <a:xfrm>
            <a:off x="914400" y="304495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 confidence score</a:t>
            </a:r>
            <a:endParaRPr lang="en-US" sz="1900" dirty="0"/>
          </a:p>
        </p:txBody>
      </p:sp>
      <p:sp>
        <p:nvSpPr>
          <p:cNvPr id="9" name="Text 7"/>
          <p:cNvSpPr/>
          <p:nvPr/>
        </p:nvSpPr>
        <p:spPr>
          <a:xfrm>
            <a:off x="914400" y="34472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How sure it is that this is a face at all. Below minScore = 0.7 it is thrown away before it ever costs us an embedding.</a:t>
            </a:r>
            <a:endParaRPr lang="en-US" sz="1400" dirty="0"/>
          </a:p>
        </p:txBody>
      </p:sp>
      <p:sp>
        <p:nvSpPr>
          <p:cNvPr id="10" name="Shape 8"/>
          <p:cNvSpPr/>
          <p:nvPr/>
        </p:nvSpPr>
        <p:spPr>
          <a:xfrm>
            <a:off x="566928" y="4251960"/>
            <a:ext cx="11064240" cy="1207008"/>
          </a:xfrm>
          <a:prstGeom prst="roundRect">
            <a:avLst>
              <a:gd name="adj" fmla="val 9091"/>
            </a:avLst>
          </a:prstGeom>
          <a:solidFill>
            <a:srgbClr val="1A2350"/>
          </a:solidFill>
          <a:ln w="25400">
            <a:solidFill>
              <a:srgbClr val="A9BEFF"/>
            </a:solidFill>
            <a:prstDash val="solid"/>
          </a:ln>
        </p:spPr>
      </p:sp>
      <p:sp>
        <p:nvSpPr>
          <p:cNvPr id="11" name="Text 9"/>
          <p:cNvSpPr/>
          <p:nvPr/>
        </p:nvSpPr>
        <p:spPr>
          <a:xfrm>
            <a:off x="914400" y="4416552"/>
            <a:ext cx="10332720" cy="365760"/>
          </a:xfrm>
          <a:prstGeom prst="rect">
            <a:avLst/>
          </a:prstGeom>
          <a:noFill/>
          <a:ln/>
        </p:spPr>
        <p:txBody>
          <a:bodyPr wrap="square" lIns="0" tIns="0" rIns="0" bIns="0" rtlCol="0" anchor="ctr"/>
          <a:lstStyle/>
          <a:p>
            <a:pPr indent="0" marL="0">
              <a:buNone/>
            </a:pPr>
            <a:r>
              <a:rPr lang="en-US" sz="1900" b="1" dirty="0">
                <a:solidFill>
                  <a:srgbClr val="A9BEFF"/>
                </a:solidFill>
                <a:latin typeface="Arial" pitchFamily="34" charset="0"/>
                <a:ea typeface="Arial" pitchFamily="34" charset="-122"/>
                <a:cs typeface="Arial" pitchFamily="34" charset="-120"/>
              </a:rPr>
              <a:t>Five landmarks</a:t>
            </a:r>
            <a:endParaRPr lang="en-US" sz="1900" dirty="0"/>
          </a:p>
        </p:txBody>
      </p:sp>
      <p:sp>
        <p:nvSpPr>
          <p:cNvPr id="12" name="Text 10"/>
          <p:cNvSpPr/>
          <p:nvPr/>
        </p:nvSpPr>
        <p:spPr>
          <a:xfrm>
            <a:off x="914400" y="48188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Two eyes, the nose, two mouth corners. Not used to identify anyone — used to straighten the crop.</a:t>
            </a:r>
            <a:endParaRPr lang="en-US" sz="1400" dirty="0"/>
          </a:p>
        </p:txBody>
      </p:sp>
      <p:sp>
        <p:nvSpPr>
          <p:cNvPr id="13" name="Shape 11"/>
          <p:cNvSpPr/>
          <p:nvPr/>
        </p:nvSpPr>
        <p:spPr>
          <a:xfrm>
            <a:off x="566928" y="5669280"/>
            <a:ext cx="11064240" cy="914400"/>
          </a:xfrm>
          <a:prstGeom prst="roundRect">
            <a:avLst>
              <a:gd name="adj" fmla="val 14000"/>
            </a:avLst>
          </a:prstGeom>
          <a:solidFill>
            <a:srgbClr val="141B3E"/>
          </a:solidFill>
          <a:ln w="25400">
            <a:solidFill>
              <a:srgbClr val="3DD68C"/>
            </a:solidFill>
            <a:prstDash val="solid"/>
          </a:ln>
        </p:spPr>
      </p:sp>
      <p:sp>
        <p:nvSpPr>
          <p:cNvPr id="14" name="Text 12"/>
          <p:cNvSpPr/>
          <p:nvPr/>
        </p:nvSpPr>
        <p:spPr>
          <a:xfrm>
            <a:off x="914400" y="5760720"/>
            <a:ext cx="10332720" cy="73152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Detection runs on the downscaled preview, not the original — but the person portrait is cropped from the original, because a face is a small part of a group photo and upscaling a handful of pixels looks terrible.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STEP 2 — ALIGN</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step nobody mentions, and everything depends on it</a:t>
            </a:r>
            <a:endParaRPr lang="en-US" sz="3400" dirty="0"/>
          </a:p>
        </p:txBody>
      </p:sp>
      <p:sp>
        <p:nvSpPr>
          <p:cNvPr id="4" name="Shape 2"/>
          <p:cNvSpPr/>
          <p:nvPr/>
        </p:nvSpPr>
        <p:spPr>
          <a:xfrm>
            <a:off x="566928" y="1508760"/>
            <a:ext cx="11064240" cy="1188720"/>
          </a:xfrm>
          <a:prstGeom prst="roundRect">
            <a:avLst>
              <a:gd name="adj" fmla="val 10769"/>
            </a:avLst>
          </a:prstGeom>
          <a:solidFill>
            <a:srgbClr val="141B3E"/>
          </a:solidFill>
          <a:ln w="25400">
            <a:solidFill>
              <a:srgbClr val="FFB020"/>
            </a:solidFill>
            <a:prstDash val="solid"/>
          </a:ln>
        </p:spPr>
      </p:sp>
      <p:sp>
        <p:nvSpPr>
          <p:cNvPr id="5" name="Text 3"/>
          <p:cNvSpPr/>
          <p:nvPr/>
        </p:nvSpPr>
        <p:spPr>
          <a:xfrm>
            <a:off x="914400" y="1627632"/>
            <a:ext cx="10332720" cy="9601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Every crop is warped so the eyes, nose and mouth land in the same place — a fixed 112 × 112 tile. A tilted head and a straight one become the same picture before anything is measured.</a:t>
            </a:r>
            <a:endParaRPr lang="en-US" sz="1700" dirty="0"/>
          </a:p>
        </p:txBody>
      </p:sp>
      <p:sp>
        <p:nvSpPr>
          <p:cNvPr id="6" name="Shape 4"/>
          <p:cNvSpPr/>
          <p:nvPr/>
        </p:nvSpPr>
        <p:spPr>
          <a:xfrm>
            <a:off x="566928" y="2926080"/>
            <a:ext cx="5394960" cy="2286000"/>
          </a:xfrm>
          <a:prstGeom prst="roundRect">
            <a:avLst>
              <a:gd name="adj" fmla="val 5600"/>
            </a:avLst>
          </a:prstGeom>
          <a:solidFill>
            <a:srgbClr val="1A2350"/>
          </a:solidFill>
          <a:ln w="25400">
            <a:solidFill>
              <a:srgbClr val="FF7AA8"/>
            </a:solidFill>
            <a:prstDash val="solid"/>
          </a:ln>
        </p:spPr>
      </p:sp>
      <p:sp>
        <p:nvSpPr>
          <p:cNvPr id="7" name="Text 5"/>
          <p:cNvSpPr/>
          <p:nvPr/>
        </p:nvSpPr>
        <p:spPr>
          <a:xfrm>
            <a:off x="886968" y="3108960"/>
            <a:ext cx="4754880" cy="36576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Without alignment</a:t>
            </a:r>
            <a:endParaRPr lang="en-US" sz="1800" dirty="0"/>
          </a:p>
        </p:txBody>
      </p:sp>
      <p:sp>
        <p:nvSpPr>
          <p:cNvPr id="8" name="Text 6"/>
          <p:cNvSpPr/>
          <p:nvPr/>
        </p:nvSpPr>
        <p:spPr>
          <a:xfrm>
            <a:off x="886968" y="3520440"/>
            <a:ext cx="4754880" cy="155448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The model would have to learn “this is the same person, just rotated 20 degrees” separately for every angle — and waste half its 512 numbers describing pose instead of identity.</a:t>
            </a:r>
            <a:endParaRPr lang="en-US" sz="1400" dirty="0"/>
          </a:p>
        </p:txBody>
      </p:sp>
      <p:sp>
        <p:nvSpPr>
          <p:cNvPr id="9" name="Shape 7"/>
          <p:cNvSpPr/>
          <p:nvPr/>
        </p:nvSpPr>
        <p:spPr>
          <a:xfrm>
            <a:off x="6236208" y="2926080"/>
            <a:ext cx="5394960" cy="2286000"/>
          </a:xfrm>
          <a:prstGeom prst="roundRect">
            <a:avLst>
              <a:gd name="adj" fmla="val 5600"/>
            </a:avLst>
          </a:prstGeom>
          <a:solidFill>
            <a:srgbClr val="1A2350"/>
          </a:solidFill>
          <a:ln w="25400">
            <a:solidFill>
              <a:srgbClr val="3DD68C"/>
            </a:solidFill>
            <a:prstDash val="solid"/>
          </a:ln>
        </p:spPr>
      </p:sp>
      <p:sp>
        <p:nvSpPr>
          <p:cNvPr id="10" name="Text 8"/>
          <p:cNvSpPr/>
          <p:nvPr/>
        </p:nvSpPr>
        <p:spPr>
          <a:xfrm>
            <a:off x="6556248" y="3108960"/>
            <a:ext cx="4754880" cy="365760"/>
          </a:xfrm>
          <a:prstGeom prst="rect">
            <a:avLst/>
          </a:prstGeom>
          <a:noFill/>
          <a:ln/>
        </p:spPr>
        <p:txBody>
          <a:bodyPr wrap="square" lIns="0" tIns="0" rIns="0" bIns="0" rtlCol="0" anchor="ctr"/>
          <a:lstStyle/>
          <a:p>
            <a:pPr indent="0" marL="0">
              <a:buNone/>
            </a:pPr>
            <a:r>
              <a:rPr lang="en-US" sz="1800" b="1" dirty="0">
                <a:solidFill>
                  <a:srgbClr val="3DD68C"/>
                </a:solidFill>
                <a:latin typeface="Arial" pitchFamily="34" charset="0"/>
                <a:ea typeface="Arial" pitchFamily="34" charset="-122"/>
                <a:cs typeface="Arial" pitchFamily="34" charset="-120"/>
              </a:rPr>
              <a:t>With alignment</a:t>
            </a:r>
            <a:endParaRPr lang="en-US" sz="1800" dirty="0"/>
          </a:p>
        </p:txBody>
      </p:sp>
      <p:sp>
        <p:nvSpPr>
          <p:cNvPr id="11" name="Text 9"/>
          <p:cNvSpPr/>
          <p:nvPr/>
        </p:nvSpPr>
        <p:spPr>
          <a:xfrm>
            <a:off x="6556248" y="3520440"/>
            <a:ext cx="4754880" cy="155448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Pose is removed before the model sees anything. All 512 numbers get spent on what actually distinguishes one person from another.</a:t>
            </a:r>
            <a:endParaRPr lang="en-US" sz="1400" dirty="0"/>
          </a:p>
        </p:txBody>
      </p:sp>
      <p:sp>
        <p:nvSpPr>
          <p:cNvPr id="12" name="Text 10"/>
          <p:cNvSpPr/>
          <p:nvPr/>
        </p:nvSpPr>
        <p:spPr>
          <a:xfrm>
            <a:off x="566928" y="5486400"/>
            <a:ext cx="11064240" cy="457200"/>
          </a:xfrm>
          <a:prstGeom prst="rect">
            <a:avLst/>
          </a:prstGeom>
          <a:noFill/>
          <a:ln/>
        </p:spPr>
        <p:txBody>
          <a:bodyPr wrap="square" lIns="0" tIns="0" rIns="0" bIns="0" rtlCol="0" anchor="ctr"/>
          <a:lstStyle/>
          <a:p>
            <a:pPr indent="0" marL="0">
              <a:buNone/>
            </a:pPr>
            <a:r>
              <a:rPr lang="en-US" sz="1500" b="1" i="1" dirty="0">
                <a:solidFill>
                  <a:srgbClr val="A9BEFF"/>
                </a:solidFill>
                <a:latin typeface="Arial" pitchFamily="34" charset="0"/>
                <a:ea typeface="Arial" pitchFamily="34" charset="-122"/>
                <a:cs typeface="Arial" pitchFamily="34" charset="-120"/>
              </a:rPr>
              <a:t>Rule of thumb: every bit of variation you can remove before the model is a bit of capacity you get back for the thing you actually care about.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A9BEFF"/>
                </a:solidFill>
                <a:latin typeface="Arial" pitchFamily="34" charset="0"/>
                <a:ea typeface="Arial" pitchFamily="34" charset="-122"/>
                <a:cs typeface="Arial" pitchFamily="34" charset="-120"/>
              </a:rPr>
              <a:t>STEP 3 — MEASURE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“512 numbers” literally is</a:t>
            </a:r>
            <a:endParaRPr lang="en-US" sz="3400" dirty="0"/>
          </a:p>
        </p:txBody>
      </p:sp>
      <p:sp>
        <p:nvSpPr>
          <p:cNvPr id="4" name="Shape 2"/>
          <p:cNvSpPr/>
          <p:nvPr/>
        </p:nvSpPr>
        <p:spPr>
          <a:xfrm>
            <a:off x="566928" y="1463040"/>
            <a:ext cx="11064240" cy="914400"/>
          </a:xfrm>
          <a:prstGeom prst="roundRect">
            <a:avLst>
              <a:gd name="adj" fmla="val 12000"/>
            </a:avLst>
          </a:prstGeom>
          <a:solidFill>
            <a:srgbClr val="141B3E"/>
          </a:solidFill>
          <a:ln w="25400">
            <a:solidFill>
              <a:srgbClr val="A9BEFF"/>
            </a:solidFill>
            <a:prstDash val="solid"/>
          </a:ln>
        </p:spPr>
      </p:sp>
      <p:sp>
        <p:nvSpPr>
          <p:cNvPr id="5" name="Text 3"/>
          <p:cNvSpPr/>
          <p:nvPr/>
        </p:nvSpPr>
        <p:spPr>
          <a:xfrm>
            <a:off x="914400" y="1463040"/>
            <a:ext cx="10332720" cy="914400"/>
          </a:xfrm>
          <a:prstGeom prst="rect">
            <a:avLst/>
          </a:prstGeom>
          <a:noFill/>
          <a:ln/>
        </p:spPr>
        <p:txBody>
          <a:bodyPr wrap="square" lIns="0" tIns="0" rIns="0" bIns="0" rtlCol="0" anchor="ctr"/>
          <a:lstStyle/>
          <a:p>
            <a:pPr indent="0" marL="0">
              <a:buNone/>
            </a:pPr>
            <a:r>
              <a:rPr lang="en-US" sz="2000" b="1" dirty="0">
                <a:solidFill>
                  <a:srgbClr val="A9BEFF"/>
                </a:solidFill>
                <a:latin typeface="Courier New" pitchFamily="34" charset="0"/>
                <a:ea typeface="Courier New" pitchFamily="34" charset="-122"/>
                <a:cs typeface="Courier New" pitchFamily="34" charset="-120"/>
              </a:rPr>
              <a:t>[ 0.041, -0.118, 0.207, 0.003, -0.076, 0.162, … 506 more ]</a:t>
            </a:r>
            <a:endParaRPr lang="en-US" sz="2000" dirty="0"/>
          </a:p>
        </p:txBody>
      </p:sp>
      <p:sp>
        <p:nvSpPr>
          <p:cNvPr id="6" name="Shape 4"/>
          <p:cNvSpPr/>
          <p:nvPr/>
        </p:nvSpPr>
        <p:spPr>
          <a:xfrm>
            <a:off x="566928" y="2606040"/>
            <a:ext cx="5394960" cy="1737360"/>
          </a:xfrm>
          <a:prstGeom prst="roundRect">
            <a:avLst>
              <a:gd name="adj" fmla="val 6316"/>
            </a:avLst>
          </a:prstGeom>
          <a:solidFill>
            <a:srgbClr val="1A2350"/>
          </a:solidFill>
          <a:ln/>
        </p:spPr>
      </p:sp>
      <p:sp>
        <p:nvSpPr>
          <p:cNvPr id="7" name="Shape 5"/>
          <p:cNvSpPr/>
          <p:nvPr/>
        </p:nvSpPr>
        <p:spPr>
          <a:xfrm>
            <a:off x="886968" y="2862072"/>
            <a:ext cx="365760" cy="365760"/>
          </a:xfrm>
          <a:prstGeom prst="ellipse">
            <a:avLst/>
          </a:prstGeom>
          <a:solidFill>
            <a:srgbClr val="FFB020"/>
          </a:solidFill>
          <a:ln/>
        </p:spPr>
      </p:sp>
      <p:sp>
        <p:nvSpPr>
          <p:cNvPr id="8" name="Text 6"/>
          <p:cNvSpPr/>
          <p:nvPr/>
        </p:nvSpPr>
        <p:spPr>
          <a:xfrm>
            <a:off x="886968" y="286207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389888" y="2834640"/>
            <a:ext cx="429768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Decimals, not digits</a:t>
            </a:r>
            <a:endParaRPr lang="en-US" sz="1700" dirty="0"/>
          </a:p>
        </p:txBody>
      </p:sp>
      <p:sp>
        <p:nvSpPr>
          <p:cNvPr id="10" name="Text 8"/>
          <p:cNvSpPr/>
          <p:nvPr/>
        </p:nvSpPr>
        <p:spPr>
          <a:xfrm>
            <a:off x="886968" y="331927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Each one is a signed decimal, usually somewhere between -1 and 1. “512-digit number” is the one thing worth un-learning.</a:t>
            </a:r>
            <a:endParaRPr lang="en-US" sz="1300" dirty="0"/>
          </a:p>
        </p:txBody>
      </p:sp>
      <p:sp>
        <p:nvSpPr>
          <p:cNvPr id="11" name="Shape 9"/>
          <p:cNvSpPr/>
          <p:nvPr/>
        </p:nvSpPr>
        <p:spPr>
          <a:xfrm>
            <a:off x="6236208" y="2606040"/>
            <a:ext cx="5394960" cy="1737360"/>
          </a:xfrm>
          <a:prstGeom prst="roundRect">
            <a:avLst>
              <a:gd name="adj" fmla="val 6316"/>
            </a:avLst>
          </a:prstGeom>
          <a:solidFill>
            <a:srgbClr val="1A2350"/>
          </a:solidFill>
          <a:ln/>
        </p:spPr>
      </p:sp>
      <p:sp>
        <p:nvSpPr>
          <p:cNvPr id="12" name="Shape 10"/>
          <p:cNvSpPr/>
          <p:nvPr/>
        </p:nvSpPr>
        <p:spPr>
          <a:xfrm>
            <a:off x="6556248" y="2862072"/>
            <a:ext cx="365760" cy="365760"/>
          </a:xfrm>
          <a:prstGeom prst="ellipse">
            <a:avLst/>
          </a:prstGeom>
          <a:solidFill>
            <a:srgbClr val="4C6FFF"/>
          </a:solidFill>
          <a:ln/>
        </p:spPr>
      </p:sp>
      <p:sp>
        <p:nvSpPr>
          <p:cNvPr id="13" name="Text 11"/>
          <p:cNvSpPr/>
          <p:nvPr/>
        </p:nvSpPr>
        <p:spPr>
          <a:xfrm>
            <a:off x="6556248" y="286207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7059168" y="2834640"/>
            <a:ext cx="429768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No single number means anything</a:t>
            </a:r>
            <a:endParaRPr lang="en-US" sz="1700" dirty="0"/>
          </a:p>
        </p:txBody>
      </p:sp>
      <p:sp>
        <p:nvSpPr>
          <p:cNvPr id="15" name="Text 13"/>
          <p:cNvSpPr/>
          <p:nvPr/>
        </p:nvSpPr>
        <p:spPr>
          <a:xfrm>
            <a:off x="6556248" y="331927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Number 47 is not “nose width”. The meaning lives in the whole 512 together — nobody, including the people who trained it, can tell you what one slot is for.</a:t>
            </a:r>
            <a:endParaRPr lang="en-US" sz="1300" dirty="0"/>
          </a:p>
        </p:txBody>
      </p:sp>
      <p:sp>
        <p:nvSpPr>
          <p:cNvPr id="16" name="Shape 14"/>
          <p:cNvSpPr/>
          <p:nvPr/>
        </p:nvSpPr>
        <p:spPr>
          <a:xfrm>
            <a:off x="566928" y="4526280"/>
            <a:ext cx="5394960" cy="1737360"/>
          </a:xfrm>
          <a:prstGeom prst="roundRect">
            <a:avLst>
              <a:gd name="adj" fmla="val 6316"/>
            </a:avLst>
          </a:prstGeom>
          <a:solidFill>
            <a:srgbClr val="1A2350"/>
          </a:solidFill>
          <a:ln/>
        </p:spPr>
      </p:sp>
      <p:sp>
        <p:nvSpPr>
          <p:cNvPr id="17" name="Shape 15"/>
          <p:cNvSpPr/>
          <p:nvPr/>
        </p:nvSpPr>
        <p:spPr>
          <a:xfrm>
            <a:off x="886968" y="4782312"/>
            <a:ext cx="365760" cy="365760"/>
          </a:xfrm>
          <a:prstGeom prst="ellipse">
            <a:avLst/>
          </a:prstGeom>
          <a:solidFill>
            <a:srgbClr val="3DD68C"/>
          </a:solidFill>
          <a:ln/>
        </p:spPr>
      </p:sp>
      <p:sp>
        <p:nvSpPr>
          <p:cNvPr id="18" name="Text 16"/>
          <p:cNvSpPr/>
          <p:nvPr/>
        </p:nvSpPr>
        <p:spPr>
          <a:xfrm>
            <a:off x="886968" y="478231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389888" y="4754880"/>
            <a:ext cx="4297680" cy="365760"/>
          </a:xfrm>
          <a:prstGeom prst="rect">
            <a:avLst/>
          </a:prstGeom>
          <a:noFill/>
          <a:ln/>
        </p:spPr>
        <p:txBody>
          <a:bodyPr wrap="square" lIns="0" tIns="0" rIns="0" bIns="0" rtlCol="0" anchor="ctr"/>
          <a:lstStyle/>
          <a:p>
            <a:pPr indent="0" marL="0">
              <a:buNone/>
            </a:pPr>
            <a:r>
              <a:rPr lang="en-US" sz="1700" b="1" dirty="0">
                <a:solidFill>
                  <a:srgbClr val="3DD68C"/>
                </a:solidFill>
                <a:latin typeface="Arial" pitchFamily="34" charset="0"/>
                <a:ea typeface="Arial" pitchFamily="34" charset="-122"/>
                <a:cs typeface="Arial" pitchFamily="34" charset="-120"/>
              </a:rPr>
              <a:t>Always exactly 512</a:t>
            </a:r>
            <a:endParaRPr lang="en-US" sz="1700" dirty="0"/>
          </a:p>
        </p:txBody>
      </p:sp>
      <p:sp>
        <p:nvSpPr>
          <p:cNvPr id="20" name="Text 18"/>
          <p:cNvSpPr/>
          <p:nvPr/>
        </p:nvSpPr>
        <p:spPr>
          <a:xfrm>
            <a:off x="886968" y="523951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blurry face, a child, a face at the edge of the frame — all produce exactly 512 numbers. That fixed size is what makes them comparable.</a:t>
            </a:r>
            <a:endParaRPr lang="en-US" sz="1300" dirty="0"/>
          </a:p>
        </p:txBody>
      </p:sp>
      <p:sp>
        <p:nvSpPr>
          <p:cNvPr id="21" name="Shape 19"/>
          <p:cNvSpPr/>
          <p:nvPr/>
        </p:nvSpPr>
        <p:spPr>
          <a:xfrm>
            <a:off x="6236208" y="4526280"/>
            <a:ext cx="5394960" cy="1737360"/>
          </a:xfrm>
          <a:prstGeom prst="roundRect">
            <a:avLst>
              <a:gd name="adj" fmla="val 6316"/>
            </a:avLst>
          </a:prstGeom>
          <a:solidFill>
            <a:srgbClr val="1A2350"/>
          </a:solidFill>
          <a:ln/>
        </p:spPr>
      </p:sp>
      <p:sp>
        <p:nvSpPr>
          <p:cNvPr id="22" name="Shape 20"/>
          <p:cNvSpPr/>
          <p:nvPr/>
        </p:nvSpPr>
        <p:spPr>
          <a:xfrm>
            <a:off x="6556248" y="4782312"/>
            <a:ext cx="365760" cy="365760"/>
          </a:xfrm>
          <a:prstGeom prst="ellipse">
            <a:avLst/>
          </a:prstGeom>
          <a:solidFill>
            <a:srgbClr val="FF7AA8"/>
          </a:solidFill>
          <a:ln/>
        </p:spPr>
      </p:sp>
      <p:sp>
        <p:nvSpPr>
          <p:cNvPr id="23" name="Text 21"/>
          <p:cNvSpPr/>
          <p:nvPr/>
        </p:nvSpPr>
        <p:spPr>
          <a:xfrm>
            <a:off x="6556248" y="478231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7059168" y="4754880"/>
            <a:ext cx="4297680" cy="365760"/>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Normalised to length 1</a:t>
            </a:r>
            <a:endParaRPr lang="en-US" sz="1700" dirty="0"/>
          </a:p>
        </p:txBody>
      </p:sp>
      <p:sp>
        <p:nvSpPr>
          <p:cNvPr id="25" name="Text 23"/>
          <p:cNvSpPr/>
          <p:nvPr/>
        </p:nvSpPr>
        <p:spPr>
          <a:xfrm>
            <a:off x="6556248" y="523951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whole arrow is scaled so it has length 1. Brightness and contrast largely drop out, and comparison becomes an angle.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4C6FFF"/>
                </a:solidFill>
                <a:latin typeface="Arial" pitchFamily="34" charset="0"/>
                <a:ea typeface="Arial" pitchFamily="34" charset="-122"/>
                <a:cs typeface="Arial" pitchFamily="34" charset="-120"/>
              </a:rPr>
              <a:t>STEP 5 — COMPARE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Same person = close together. That is the whole trick.</a:t>
            </a:r>
            <a:endParaRPr lang="en-US" sz="2800" dirty="0"/>
          </a:p>
        </p:txBody>
      </p:sp>
      <p:pic>
        <p:nvPicPr>
          <p:cNvPr id="4" name="Image 0" descr="vector-spac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ONE NUMBER, TWO FAILURE MODES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maxDistance = 0.5 is a judgement call, not a fact</a:t>
            </a:r>
            <a:endParaRPr lang="en-US" sz="3400" dirty="0"/>
          </a:p>
        </p:txBody>
      </p:sp>
      <p:sp>
        <p:nvSpPr>
          <p:cNvPr id="4" name="Shape 2"/>
          <p:cNvSpPr/>
          <p:nvPr/>
        </p:nvSpPr>
        <p:spPr>
          <a:xfrm>
            <a:off x="566928" y="1554480"/>
            <a:ext cx="5394960" cy="2834640"/>
          </a:xfrm>
          <a:prstGeom prst="roundRect">
            <a:avLst>
              <a:gd name="adj" fmla="val 4516"/>
            </a:avLst>
          </a:prstGeom>
          <a:solidFill>
            <a:srgbClr val="1A2350"/>
          </a:solidFill>
          <a:ln w="25400">
            <a:solidFill>
              <a:srgbClr val="FF7AA8"/>
            </a:solidFill>
            <a:prstDash val="solid"/>
          </a:ln>
        </p:spPr>
      </p:sp>
      <p:sp>
        <p:nvSpPr>
          <p:cNvPr id="5" name="Text 3"/>
          <p:cNvSpPr/>
          <p:nvPr/>
        </p:nvSpPr>
        <p:spPr>
          <a:xfrm>
            <a:off x="886968" y="1737360"/>
            <a:ext cx="3108960" cy="41148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Set it too low</a:t>
            </a:r>
            <a:endParaRPr lang="en-US" sz="1800" dirty="0"/>
          </a:p>
        </p:txBody>
      </p:sp>
      <p:sp>
        <p:nvSpPr>
          <p:cNvPr id="6" name="Text 4"/>
          <p:cNvSpPr/>
          <p:nvPr/>
        </p:nvSpPr>
        <p:spPr>
          <a:xfrm>
            <a:off x="4224528" y="1691640"/>
            <a:ext cx="1371600" cy="502920"/>
          </a:xfrm>
          <a:prstGeom prst="rect">
            <a:avLst/>
          </a:prstGeom>
          <a:noFill/>
          <a:ln/>
        </p:spPr>
        <p:txBody>
          <a:bodyPr wrap="square" lIns="0" tIns="0" rIns="0" bIns="0"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0.2</a:t>
            </a:r>
            <a:endParaRPr lang="en-US" sz="2800" dirty="0"/>
          </a:p>
        </p:txBody>
      </p:sp>
      <p:sp>
        <p:nvSpPr>
          <p:cNvPr id="7" name="Text 5"/>
          <p:cNvSpPr/>
          <p:nvPr/>
        </p:nvSpPr>
        <p:spPr>
          <a:xfrm>
            <a:off x="932688" y="2286000"/>
            <a:ext cx="4663440" cy="19202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same person splits into several “people”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You in sunglasses becomes a different person from you without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Participants get only half their photos</a:t>
            </a:r>
            <a:endParaRPr lang="en-US" sz="1400" dirty="0"/>
          </a:p>
        </p:txBody>
      </p:sp>
      <p:sp>
        <p:nvSpPr>
          <p:cNvPr id="8" name="Shape 6"/>
          <p:cNvSpPr/>
          <p:nvPr/>
        </p:nvSpPr>
        <p:spPr>
          <a:xfrm>
            <a:off x="6236208" y="1554480"/>
            <a:ext cx="5394960" cy="2834640"/>
          </a:xfrm>
          <a:prstGeom prst="roundRect">
            <a:avLst>
              <a:gd name="adj" fmla="val 4516"/>
            </a:avLst>
          </a:prstGeom>
          <a:solidFill>
            <a:srgbClr val="1A2350"/>
          </a:solidFill>
          <a:ln w="25400">
            <a:solidFill>
              <a:srgbClr val="FF7AA8"/>
            </a:solidFill>
            <a:prstDash val="solid"/>
          </a:ln>
        </p:spPr>
      </p:sp>
      <p:sp>
        <p:nvSpPr>
          <p:cNvPr id="9" name="Text 7"/>
          <p:cNvSpPr/>
          <p:nvPr/>
        </p:nvSpPr>
        <p:spPr>
          <a:xfrm>
            <a:off x="6556248" y="1737360"/>
            <a:ext cx="3108960" cy="41148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Set it too high</a:t>
            </a:r>
            <a:endParaRPr lang="en-US" sz="1800" dirty="0"/>
          </a:p>
        </p:txBody>
      </p:sp>
      <p:sp>
        <p:nvSpPr>
          <p:cNvPr id="10" name="Text 8"/>
          <p:cNvSpPr/>
          <p:nvPr/>
        </p:nvSpPr>
        <p:spPr>
          <a:xfrm>
            <a:off x="9893808" y="1691640"/>
            <a:ext cx="1371600" cy="502920"/>
          </a:xfrm>
          <a:prstGeom prst="rect">
            <a:avLst/>
          </a:prstGeom>
          <a:noFill/>
          <a:ln/>
        </p:spPr>
        <p:txBody>
          <a:bodyPr wrap="square" lIns="0" tIns="0" rIns="0" bIns="0"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0.9</a:t>
            </a:r>
            <a:endParaRPr lang="en-US" sz="2800" dirty="0"/>
          </a:p>
        </p:txBody>
      </p:sp>
      <p:sp>
        <p:nvSpPr>
          <p:cNvPr id="11" name="Text 9"/>
          <p:cNvSpPr/>
          <p:nvPr/>
        </p:nvSpPr>
        <p:spPr>
          <a:xfrm>
            <a:off x="6601968" y="2286000"/>
            <a:ext cx="4663440" cy="19202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Two different people merge into one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Someone receives photos of a stranger</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failure nobody can un-see</a:t>
            </a:r>
            <a:endParaRPr lang="en-US" sz="1400" dirty="0"/>
          </a:p>
        </p:txBody>
      </p:sp>
      <p:sp>
        <p:nvSpPr>
          <p:cNvPr id="12" name="Shape 10"/>
          <p:cNvSpPr/>
          <p:nvPr/>
        </p:nvSpPr>
        <p:spPr>
          <a:xfrm>
            <a:off x="566928" y="4617720"/>
            <a:ext cx="11064240" cy="1737360"/>
          </a:xfrm>
          <a:prstGeom prst="roundRect">
            <a:avLst>
              <a:gd name="adj" fmla="val 7368"/>
            </a:avLst>
          </a:prstGeom>
          <a:solidFill>
            <a:srgbClr val="141B3E"/>
          </a:solidFill>
          <a:ln w="31750">
            <a:solidFill>
              <a:srgbClr val="3DD68C"/>
            </a:solidFill>
            <a:prstDash val="solid"/>
          </a:ln>
        </p:spPr>
      </p:sp>
      <p:sp>
        <p:nvSpPr>
          <p:cNvPr id="13" name="Text 11"/>
          <p:cNvSpPr/>
          <p:nvPr/>
        </p:nvSpPr>
        <p:spPr>
          <a:xfrm>
            <a:off x="914400" y="4800600"/>
            <a:ext cx="10332720" cy="411480"/>
          </a:xfrm>
          <a:prstGeom prst="rect">
            <a:avLst/>
          </a:prstGeom>
          <a:noFill/>
          <a:ln/>
        </p:spPr>
        <p:txBody>
          <a:bodyPr wrap="square" lIns="0" tIns="0" rIns="0" bIns="0" rtlCol="0" anchor="ctr"/>
          <a:lstStyle/>
          <a:p>
            <a:pPr indent="0" marL="0">
              <a:buNone/>
            </a:pPr>
            <a:r>
              <a:rPr lang="en-US" sz="2000" b="1" dirty="0">
                <a:solidFill>
                  <a:srgbClr val="3DD68C"/>
                </a:solidFill>
                <a:latin typeface="Arial" pitchFamily="34" charset="0"/>
                <a:ea typeface="Arial" pitchFamily="34" charset="-122"/>
                <a:cs typeface="Arial" pitchFamily="34" charset="-120"/>
              </a:rPr>
              <a:t>The two mistakes are not equally bad.</a:t>
            </a:r>
            <a:endParaRPr lang="en-US" sz="2000" dirty="0"/>
          </a:p>
        </p:txBody>
      </p:sp>
      <p:sp>
        <p:nvSpPr>
          <p:cNvPr id="14" name="Text 12"/>
          <p:cNvSpPr/>
          <p:nvPr/>
        </p:nvSpPr>
        <p:spPr>
          <a:xfrm>
            <a:off x="914400" y="5257800"/>
            <a:ext cx="1033272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Missing a few of your own photos is an annoyance you can fix by submitting a better selfie. Showing you a stranger’s photos is a privacy incident. When you tune this number, tune it in the direction where the failure is recoverable.</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7AA8"/>
                </a:solidFill>
                <a:latin typeface="Arial" pitchFamily="34" charset="0"/>
                <a:ea typeface="Arial" pitchFamily="34" charset="-122"/>
                <a:cs typeface="Arial" pitchFamily="34" charset="-120"/>
              </a:rPr>
              <a:t>STEP 6 — GROUP</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a pile of vectors becomes a list of people</a:t>
            </a:r>
            <a:endParaRPr lang="en-US" sz="2800" dirty="0"/>
          </a:p>
        </p:txBody>
      </p:sp>
      <p:pic>
        <p:nvPicPr>
          <p:cNvPr id="4" name="Image 0" descr="clustering.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7AA8"/>
                </a:solidFill>
                <a:latin typeface="Arial" pitchFamily="34" charset="0"/>
                <a:ea typeface="Arial" pitchFamily="34" charset="-122"/>
                <a:cs typeface="Arial" pitchFamily="34" charset="-120"/>
              </a:rPr>
              <a:t>THE DESIGN CHOICE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not just collect everything and group it at the end?</a:t>
            </a:r>
            <a:endParaRPr lang="en-US" sz="3400" dirty="0"/>
          </a:p>
        </p:txBody>
      </p:sp>
      <p:sp>
        <p:nvSpPr>
          <p:cNvPr id="4" name="Shape 2"/>
          <p:cNvSpPr/>
          <p:nvPr/>
        </p:nvSpPr>
        <p:spPr>
          <a:xfrm>
            <a:off x="566928" y="1554480"/>
            <a:ext cx="5394960" cy="3291840"/>
          </a:xfrm>
          <a:prstGeom prst="roundRect">
            <a:avLst>
              <a:gd name="adj" fmla="val 3889"/>
            </a:avLst>
          </a:prstGeom>
          <a:solidFill>
            <a:srgbClr val="1A2350"/>
          </a:solidFill>
          <a:ln w="25400">
            <a:solidFill>
              <a:srgbClr val="FF7AA8"/>
            </a:solidFill>
            <a:prstDash val="solid"/>
          </a:ln>
        </p:spPr>
      </p:sp>
      <p:sp>
        <p:nvSpPr>
          <p:cNvPr id="5" name="Text 3"/>
          <p:cNvSpPr/>
          <p:nvPr/>
        </p:nvSpPr>
        <p:spPr>
          <a:xfrm>
            <a:off x="886968" y="1755648"/>
            <a:ext cx="4754880" cy="411480"/>
          </a:xfrm>
          <a:prstGeom prst="rect">
            <a:avLst/>
          </a:prstGeom>
          <a:noFill/>
          <a:ln/>
        </p:spPr>
        <p:txBody>
          <a:bodyPr wrap="square" lIns="0" tIns="0" rIns="0" bIns="0" rtlCol="0" anchor="ctr"/>
          <a:lstStyle/>
          <a:p>
            <a:pPr indent="0" marL="0">
              <a:buNone/>
            </a:pPr>
            <a:r>
              <a:rPr lang="en-US" sz="1900" b="1" dirty="0">
                <a:solidFill>
                  <a:srgbClr val="FF7AA8"/>
                </a:solidFill>
                <a:latin typeface="Arial" pitchFamily="34" charset="0"/>
                <a:ea typeface="Arial" pitchFamily="34" charset="-122"/>
                <a:cs typeface="Arial" pitchFamily="34" charset="-120"/>
              </a:rPr>
              <a:t>One big pass</a:t>
            </a:r>
            <a:endParaRPr lang="en-US" sz="1900" dirty="0"/>
          </a:p>
        </p:txBody>
      </p:sp>
      <p:sp>
        <p:nvSpPr>
          <p:cNvPr id="6" name="Text 4"/>
          <p:cNvSpPr/>
          <p:nvPr/>
        </p:nvSpPr>
        <p:spPr>
          <a:xfrm>
            <a:off x="932688" y="22860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Needs every face in memory before it can start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Re-runs from scratch every time a photo is added</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Cost grows with the whole event, not with the new work</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4,000-photo upload means one enormous job</a:t>
            </a:r>
            <a:endParaRPr lang="en-US" sz="1400" dirty="0"/>
          </a:p>
        </p:txBody>
      </p:sp>
      <p:sp>
        <p:nvSpPr>
          <p:cNvPr id="7" name="Shape 5"/>
          <p:cNvSpPr/>
          <p:nvPr/>
        </p:nvSpPr>
        <p:spPr>
          <a:xfrm>
            <a:off x="6236208" y="1554480"/>
            <a:ext cx="5394960" cy="3291840"/>
          </a:xfrm>
          <a:prstGeom prst="roundRect">
            <a:avLst>
              <a:gd name="adj" fmla="val 3889"/>
            </a:avLst>
          </a:prstGeom>
          <a:solidFill>
            <a:srgbClr val="1A2350"/>
          </a:solidFill>
          <a:ln w="25400">
            <a:solidFill>
              <a:srgbClr val="3DD68C"/>
            </a:solidFill>
            <a:prstDash val="solid"/>
          </a:ln>
        </p:spPr>
      </p:sp>
      <p:sp>
        <p:nvSpPr>
          <p:cNvPr id="8" name="Text 6"/>
          <p:cNvSpPr/>
          <p:nvPr/>
        </p:nvSpPr>
        <p:spPr>
          <a:xfrm>
            <a:off x="6556248" y="1755648"/>
            <a:ext cx="4754880" cy="41148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One face at a time</a:t>
            </a:r>
            <a:endParaRPr lang="en-US" sz="1900" dirty="0"/>
          </a:p>
        </p:txBody>
      </p:sp>
      <p:sp>
        <p:nvSpPr>
          <p:cNvPr id="9" name="Text 7"/>
          <p:cNvSpPr/>
          <p:nvPr/>
        </p:nvSpPr>
        <p:spPr>
          <a:xfrm>
            <a:off x="6601968" y="22860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Starts the moment the first face exists</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new photo only asks about itself</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Cost is proportional to what actually arrived</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Fits a queue — which is what lets us pause the GPU mid-batch</a:t>
            </a:r>
            <a:endParaRPr lang="en-US" sz="1400" dirty="0"/>
          </a:p>
        </p:txBody>
      </p:sp>
      <p:sp>
        <p:nvSpPr>
          <p:cNvPr id="10" name="Shape 8"/>
          <p:cNvSpPr/>
          <p:nvPr/>
        </p:nvSpPr>
        <p:spPr>
          <a:xfrm>
            <a:off x="566928" y="5074920"/>
            <a:ext cx="11064240" cy="1280160"/>
          </a:xfrm>
          <a:prstGeom prst="roundRect">
            <a:avLst>
              <a:gd name="adj" fmla="val 10000"/>
            </a:avLst>
          </a:prstGeom>
          <a:solidFill>
            <a:srgbClr val="141B3E"/>
          </a:solidFill>
          <a:ln/>
        </p:spPr>
      </p:sp>
      <p:sp>
        <p:nvSpPr>
          <p:cNvPr id="11" name="Text 9"/>
          <p:cNvSpPr/>
          <p:nvPr/>
        </p:nvSpPr>
        <p:spPr>
          <a:xfrm>
            <a:off x="914400" y="5212080"/>
            <a:ext cx="103327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The incremental design is also what connects this deck to the last one: because clustering is a queue of tiny independent jobs, the machine running them is allowed to disappear halfway through and pick up where it left off.</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WHAT GOES WRONG, AND THE FIX</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safeguards that stop order from deciding identity</a:t>
            </a:r>
            <a:endParaRPr lang="en-US" sz="3400" dirty="0"/>
          </a:p>
        </p:txBody>
      </p:sp>
      <p:sp>
        <p:nvSpPr>
          <p:cNvPr id="4" name="Shape 2"/>
          <p:cNvSpPr/>
          <p:nvPr/>
        </p:nvSpPr>
        <p:spPr>
          <a:xfrm>
            <a:off x="566928" y="1508760"/>
            <a:ext cx="11064240" cy="1325880"/>
          </a:xfrm>
          <a:prstGeom prst="roundRect">
            <a:avLst>
              <a:gd name="adj" fmla="val 8276"/>
            </a:avLst>
          </a:prstGeom>
          <a:solidFill>
            <a:srgbClr val="1A2350"/>
          </a:solidFill>
          <a:ln w="25400">
            <a:solidFill>
              <a:srgbClr val="FF7AA8"/>
            </a:solidFill>
            <a:prstDash val="solid"/>
          </a:ln>
        </p:spPr>
      </p:sp>
      <p:sp>
        <p:nvSpPr>
          <p:cNvPr id="5" name="Text 3"/>
          <p:cNvSpPr/>
          <p:nvPr/>
        </p:nvSpPr>
        <p:spPr>
          <a:xfrm>
            <a:off x="914400" y="1673352"/>
            <a:ext cx="10332720" cy="365760"/>
          </a:xfrm>
          <a:prstGeom prst="rect">
            <a:avLst/>
          </a:prstGeom>
          <a:noFill/>
          <a:ln/>
        </p:spPr>
        <p:txBody>
          <a:bodyPr wrap="square" lIns="0" tIns="0" rIns="0" bIns="0" rtlCol="0" anchor="ctr"/>
          <a:lstStyle/>
          <a:p>
            <a:pPr indent="0" marL="0">
              <a:buNone/>
            </a:pPr>
            <a:r>
              <a:rPr lang="en-US" sz="1900" b="1" dirty="0">
                <a:solidFill>
                  <a:srgbClr val="FF7AA8"/>
                </a:solidFill>
                <a:latin typeface="Arial" pitchFamily="34" charset="0"/>
                <a:ea typeface="Arial" pitchFamily="34" charset="-122"/>
                <a:cs typeface="Arial" pitchFamily="34" charset="-120"/>
              </a:rPr>
              <a:t>The problem</a:t>
            </a:r>
            <a:endParaRPr lang="en-US" sz="1900" dirty="0"/>
          </a:p>
        </p:txBody>
      </p:sp>
      <p:sp>
        <p:nvSpPr>
          <p:cNvPr id="6" name="Text 4"/>
          <p:cNvSpPr/>
          <p:nvPr/>
        </p:nvSpPr>
        <p:spPr>
          <a:xfrm>
            <a:off x="914400" y="207568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Faces are processed as they arrive. The very first face has nobody to compare against — not because it is alone, but because its neighbours have not been embedded yet.</a:t>
            </a:r>
            <a:endParaRPr lang="en-US" sz="1400" dirty="0"/>
          </a:p>
        </p:txBody>
      </p:sp>
      <p:sp>
        <p:nvSpPr>
          <p:cNvPr id="7" name="Shape 5"/>
          <p:cNvSpPr/>
          <p:nvPr/>
        </p:nvSpPr>
        <p:spPr>
          <a:xfrm>
            <a:off x="566928" y="3017520"/>
            <a:ext cx="11064240" cy="1325880"/>
          </a:xfrm>
          <a:prstGeom prst="roundRect">
            <a:avLst>
              <a:gd name="adj" fmla="val 8276"/>
            </a:avLst>
          </a:prstGeom>
          <a:solidFill>
            <a:srgbClr val="1A2350"/>
          </a:solidFill>
          <a:ln w="25400">
            <a:solidFill>
              <a:srgbClr val="FFB020"/>
            </a:solidFill>
            <a:prstDash val="solid"/>
          </a:ln>
        </p:spPr>
      </p:sp>
      <p:sp>
        <p:nvSpPr>
          <p:cNvPr id="8" name="Text 6"/>
          <p:cNvSpPr/>
          <p:nvPr/>
        </p:nvSpPr>
        <p:spPr>
          <a:xfrm>
            <a:off x="914400" y="318211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Safeguard 1 — the two-pass trick</a:t>
            </a:r>
            <a:endParaRPr lang="en-US" sz="1900" dirty="0"/>
          </a:p>
        </p:txBody>
      </p:sp>
      <p:sp>
        <p:nvSpPr>
          <p:cNvPr id="9" name="Text 7"/>
          <p:cNvSpPr/>
          <p:nvPr/>
        </p:nvSpPr>
        <p:spPr>
          <a:xfrm>
            <a:off x="914400" y="358444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A face with too few neighbours is not judged immediately. It is deferred and run again after the confident faces have finished creating people. Order of arrival must not decide who you are.</a:t>
            </a:r>
            <a:endParaRPr lang="en-US" sz="1400" dirty="0"/>
          </a:p>
        </p:txBody>
      </p:sp>
      <p:sp>
        <p:nvSpPr>
          <p:cNvPr id="10" name="Shape 8"/>
          <p:cNvSpPr/>
          <p:nvPr/>
        </p:nvSpPr>
        <p:spPr>
          <a:xfrm>
            <a:off x="566928" y="4526280"/>
            <a:ext cx="11064240" cy="1325880"/>
          </a:xfrm>
          <a:prstGeom prst="roundRect">
            <a:avLst>
              <a:gd name="adj" fmla="val 8276"/>
            </a:avLst>
          </a:prstGeom>
          <a:solidFill>
            <a:srgbClr val="1A2350"/>
          </a:solidFill>
          <a:ln w="25400">
            <a:solidFill>
              <a:srgbClr val="3DD68C"/>
            </a:solidFill>
            <a:prstDash val="solid"/>
          </a:ln>
        </p:spPr>
      </p:sp>
      <p:sp>
        <p:nvSpPr>
          <p:cNvPr id="11" name="Text 9"/>
          <p:cNvSpPr/>
          <p:nvPr/>
        </p:nvSpPr>
        <p:spPr>
          <a:xfrm>
            <a:off x="914400" y="4690872"/>
            <a:ext cx="10332720" cy="36576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Safeguard 2 — minFaces</a:t>
            </a:r>
            <a:endParaRPr lang="en-US" sz="1900" dirty="0"/>
          </a:p>
        </p:txBody>
      </p:sp>
      <p:sp>
        <p:nvSpPr>
          <p:cNvPr id="12" name="Text 10"/>
          <p:cNvSpPr/>
          <p:nvPr/>
        </p:nvSpPr>
        <p:spPr>
          <a:xfrm>
            <a:off x="914400" y="509320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How many faces must agree before a cluster is allowed to exist at all. Default 1, because at a small event a real guest may genuinely appear in exactly one photo. Raise it per event when single-photo people get noisy.</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4C6FFF"/>
                </a:solidFill>
                <a:latin typeface="Arial" pitchFamily="34" charset="0"/>
                <a:ea typeface="Arial" pitchFamily="34" charset="-122"/>
                <a:cs typeface="Arial" pitchFamily="34" charset="-120"/>
              </a:rPr>
              <a:t>A DISTINCTION WORTH DRAWING</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Clustering and selfie-matching are not the same job</a:t>
            </a:r>
            <a:endParaRPr lang="en-US" sz="3400" dirty="0"/>
          </a:p>
        </p:txBody>
      </p:sp>
      <p:sp>
        <p:nvSpPr>
          <p:cNvPr id="4" name="Shape 2"/>
          <p:cNvSpPr/>
          <p:nvPr/>
        </p:nvSpPr>
        <p:spPr>
          <a:xfrm>
            <a:off x="566928" y="1554480"/>
            <a:ext cx="5394960" cy="3657600"/>
          </a:xfrm>
          <a:prstGeom prst="roundRect">
            <a:avLst>
              <a:gd name="adj" fmla="val 3500"/>
            </a:avLst>
          </a:prstGeom>
          <a:solidFill>
            <a:srgbClr val="1A2350"/>
          </a:solidFill>
          <a:ln w="25400">
            <a:solidFill>
              <a:srgbClr val="FF7AA8"/>
            </a:solidFill>
            <a:prstDash val="solid"/>
          </a:ln>
        </p:spPr>
      </p:sp>
      <p:sp>
        <p:nvSpPr>
          <p:cNvPr id="5" name="Text 3"/>
          <p:cNvSpPr/>
          <p:nvPr/>
        </p:nvSpPr>
        <p:spPr>
          <a:xfrm>
            <a:off x="886968" y="1755648"/>
            <a:ext cx="4754880" cy="365760"/>
          </a:xfrm>
          <a:prstGeom prst="rect">
            <a:avLst/>
          </a:prstGeom>
          <a:noFill/>
          <a:ln/>
        </p:spPr>
        <p:txBody>
          <a:bodyPr wrap="square" lIns="0" tIns="0" rIns="0" bIns="0" rtlCol="0" anchor="ctr"/>
          <a:lstStyle/>
          <a:p>
            <a:pPr indent="0" marL="0">
              <a:buNone/>
            </a:pPr>
            <a:r>
              <a:rPr lang="en-US" sz="1900" b="1" dirty="0">
                <a:solidFill>
                  <a:srgbClr val="FF7AA8"/>
                </a:solidFill>
                <a:latin typeface="Arial" pitchFamily="34" charset="0"/>
                <a:ea typeface="Arial" pitchFamily="34" charset="-122"/>
                <a:cs typeface="Arial" pitchFamily="34" charset="-120"/>
              </a:rPr>
              <a:t>Clustering</a:t>
            </a:r>
            <a:endParaRPr lang="en-US" sz="1900" dirty="0"/>
          </a:p>
        </p:txBody>
      </p:sp>
      <p:sp>
        <p:nvSpPr>
          <p:cNvPr id="6" name="Text 4"/>
          <p:cNvSpPr/>
          <p:nvPr/>
        </p:nvSpPr>
        <p:spPr>
          <a:xfrm>
            <a:off x="886968" y="2148840"/>
            <a:ext cx="4754880" cy="36576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“Who is in this event at all?”</a:t>
            </a:r>
            <a:endParaRPr lang="en-US" sz="1500" dirty="0"/>
          </a:p>
        </p:txBody>
      </p:sp>
      <p:sp>
        <p:nvSpPr>
          <p:cNvPr id="7" name="Text 5"/>
          <p:cNvSpPr/>
          <p:nvPr/>
        </p:nvSpPr>
        <p:spPr>
          <a:xfrm>
            <a:off x="932688" y="265176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Runs on faces already in the database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Compares faces to each other</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Produces anonymous “people” the organiser can name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Happens automatically, in the background</a:t>
            </a:r>
            <a:endParaRPr lang="en-US" sz="1400" dirty="0"/>
          </a:p>
        </p:txBody>
      </p:sp>
      <p:sp>
        <p:nvSpPr>
          <p:cNvPr id="8" name="Shape 6"/>
          <p:cNvSpPr/>
          <p:nvPr/>
        </p:nvSpPr>
        <p:spPr>
          <a:xfrm>
            <a:off x="6236208" y="1554480"/>
            <a:ext cx="5394960" cy="3657600"/>
          </a:xfrm>
          <a:prstGeom prst="roundRect">
            <a:avLst>
              <a:gd name="adj" fmla="val 3500"/>
            </a:avLst>
          </a:prstGeom>
          <a:solidFill>
            <a:srgbClr val="1A2350"/>
          </a:solidFill>
          <a:ln w="25400">
            <a:solidFill>
              <a:srgbClr val="3DD68C"/>
            </a:solidFill>
            <a:prstDash val="solid"/>
          </a:ln>
        </p:spPr>
      </p:sp>
      <p:sp>
        <p:nvSpPr>
          <p:cNvPr id="9" name="Text 7"/>
          <p:cNvSpPr/>
          <p:nvPr/>
        </p:nvSpPr>
        <p:spPr>
          <a:xfrm>
            <a:off x="6556248" y="1755648"/>
            <a:ext cx="4754880" cy="36576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Selfie matching</a:t>
            </a:r>
            <a:endParaRPr lang="en-US" sz="1900" dirty="0"/>
          </a:p>
        </p:txBody>
      </p:sp>
      <p:sp>
        <p:nvSpPr>
          <p:cNvPr id="10" name="Text 8"/>
          <p:cNvSpPr/>
          <p:nvPr/>
        </p:nvSpPr>
        <p:spPr>
          <a:xfrm>
            <a:off x="6556248" y="2148840"/>
            <a:ext cx="4754880" cy="36576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“Which of these people is me?”</a:t>
            </a:r>
            <a:endParaRPr lang="en-US" sz="1500" dirty="0"/>
          </a:p>
        </p:txBody>
      </p:sp>
      <p:sp>
        <p:nvSpPr>
          <p:cNvPr id="11" name="Text 9"/>
          <p:cNvSpPr/>
          <p:nvPr/>
        </p:nvSpPr>
        <p:spPr>
          <a:xfrm>
            <a:off x="6601968" y="265176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Runs on one selfie a guest just submitted</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Compares that one vector against the event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Produces a tokenised gallery and an email</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Happens on demand, while someone waits</a:t>
            </a:r>
            <a:endParaRPr lang="en-US" sz="1400" dirty="0"/>
          </a:p>
        </p:txBody>
      </p:sp>
      <p:sp>
        <p:nvSpPr>
          <p:cNvPr id="12" name="Shape 10"/>
          <p:cNvSpPr/>
          <p:nvPr/>
        </p:nvSpPr>
        <p:spPr>
          <a:xfrm>
            <a:off x="566928" y="5440680"/>
            <a:ext cx="11064240" cy="1051560"/>
          </a:xfrm>
          <a:prstGeom prst="roundRect">
            <a:avLst>
              <a:gd name="adj" fmla="val 12174"/>
            </a:avLst>
          </a:prstGeom>
          <a:solidFill>
            <a:srgbClr val="141B3E"/>
          </a:solidFill>
          <a:ln/>
        </p:spPr>
      </p:sp>
      <p:sp>
        <p:nvSpPr>
          <p:cNvPr id="13" name="Text 11"/>
          <p:cNvSpPr/>
          <p:nvPr/>
        </p:nvSpPr>
        <p:spPr>
          <a:xfrm>
            <a:off x="914400" y="5532120"/>
            <a:ext cx="10332720" cy="8686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Same embeddings, same distance metric, same threshold — two completely different user-facing features. That reuse is the payoff for having turned faces into numbers in the first place.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THE INVARIANT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 one of these searches is fenced to one event</a:t>
            </a:r>
            <a:endParaRPr lang="en-US" sz="3400" dirty="0"/>
          </a:p>
        </p:txBody>
      </p:sp>
      <p:sp>
        <p:nvSpPr>
          <p:cNvPr id="4" name="Shape 2"/>
          <p:cNvSpPr/>
          <p:nvPr/>
        </p:nvSpPr>
        <p:spPr>
          <a:xfrm>
            <a:off x="566928" y="1463040"/>
            <a:ext cx="11064240" cy="1188720"/>
          </a:xfrm>
          <a:prstGeom prst="roundRect">
            <a:avLst>
              <a:gd name="adj" fmla="val 10769"/>
            </a:avLst>
          </a:prstGeom>
          <a:solidFill>
            <a:srgbClr val="141B3E"/>
          </a:solidFill>
          <a:ln w="31750">
            <a:solidFill>
              <a:srgbClr val="3DD68C"/>
            </a:solidFill>
            <a:prstDash val="solid"/>
          </a:ln>
        </p:spPr>
      </p:sp>
      <p:sp>
        <p:nvSpPr>
          <p:cNvPr id="5" name="Text 3"/>
          <p:cNvSpPr/>
          <p:nvPr/>
        </p:nvSpPr>
        <p:spPr>
          <a:xfrm>
            <a:off x="914400" y="1572768"/>
            <a:ext cx="10332720" cy="9601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event id is part of the query, not a filter applied to the results. A face from last month’s wedding is not removed from the answer — it was never a candidate for it.</a:t>
            </a:r>
            <a:endParaRPr lang="en-US" sz="1700" dirty="0"/>
          </a:p>
        </p:txBody>
      </p:sp>
      <p:sp>
        <p:nvSpPr>
          <p:cNvPr id="6" name="Shape 4"/>
          <p:cNvSpPr/>
          <p:nvPr/>
        </p:nvSpPr>
        <p:spPr>
          <a:xfrm>
            <a:off x="566928" y="2880360"/>
            <a:ext cx="3520440" cy="2743200"/>
          </a:xfrm>
          <a:prstGeom prst="roundRect">
            <a:avLst>
              <a:gd name="adj" fmla="val 4667"/>
            </a:avLst>
          </a:prstGeom>
          <a:solidFill>
            <a:srgbClr val="1A2350"/>
          </a:solidFill>
          <a:ln w="25400">
            <a:solidFill>
              <a:srgbClr val="FF7AA8"/>
            </a:solidFill>
            <a:prstDash val="solid"/>
          </a:ln>
        </p:spPr>
      </p:sp>
      <p:sp>
        <p:nvSpPr>
          <p:cNvPr id="7" name="Shape 5"/>
          <p:cNvSpPr/>
          <p:nvPr/>
        </p:nvSpPr>
        <p:spPr>
          <a:xfrm>
            <a:off x="841248" y="3108960"/>
            <a:ext cx="365760" cy="365760"/>
          </a:xfrm>
          <a:prstGeom prst="ellipse">
            <a:avLst/>
          </a:prstGeom>
          <a:solidFill>
            <a:srgbClr val="FF7AA8"/>
          </a:solidFill>
          <a:ln/>
        </p:spPr>
      </p:sp>
      <p:sp>
        <p:nvSpPr>
          <p:cNvPr id="8" name="Text 6"/>
          <p:cNvSpPr/>
          <p:nvPr/>
        </p:nvSpPr>
        <p:spPr>
          <a:xfrm>
            <a:off x="84124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841248" y="3611880"/>
            <a:ext cx="2971800" cy="685800"/>
          </a:xfrm>
          <a:prstGeom prst="rect">
            <a:avLst/>
          </a:prstGeom>
          <a:noFill/>
          <a:ln/>
        </p:spPr>
        <p:txBody>
          <a:bodyPr wrap="square" lIns="0" tIns="0" rIns="0" bIns="0" rtlCol="0" anchor="ctr"/>
          <a:lstStyle/>
          <a:p>
            <a:pPr indent="0" marL="0">
              <a:buNone/>
            </a:pPr>
            <a:r>
              <a:rPr lang="en-US" sz="1600" b="1" dirty="0">
                <a:solidFill>
                  <a:srgbClr val="FF7AA8"/>
                </a:solidFill>
                <a:latin typeface="Arial" pitchFamily="34" charset="0"/>
                <a:ea typeface="Arial" pitchFamily="34" charset="-122"/>
                <a:cs typeface="Arial" pitchFamily="34" charset="-120"/>
              </a:rPr>
              <a:t>Why it matters here specifically</a:t>
            </a:r>
            <a:endParaRPr lang="en-US" sz="1600" dirty="0"/>
          </a:p>
        </p:txBody>
      </p:sp>
      <p:sp>
        <p:nvSpPr>
          <p:cNvPr id="10" name="Text 8"/>
          <p:cNvSpPr/>
          <p:nvPr/>
        </p:nvSpPr>
        <p:spPr>
          <a:xfrm>
            <a:off x="84124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same person really does attend two different events. Without the fence, one selfie would reach across both — and hand someone photos from a party they never went to.</a:t>
            </a:r>
            <a:endParaRPr lang="en-US" sz="1300" dirty="0"/>
          </a:p>
        </p:txBody>
      </p:sp>
      <p:sp>
        <p:nvSpPr>
          <p:cNvPr id="11" name="Shape 9"/>
          <p:cNvSpPr/>
          <p:nvPr/>
        </p:nvSpPr>
        <p:spPr>
          <a:xfrm>
            <a:off x="4270248" y="2880360"/>
            <a:ext cx="3520440" cy="2743200"/>
          </a:xfrm>
          <a:prstGeom prst="roundRect">
            <a:avLst>
              <a:gd name="adj" fmla="val 4667"/>
            </a:avLst>
          </a:prstGeom>
          <a:solidFill>
            <a:srgbClr val="1A2350"/>
          </a:solidFill>
          <a:ln w="25400">
            <a:solidFill>
              <a:srgbClr val="FFB020"/>
            </a:solidFill>
            <a:prstDash val="solid"/>
          </a:ln>
        </p:spPr>
      </p:sp>
      <p:sp>
        <p:nvSpPr>
          <p:cNvPr id="12" name="Shape 10"/>
          <p:cNvSpPr/>
          <p:nvPr/>
        </p:nvSpPr>
        <p:spPr>
          <a:xfrm>
            <a:off x="4544568" y="3108960"/>
            <a:ext cx="365760" cy="365760"/>
          </a:xfrm>
          <a:prstGeom prst="ellipse">
            <a:avLst/>
          </a:prstGeom>
          <a:solidFill>
            <a:srgbClr val="FFB020"/>
          </a:solidFill>
          <a:ln/>
        </p:spPr>
      </p:sp>
      <p:sp>
        <p:nvSpPr>
          <p:cNvPr id="13" name="Text 11"/>
          <p:cNvSpPr/>
          <p:nvPr/>
        </p:nvSpPr>
        <p:spPr>
          <a:xfrm>
            <a:off x="454456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4544568" y="3611880"/>
            <a:ext cx="2971800" cy="685800"/>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Why a filter is not enough</a:t>
            </a:r>
            <a:endParaRPr lang="en-US" sz="1600" dirty="0"/>
          </a:p>
        </p:txBody>
      </p:sp>
      <p:sp>
        <p:nvSpPr>
          <p:cNvPr id="15" name="Text 13"/>
          <p:cNvSpPr/>
          <p:nvPr/>
        </p:nvSpPr>
        <p:spPr>
          <a:xfrm>
            <a:off x="454456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filter is a step someone can forget during a refactor. A scoped query cannot silently lose its scope without the query itself changing.</a:t>
            </a:r>
            <a:endParaRPr lang="en-US" sz="1300" dirty="0"/>
          </a:p>
        </p:txBody>
      </p:sp>
      <p:sp>
        <p:nvSpPr>
          <p:cNvPr id="16" name="Shape 14"/>
          <p:cNvSpPr/>
          <p:nvPr/>
        </p:nvSpPr>
        <p:spPr>
          <a:xfrm>
            <a:off x="7973568" y="2880360"/>
            <a:ext cx="3520440" cy="2743200"/>
          </a:xfrm>
          <a:prstGeom prst="roundRect">
            <a:avLst>
              <a:gd name="adj" fmla="val 4667"/>
            </a:avLst>
          </a:prstGeom>
          <a:solidFill>
            <a:srgbClr val="1A2350"/>
          </a:solidFill>
          <a:ln w="25400">
            <a:solidFill>
              <a:srgbClr val="3DD68C"/>
            </a:solidFill>
            <a:prstDash val="solid"/>
          </a:ln>
        </p:spPr>
      </p:sp>
      <p:sp>
        <p:nvSpPr>
          <p:cNvPr id="17" name="Shape 15"/>
          <p:cNvSpPr/>
          <p:nvPr/>
        </p:nvSpPr>
        <p:spPr>
          <a:xfrm>
            <a:off x="8247888" y="3108960"/>
            <a:ext cx="365760" cy="365760"/>
          </a:xfrm>
          <a:prstGeom prst="ellipse">
            <a:avLst/>
          </a:prstGeom>
          <a:solidFill>
            <a:srgbClr val="3DD68C"/>
          </a:solidFill>
          <a:ln/>
        </p:spPr>
      </p:sp>
      <p:sp>
        <p:nvSpPr>
          <p:cNvPr id="18" name="Text 16"/>
          <p:cNvSpPr/>
          <p:nvPr/>
        </p:nvSpPr>
        <p:spPr>
          <a:xfrm>
            <a:off x="824788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8247888" y="3611880"/>
            <a:ext cx="2971800" cy="685800"/>
          </a:xfrm>
          <a:prstGeom prst="rect">
            <a:avLst/>
          </a:prstGeom>
          <a:noFill/>
          <a:ln/>
        </p:spPr>
        <p:txBody>
          <a:bodyPr wrap="square" lIns="0" tIns="0" rIns="0" bIns="0" rtlCol="0" anchor="ctr"/>
          <a:lstStyle/>
          <a:p>
            <a:pPr indent="0" marL="0">
              <a:buNone/>
            </a:pPr>
            <a:r>
              <a:rPr lang="en-US" sz="1600" b="1" dirty="0">
                <a:solidFill>
                  <a:srgbClr val="3DD68C"/>
                </a:solidFill>
                <a:latin typeface="Arial" pitchFamily="34" charset="0"/>
                <a:ea typeface="Arial" pitchFamily="34" charset="-122"/>
                <a:cs typeface="Arial" pitchFamily="34" charset="-120"/>
              </a:rPr>
              <a:t>How we keep it true</a:t>
            </a:r>
            <a:endParaRPr lang="en-US" sz="1600" dirty="0"/>
          </a:p>
        </p:txBody>
      </p:sp>
      <p:sp>
        <p:nvSpPr>
          <p:cNvPr id="20" name="Text 18"/>
          <p:cNvSpPr/>
          <p:nvPr/>
        </p:nvSpPr>
        <p:spPr>
          <a:xfrm>
            <a:off x="824788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test/face-isolation.spec.ts seeds two events with the same person and asserts nothing crosses. If anyone breaks it, the build goes red before a person does.</a:t>
            </a:r>
            <a:endParaRPr lang="en-US" sz="1300" dirty="0"/>
          </a:p>
        </p:txBody>
      </p:sp>
      <p:sp>
        <p:nvSpPr>
          <p:cNvPr id="21" name="Text 19"/>
          <p:cNvSpPr/>
          <p:nvPr/>
        </p:nvSpPr>
        <p:spPr>
          <a:xfrm>
            <a:off x="566928" y="5897880"/>
            <a:ext cx="11064240" cy="411480"/>
          </a:xfrm>
          <a:prstGeom prst="rect">
            <a:avLst/>
          </a:prstGeom>
          <a:noFill/>
          <a:ln/>
        </p:spPr>
        <p:txBody>
          <a:bodyPr wrap="square" lIns="0" tIns="0" rIns="0" bIns="0" rtlCol="0" anchor="ctr"/>
          <a:lstStyle/>
          <a:p>
            <a:pPr indent="0" marL="0">
              <a:buNone/>
            </a:pPr>
            <a:r>
              <a:rPr lang="en-US" sz="1600" b="1" i="1" dirty="0">
                <a:solidFill>
                  <a:srgbClr val="3DD68C"/>
                </a:solidFill>
                <a:latin typeface="Arial" pitchFamily="34" charset="0"/>
                <a:ea typeface="Arial" pitchFamily="34" charset="-122"/>
                <a:cs typeface="Arial" pitchFamily="34" charset="-120"/>
              </a:rPr>
              <a:t>Privacy rules belong in tests, not comments.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BE HONEST ABOUT THIS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512 numbers stop being enough</a:t>
            </a:r>
            <a:endParaRPr lang="en-US" sz="3400" dirty="0"/>
          </a:p>
        </p:txBody>
      </p:sp>
      <p:sp>
        <p:nvSpPr>
          <p:cNvPr id="4" name="Shape 2"/>
          <p:cNvSpPr/>
          <p:nvPr/>
        </p:nvSpPr>
        <p:spPr>
          <a:xfrm>
            <a:off x="566928" y="1508760"/>
            <a:ext cx="3520440" cy="1874520"/>
          </a:xfrm>
          <a:prstGeom prst="roundRect">
            <a:avLst>
              <a:gd name="adj" fmla="val 5854"/>
            </a:avLst>
          </a:prstGeom>
          <a:solidFill>
            <a:srgbClr val="1A2350"/>
          </a:solidFill>
          <a:ln w="19050">
            <a:solidFill>
              <a:srgbClr val="FF7AA8"/>
            </a:solidFill>
            <a:prstDash val="solid"/>
          </a:ln>
        </p:spPr>
      </p:sp>
      <p:sp>
        <p:nvSpPr>
          <p:cNvPr id="5" name="Text 3"/>
          <p:cNvSpPr/>
          <p:nvPr/>
        </p:nvSpPr>
        <p:spPr>
          <a:xfrm>
            <a:off x="841248" y="1737360"/>
            <a:ext cx="2971800" cy="365760"/>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Identical twins</a:t>
            </a:r>
            <a:endParaRPr lang="en-US" sz="1700" dirty="0"/>
          </a:p>
        </p:txBody>
      </p:sp>
      <p:sp>
        <p:nvSpPr>
          <p:cNvPr id="6" name="Text 4"/>
          <p:cNvSpPr/>
          <p:nvPr/>
        </p:nvSpPr>
        <p:spPr>
          <a:xfrm>
            <a:off x="84124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Genuinely close in the space. No threshold separates them cleanly.</a:t>
            </a:r>
            <a:endParaRPr lang="en-US" sz="1300" dirty="0"/>
          </a:p>
        </p:txBody>
      </p:sp>
      <p:sp>
        <p:nvSpPr>
          <p:cNvPr id="7" name="Shape 5"/>
          <p:cNvSpPr/>
          <p:nvPr/>
        </p:nvSpPr>
        <p:spPr>
          <a:xfrm>
            <a:off x="4270248" y="1508760"/>
            <a:ext cx="3520440" cy="1874520"/>
          </a:xfrm>
          <a:prstGeom prst="roundRect">
            <a:avLst>
              <a:gd name="adj" fmla="val 5854"/>
            </a:avLst>
          </a:prstGeom>
          <a:solidFill>
            <a:srgbClr val="1A2350"/>
          </a:solidFill>
          <a:ln w="19050">
            <a:solidFill>
              <a:srgbClr val="FFB020"/>
            </a:solidFill>
            <a:prstDash val="solid"/>
          </a:ln>
        </p:spPr>
      </p:sp>
      <p:sp>
        <p:nvSpPr>
          <p:cNvPr id="8" name="Text 6"/>
          <p:cNvSpPr/>
          <p:nvPr/>
        </p:nvSpPr>
        <p:spPr>
          <a:xfrm>
            <a:off x="4544568" y="1737360"/>
            <a:ext cx="297180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Faces too small</a:t>
            </a:r>
            <a:endParaRPr lang="en-US" sz="1700" dirty="0"/>
          </a:p>
        </p:txBody>
      </p:sp>
      <p:sp>
        <p:nvSpPr>
          <p:cNvPr id="9" name="Text 7"/>
          <p:cNvSpPr/>
          <p:nvPr/>
        </p:nvSpPr>
        <p:spPr>
          <a:xfrm>
            <a:off x="454456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face 20 pixels across carries almost no signal. It fails minScore, or worse, scrapes past it.</a:t>
            </a:r>
            <a:endParaRPr lang="en-US" sz="1300" dirty="0"/>
          </a:p>
        </p:txBody>
      </p:sp>
      <p:sp>
        <p:nvSpPr>
          <p:cNvPr id="10" name="Shape 8"/>
          <p:cNvSpPr/>
          <p:nvPr/>
        </p:nvSpPr>
        <p:spPr>
          <a:xfrm>
            <a:off x="7973568" y="1508760"/>
            <a:ext cx="3520440" cy="1874520"/>
          </a:xfrm>
          <a:prstGeom prst="roundRect">
            <a:avLst>
              <a:gd name="adj" fmla="val 5854"/>
            </a:avLst>
          </a:prstGeom>
          <a:solidFill>
            <a:srgbClr val="1A2350"/>
          </a:solidFill>
          <a:ln w="19050">
            <a:solidFill>
              <a:srgbClr val="FFB020"/>
            </a:solidFill>
            <a:prstDash val="solid"/>
          </a:ln>
        </p:spPr>
      </p:sp>
      <p:sp>
        <p:nvSpPr>
          <p:cNvPr id="11" name="Text 9"/>
          <p:cNvSpPr/>
          <p:nvPr/>
        </p:nvSpPr>
        <p:spPr>
          <a:xfrm>
            <a:off x="8247888" y="1737360"/>
            <a:ext cx="297180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Hard profiles</a:t>
            </a:r>
            <a:endParaRPr lang="en-US" sz="1700" dirty="0"/>
          </a:p>
        </p:txBody>
      </p:sp>
      <p:sp>
        <p:nvSpPr>
          <p:cNvPr id="12" name="Text 10"/>
          <p:cNvSpPr/>
          <p:nvPr/>
        </p:nvSpPr>
        <p:spPr>
          <a:xfrm>
            <a:off x="824788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Alignment needs landmarks. A face turned fully sideways has too few to straighten.</a:t>
            </a:r>
            <a:endParaRPr lang="en-US" sz="1300" dirty="0"/>
          </a:p>
        </p:txBody>
      </p:sp>
      <p:sp>
        <p:nvSpPr>
          <p:cNvPr id="13" name="Shape 11"/>
          <p:cNvSpPr/>
          <p:nvPr/>
        </p:nvSpPr>
        <p:spPr>
          <a:xfrm>
            <a:off x="566928" y="3611880"/>
            <a:ext cx="3520440" cy="1874520"/>
          </a:xfrm>
          <a:prstGeom prst="roundRect">
            <a:avLst>
              <a:gd name="adj" fmla="val 5854"/>
            </a:avLst>
          </a:prstGeom>
          <a:solidFill>
            <a:srgbClr val="1A2350"/>
          </a:solidFill>
          <a:ln w="19050">
            <a:solidFill>
              <a:srgbClr val="4C6FFF"/>
            </a:solidFill>
            <a:prstDash val="solid"/>
          </a:ln>
        </p:spPr>
      </p:sp>
      <p:sp>
        <p:nvSpPr>
          <p:cNvPr id="14" name="Text 12"/>
          <p:cNvSpPr/>
          <p:nvPr/>
        </p:nvSpPr>
        <p:spPr>
          <a:xfrm>
            <a:off x="841248" y="3840480"/>
            <a:ext cx="297180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Heavy occlusion</a:t>
            </a:r>
            <a:endParaRPr lang="en-US" sz="1700" dirty="0"/>
          </a:p>
        </p:txBody>
      </p:sp>
      <p:sp>
        <p:nvSpPr>
          <p:cNvPr id="15" name="Text 13"/>
          <p:cNvSpPr/>
          <p:nvPr/>
        </p:nvSpPr>
        <p:spPr>
          <a:xfrm>
            <a:off x="84124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Masks, big sunglasses, a hand across the face — each removes a chunk of what the model measures.</a:t>
            </a:r>
            <a:endParaRPr lang="en-US" sz="1300" dirty="0"/>
          </a:p>
        </p:txBody>
      </p:sp>
      <p:sp>
        <p:nvSpPr>
          <p:cNvPr id="16" name="Shape 14"/>
          <p:cNvSpPr/>
          <p:nvPr/>
        </p:nvSpPr>
        <p:spPr>
          <a:xfrm>
            <a:off x="4270248" y="3611880"/>
            <a:ext cx="3520440" cy="1874520"/>
          </a:xfrm>
          <a:prstGeom prst="roundRect">
            <a:avLst>
              <a:gd name="adj" fmla="val 5854"/>
            </a:avLst>
          </a:prstGeom>
          <a:solidFill>
            <a:srgbClr val="1A2350"/>
          </a:solidFill>
          <a:ln w="19050">
            <a:solidFill>
              <a:srgbClr val="4C6FFF"/>
            </a:solidFill>
            <a:prstDash val="solid"/>
          </a:ln>
        </p:spPr>
      </p:sp>
      <p:sp>
        <p:nvSpPr>
          <p:cNvPr id="17" name="Text 15"/>
          <p:cNvSpPr/>
          <p:nvPr/>
        </p:nvSpPr>
        <p:spPr>
          <a:xfrm>
            <a:off x="4544568" y="3840480"/>
            <a:ext cx="297180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Extreme lighting</a:t>
            </a:r>
            <a:endParaRPr lang="en-US" sz="1700" dirty="0"/>
          </a:p>
        </p:txBody>
      </p:sp>
      <p:sp>
        <p:nvSpPr>
          <p:cNvPr id="18" name="Text 16"/>
          <p:cNvSpPr/>
          <p:nvPr/>
        </p:nvSpPr>
        <p:spPr>
          <a:xfrm>
            <a:off x="454456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Backlit or heavily blown-out faces drift. Normalisation helps; it does not fix it.</a:t>
            </a:r>
            <a:endParaRPr lang="en-US" sz="1300" dirty="0"/>
          </a:p>
        </p:txBody>
      </p:sp>
      <p:sp>
        <p:nvSpPr>
          <p:cNvPr id="19" name="Shape 17"/>
          <p:cNvSpPr/>
          <p:nvPr/>
        </p:nvSpPr>
        <p:spPr>
          <a:xfrm>
            <a:off x="7973568" y="3611880"/>
            <a:ext cx="3520440" cy="1874520"/>
          </a:xfrm>
          <a:prstGeom prst="roundRect">
            <a:avLst>
              <a:gd name="adj" fmla="val 5854"/>
            </a:avLst>
          </a:prstGeom>
          <a:solidFill>
            <a:srgbClr val="1A2350"/>
          </a:solidFill>
          <a:ln w="19050">
            <a:solidFill>
              <a:srgbClr val="A9BEFF"/>
            </a:solidFill>
            <a:prstDash val="solid"/>
          </a:ln>
        </p:spPr>
      </p:sp>
      <p:sp>
        <p:nvSpPr>
          <p:cNvPr id="20" name="Text 18"/>
          <p:cNvSpPr/>
          <p:nvPr/>
        </p:nvSpPr>
        <p:spPr>
          <a:xfrm>
            <a:off x="8247888" y="3840480"/>
            <a:ext cx="2971800" cy="365760"/>
          </a:xfrm>
          <a:prstGeom prst="rect">
            <a:avLst/>
          </a:prstGeom>
          <a:noFill/>
          <a:ln/>
        </p:spPr>
        <p:txBody>
          <a:bodyPr wrap="square" lIns="0" tIns="0" rIns="0" bIns="0" rtlCol="0" anchor="ctr"/>
          <a:lstStyle/>
          <a:p>
            <a:pPr indent="0" marL="0">
              <a:buNone/>
            </a:pPr>
            <a:r>
              <a:rPr lang="en-US" sz="1700" b="1" dirty="0">
                <a:solidFill>
                  <a:srgbClr val="A9BEFF"/>
                </a:solidFill>
                <a:latin typeface="Arial" pitchFamily="34" charset="0"/>
                <a:ea typeface="Arial" pitchFamily="34" charset="-122"/>
                <a:cs typeface="Arial" pitchFamily="34" charset="-120"/>
              </a:rPr>
              <a:t>Years apart</a:t>
            </a:r>
            <a:endParaRPr lang="en-US" sz="1700" dirty="0"/>
          </a:p>
        </p:txBody>
      </p:sp>
      <p:sp>
        <p:nvSpPr>
          <p:cNvPr id="21" name="Text 19"/>
          <p:cNvSpPr/>
          <p:nvPr/>
        </p:nvSpPr>
        <p:spPr>
          <a:xfrm>
            <a:off x="824788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child at 6 and at 12 will not land close. The model measures a face, not a person.</a:t>
            </a:r>
            <a:endParaRPr lang="en-US" sz="1300" dirty="0"/>
          </a:p>
        </p:txBody>
      </p:sp>
      <p:sp>
        <p:nvSpPr>
          <p:cNvPr id="22" name="Text 20"/>
          <p:cNvSpPr/>
          <p:nvPr/>
        </p:nvSpPr>
        <p:spPr>
          <a:xfrm>
            <a:off x="566928" y="5852160"/>
            <a:ext cx="11064240" cy="45720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Which is why an organiser can merge, split and rename people by hand — and why a participant can ask to be erased.</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IF YOU REMEMBER FIVE SENTENCES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whole deck, compressed</a:t>
            </a:r>
            <a:endParaRPr lang="en-US" sz="3400" dirty="0"/>
          </a:p>
        </p:txBody>
      </p:sp>
      <p:sp>
        <p:nvSpPr>
          <p:cNvPr id="4" name="Shape 2"/>
          <p:cNvSpPr/>
          <p:nvPr/>
        </p:nvSpPr>
        <p:spPr>
          <a:xfrm>
            <a:off x="566928" y="1463040"/>
            <a:ext cx="11064240" cy="841248"/>
          </a:xfrm>
          <a:prstGeom prst="roundRect">
            <a:avLst>
              <a:gd name="adj" fmla="val 10870"/>
            </a:avLst>
          </a:prstGeom>
          <a:solidFill>
            <a:srgbClr val="1A2350"/>
          </a:solidFill>
          <a:ln/>
        </p:spPr>
      </p:sp>
      <p:sp>
        <p:nvSpPr>
          <p:cNvPr id="5" name="Shape 3"/>
          <p:cNvSpPr/>
          <p:nvPr/>
        </p:nvSpPr>
        <p:spPr>
          <a:xfrm>
            <a:off x="822960" y="1673352"/>
            <a:ext cx="420624" cy="420624"/>
          </a:xfrm>
          <a:prstGeom prst="ellipse">
            <a:avLst/>
          </a:prstGeom>
          <a:solidFill>
            <a:srgbClr val="FFB020"/>
          </a:solidFill>
          <a:ln/>
        </p:spPr>
      </p:sp>
      <p:sp>
        <p:nvSpPr>
          <p:cNvPr id="6" name="Text 4"/>
          <p:cNvSpPr/>
          <p:nvPr/>
        </p:nvSpPr>
        <p:spPr>
          <a:xfrm>
            <a:off x="822960" y="167335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81328" y="1463040"/>
            <a:ext cx="9875520" cy="8412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A photo is never classified. Every face in it is found, cropped and straightened first.</a:t>
            </a:r>
            <a:endParaRPr lang="en-US" sz="1500" dirty="0"/>
          </a:p>
        </p:txBody>
      </p:sp>
      <p:sp>
        <p:nvSpPr>
          <p:cNvPr id="8" name="Shape 6"/>
          <p:cNvSpPr/>
          <p:nvPr/>
        </p:nvSpPr>
        <p:spPr>
          <a:xfrm>
            <a:off x="566928" y="2423160"/>
            <a:ext cx="11064240" cy="841248"/>
          </a:xfrm>
          <a:prstGeom prst="roundRect">
            <a:avLst>
              <a:gd name="adj" fmla="val 10870"/>
            </a:avLst>
          </a:prstGeom>
          <a:solidFill>
            <a:srgbClr val="1A2350"/>
          </a:solidFill>
          <a:ln/>
        </p:spPr>
      </p:sp>
      <p:sp>
        <p:nvSpPr>
          <p:cNvPr id="9" name="Shape 7"/>
          <p:cNvSpPr/>
          <p:nvPr/>
        </p:nvSpPr>
        <p:spPr>
          <a:xfrm>
            <a:off x="822960" y="2633472"/>
            <a:ext cx="420624" cy="420624"/>
          </a:xfrm>
          <a:prstGeom prst="ellipse">
            <a:avLst/>
          </a:prstGeom>
          <a:solidFill>
            <a:srgbClr val="A9BEFF"/>
          </a:solidFill>
          <a:ln/>
        </p:spPr>
      </p:sp>
      <p:sp>
        <p:nvSpPr>
          <p:cNvPr id="10" name="Text 8"/>
          <p:cNvSpPr/>
          <p:nvPr/>
        </p:nvSpPr>
        <p:spPr>
          <a:xfrm>
            <a:off x="822960" y="26334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1" name="Text 9"/>
          <p:cNvSpPr/>
          <p:nvPr/>
        </p:nvSpPr>
        <p:spPr>
          <a:xfrm>
            <a:off x="1481328" y="2423160"/>
            <a:ext cx="9875520" cy="8412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Each face becomes 512 decimals — one arrow in space, meaningless slot by slot, meaningful as a whole.</a:t>
            </a:r>
            <a:endParaRPr lang="en-US" sz="1500" dirty="0"/>
          </a:p>
        </p:txBody>
      </p:sp>
      <p:sp>
        <p:nvSpPr>
          <p:cNvPr id="12" name="Shape 10"/>
          <p:cNvSpPr/>
          <p:nvPr/>
        </p:nvSpPr>
        <p:spPr>
          <a:xfrm>
            <a:off x="566928" y="3383280"/>
            <a:ext cx="11064240" cy="841248"/>
          </a:xfrm>
          <a:prstGeom prst="roundRect">
            <a:avLst>
              <a:gd name="adj" fmla="val 10870"/>
            </a:avLst>
          </a:prstGeom>
          <a:solidFill>
            <a:srgbClr val="1A2350"/>
          </a:solidFill>
          <a:ln/>
        </p:spPr>
      </p:sp>
      <p:sp>
        <p:nvSpPr>
          <p:cNvPr id="13" name="Shape 11"/>
          <p:cNvSpPr/>
          <p:nvPr/>
        </p:nvSpPr>
        <p:spPr>
          <a:xfrm>
            <a:off x="822960" y="3593592"/>
            <a:ext cx="420624" cy="420624"/>
          </a:xfrm>
          <a:prstGeom prst="ellipse">
            <a:avLst/>
          </a:prstGeom>
          <a:solidFill>
            <a:srgbClr val="4C6FFF"/>
          </a:solidFill>
          <a:ln/>
        </p:spPr>
      </p:sp>
      <p:sp>
        <p:nvSpPr>
          <p:cNvPr id="14" name="Text 12"/>
          <p:cNvSpPr/>
          <p:nvPr/>
        </p:nvSpPr>
        <p:spPr>
          <a:xfrm>
            <a:off x="822960" y="359359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15" name="Text 13"/>
          <p:cNvSpPr/>
          <p:nvPr/>
        </p:nvSpPr>
        <p:spPr>
          <a:xfrm>
            <a:off x="1481328" y="3383280"/>
            <a:ext cx="9875520" cy="8412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Similarity is one distance across all 512 at once, and a single threshold decides.</a:t>
            </a:r>
            <a:endParaRPr lang="en-US" sz="1500" dirty="0"/>
          </a:p>
        </p:txBody>
      </p:sp>
      <p:sp>
        <p:nvSpPr>
          <p:cNvPr id="16" name="Shape 14"/>
          <p:cNvSpPr/>
          <p:nvPr/>
        </p:nvSpPr>
        <p:spPr>
          <a:xfrm>
            <a:off x="566928" y="4343400"/>
            <a:ext cx="11064240" cy="841248"/>
          </a:xfrm>
          <a:prstGeom prst="roundRect">
            <a:avLst>
              <a:gd name="adj" fmla="val 10870"/>
            </a:avLst>
          </a:prstGeom>
          <a:solidFill>
            <a:srgbClr val="1A2350"/>
          </a:solidFill>
          <a:ln/>
        </p:spPr>
      </p:sp>
      <p:sp>
        <p:nvSpPr>
          <p:cNvPr id="17" name="Shape 15"/>
          <p:cNvSpPr/>
          <p:nvPr/>
        </p:nvSpPr>
        <p:spPr>
          <a:xfrm>
            <a:off x="822960" y="4553712"/>
            <a:ext cx="420624" cy="420624"/>
          </a:xfrm>
          <a:prstGeom prst="ellipse">
            <a:avLst/>
          </a:prstGeom>
          <a:solidFill>
            <a:srgbClr val="FF7AA8"/>
          </a:solidFill>
          <a:ln/>
        </p:spPr>
      </p:sp>
      <p:sp>
        <p:nvSpPr>
          <p:cNvPr id="18" name="Text 16"/>
          <p:cNvSpPr/>
          <p:nvPr/>
        </p:nvSpPr>
        <p:spPr>
          <a:xfrm>
            <a:off x="822960" y="455371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4</a:t>
            </a:r>
            <a:endParaRPr lang="en-US" sz="1600" dirty="0"/>
          </a:p>
        </p:txBody>
      </p:sp>
      <p:sp>
        <p:nvSpPr>
          <p:cNvPr id="19" name="Text 17"/>
          <p:cNvSpPr/>
          <p:nvPr/>
        </p:nvSpPr>
        <p:spPr>
          <a:xfrm>
            <a:off x="1481328" y="4343400"/>
            <a:ext cx="9875520" cy="8412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People are not detected. They are what is left over after every face asks “does a close neighbour already have a person?”</a:t>
            </a:r>
            <a:endParaRPr lang="en-US" sz="1500" dirty="0"/>
          </a:p>
        </p:txBody>
      </p:sp>
      <p:sp>
        <p:nvSpPr>
          <p:cNvPr id="20" name="Shape 18"/>
          <p:cNvSpPr/>
          <p:nvPr/>
        </p:nvSpPr>
        <p:spPr>
          <a:xfrm>
            <a:off x="566928" y="5303520"/>
            <a:ext cx="11064240" cy="841248"/>
          </a:xfrm>
          <a:prstGeom prst="roundRect">
            <a:avLst>
              <a:gd name="adj" fmla="val 10870"/>
            </a:avLst>
          </a:prstGeom>
          <a:solidFill>
            <a:srgbClr val="1A2350"/>
          </a:solidFill>
          <a:ln/>
        </p:spPr>
      </p:sp>
      <p:sp>
        <p:nvSpPr>
          <p:cNvPr id="21" name="Shape 19"/>
          <p:cNvSpPr/>
          <p:nvPr/>
        </p:nvSpPr>
        <p:spPr>
          <a:xfrm>
            <a:off x="822960" y="5513832"/>
            <a:ext cx="420624" cy="420624"/>
          </a:xfrm>
          <a:prstGeom prst="ellipse">
            <a:avLst/>
          </a:prstGeom>
          <a:solidFill>
            <a:srgbClr val="3DD68C"/>
          </a:solidFill>
          <a:ln/>
        </p:spPr>
      </p:sp>
      <p:sp>
        <p:nvSpPr>
          <p:cNvPr id="22" name="Text 20"/>
          <p:cNvSpPr/>
          <p:nvPr/>
        </p:nvSpPr>
        <p:spPr>
          <a:xfrm>
            <a:off x="822960" y="551383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5</a:t>
            </a:r>
            <a:endParaRPr lang="en-US" sz="1600" dirty="0"/>
          </a:p>
        </p:txBody>
      </p:sp>
      <p:sp>
        <p:nvSpPr>
          <p:cNvPr id="23" name="Text 21"/>
          <p:cNvSpPr/>
          <p:nvPr/>
        </p:nvSpPr>
        <p:spPr>
          <a:xfrm>
            <a:off x="1481328" y="5303520"/>
            <a:ext cx="9875520" cy="8412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Every comparison is fenced to one event — enforced in the query, and guarded by a test.</a:t>
            </a:r>
            <a:endParaRPr lang="en-US" sz="1500" dirty="0"/>
          </a:p>
        </p:txBody>
      </p:sp>
      <p:sp>
        <p:nvSpPr>
          <p:cNvPr id="24" name="Text 22"/>
          <p:cNvSpPr/>
          <p:nvPr/>
        </p:nvSpPr>
        <p:spPr>
          <a:xfrm>
            <a:off x="566928" y="6263640"/>
            <a:ext cx="11064240" cy="411480"/>
          </a:xfrm>
          <a:prstGeom prst="rect">
            <a:avLst/>
          </a:prstGeom>
          <a:noFill/>
          <a:ln/>
        </p:spPr>
        <p:txBody>
          <a:bodyPr wrap="square" lIns="0" tIns="0" rIns="0" bIns="0" rtlCol="0" anchor="ctr"/>
          <a:lstStyle/>
          <a:p>
            <a:pPr indent="0" marL="0">
              <a:buNone/>
            </a:pPr>
            <a:r>
              <a:rPr lang="en-US" sz="1400" i="1" dirty="0">
                <a:solidFill>
                  <a:srgbClr val="8A93B8"/>
                </a:solidFill>
                <a:latin typeface="Arial" pitchFamily="34" charset="0"/>
                <a:ea typeface="Arial" pitchFamily="34" charset="-122"/>
                <a:cs typeface="Arial" pitchFamily="34" charset="-120"/>
              </a:rPr>
              <a:t>Everything else — the GPU, the queues, the pausing — exists only to make those five things happen cheaply.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1371600"/>
            <a:ext cx="10515600" cy="1097280"/>
          </a:xfrm>
          <a:prstGeom prst="rect">
            <a:avLst/>
          </a:prstGeom>
          <a:noFill/>
          <a:ln/>
        </p:spPr>
        <p:txBody>
          <a:bodyPr wrap="square" lIns="0" tIns="0" rIns="0" bIns="0" rtlCol="0" anchor="ctr"/>
          <a:lstStyle/>
          <a:p>
            <a:pPr indent="0" marL="0">
              <a:buNone/>
            </a:pPr>
            <a:r>
              <a:rPr lang="en-US" sz="5600" b="1" dirty="0">
                <a:solidFill>
                  <a:srgbClr val="FFFFFF"/>
                </a:solidFill>
                <a:latin typeface="Cambria" pitchFamily="34" charset="0"/>
                <a:ea typeface="Cambria" pitchFamily="34" charset="-122"/>
                <a:cs typeface="Cambria" pitchFamily="34" charset="-120"/>
              </a:rPr>
              <a:t>Questions</a:t>
            </a:r>
            <a:endParaRPr lang="en-US" sz="5600" dirty="0"/>
          </a:p>
        </p:txBody>
      </p:sp>
      <p:sp>
        <p:nvSpPr>
          <p:cNvPr id="3" name="Text 1"/>
          <p:cNvSpPr/>
          <p:nvPr/>
        </p:nvSpPr>
        <p:spPr>
          <a:xfrm>
            <a:off x="566928" y="2468880"/>
            <a:ext cx="10515600" cy="457200"/>
          </a:xfrm>
          <a:prstGeom prst="rect">
            <a:avLst/>
          </a:prstGeom>
          <a:noFill/>
          <a:ln/>
        </p:spPr>
        <p:txBody>
          <a:bodyPr wrap="square" lIns="0" tIns="0" rIns="0" bIns="0" rtlCol="0" anchor="ctr"/>
          <a:lstStyle/>
          <a:p>
            <a:pPr indent="0" marL="0">
              <a:buNone/>
            </a:pPr>
            <a:r>
              <a:rPr lang="en-US" sz="1700" dirty="0">
                <a:solidFill>
                  <a:srgbClr val="A9BEFF"/>
                </a:solidFill>
                <a:latin typeface="Arial" pitchFamily="34" charset="0"/>
                <a:ea typeface="Arial" pitchFamily="34" charset="-122"/>
                <a:cs typeface="Arial" pitchFamily="34" charset="-120"/>
              </a:rPr>
              <a:t>The ones that always come up:</a:t>
            </a:r>
            <a:endParaRPr lang="en-US" sz="1700" dirty="0"/>
          </a:p>
        </p:txBody>
      </p:sp>
      <p:sp>
        <p:nvSpPr>
          <p:cNvPr id="4" name="Shape 2"/>
          <p:cNvSpPr/>
          <p:nvPr/>
        </p:nvSpPr>
        <p:spPr>
          <a:xfrm>
            <a:off x="566928" y="3017520"/>
            <a:ext cx="5394960" cy="960120"/>
          </a:xfrm>
          <a:prstGeom prst="roundRect">
            <a:avLst>
              <a:gd name="adj" fmla="val 11429"/>
            </a:avLst>
          </a:prstGeom>
          <a:solidFill>
            <a:srgbClr val="1A2350"/>
          </a:solidFill>
          <a:ln w="19050">
            <a:solidFill>
              <a:srgbClr val="33407F"/>
            </a:solidFill>
            <a:prstDash val="solid"/>
          </a:ln>
        </p:spPr>
      </p:sp>
      <p:sp>
        <p:nvSpPr>
          <p:cNvPr id="5" name="Text 3"/>
          <p:cNvSpPr/>
          <p:nvPr/>
        </p:nvSpPr>
        <p:spPr>
          <a:xfrm>
            <a:off x="886968" y="3017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Did you train the model yourself?</a:t>
            </a:r>
            <a:endParaRPr lang="en-US" sz="1500" dirty="0"/>
          </a:p>
        </p:txBody>
      </p:sp>
      <p:sp>
        <p:nvSpPr>
          <p:cNvPr id="6" name="Shape 4"/>
          <p:cNvSpPr/>
          <p:nvPr/>
        </p:nvSpPr>
        <p:spPr>
          <a:xfrm>
            <a:off x="6236208" y="3017520"/>
            <a:ext cx="5394960" cy="960120"/>
          </a:xfrm>
          <a:prstGeom prst="roundRect">
            <a:avLst>
              <a:gd name="adj" fmla="val 11429"/>
            </a:avLst>
          </a:prstGeom>
          <a:solidFill>
            <a:srgbClr val="1A2350"/>
          </a:solidFill>
          <a:ln w="19050">
            <a:solidFill>
              <a:srgbClr val="33407F"/>
            </a:solidFill>
            <a:prstDash val="solid"/>
          </a:ln>
        </p:spPr>
      </p:sp>
      <p:sp>
        <p:nvSpPr>
          <p:cNvPr id="7" name="Text 5"/>
          <p:cNvSpPr/>
          <p:nvPr/>
        </p:nvSpPr>
        <p:spPr>
          <a:xfrm>
            <a:off x="6556248" y="3017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Can you get the face back from the 512 numbers?</a:t>
            </a:r>
            <a:endParaRPr lang="en-US" sz="1500" dirty="0"/>
          </a:p>
        </p:txBody>
      </p:sp>
      <p:sp>
        <p:nvSpPr>
          <p:cNvPr id="8" name="Shape 6"/>
          <p:cNvSpPr/>
          <p:nvPr/>
        </p:nvSpPr>
        <p:spPr>
          <a:xfrm>
            <a:off x="566928" y="4160520"/>
            <a:ext cx="5394960" cy="960120"/>
          </a:xfrm>
          <a:prstGeom prst="roundRect">
            <a:avLst>
              <a:gd name="adj" fmla="val 11429"/>
            </a:avLst>
          </a:prstGeom>
          <a:solidFill>
            <a:srgbClr val="1A2350"/>
          </a:solidFill>
          <a:ln w="19050">
            <a:solidFill>
              <a:srgbClr val="33407F"/>
            </a:solidFill>
            <a:prstDash val="solid"/>
          </a:ln>
        </p:spPr>
      </p:sp>
      <p:sp>
        <p:nvSpPr>
          <p:cNvPr id="9" name="Text 7"/>
          <p:cNvSpPr/>
          <p:nvPr/>
        </p:nvSpPr>
        <p:spPr>
          <a:xfrm>
            <a:off x="886968" y="4160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What happens with identical twins?</a:t>
            </a:r>
            <a:endParaRPr lang="en-US" sz="1500" dirty="0"/>
          </a:p>
        </p:txBody>
      </p:sp>
      <p:sp>
        <p:nvSpPr>
          <p:cNvPr id="10" name="Shape 8"/>
          <p:cNvSpPr/>
          <p:nvPr/>
        </p:nvSpPr>
        <p:spPr>
          <a:xfrm>
            <a:off x="6236208" y="4160520"/>
            <a:ext cx="5394960" cy="960120"/>
          </a:xfrm>
          <a:prstGeom prst="roundRect">
            <a:avLst>
              <a:gd name="adj" fmla="val 11429"/>
            </a:avLst>
          </a:prstGeom>
          <a:solidFill>
            <a:srgbClr val="1A2350"/>
          </a:solidFill>
          <a:ln w="19050">
            <a:solidFill>
              <a:srgbClr val="33407F"/>
            </a:solidFill>
            <a:prstDash val="solid"/>
          </a:ln>
        </p:spPr>
      </p:sp>
      <p:sp>
        <p:nvSpPr>
          <p:cNvPr id="11" name="Text 9"/>
          <p:cNvSpPr/>
          <p:nvPr/>
        </p:nvSpPr>
        <p:spPr>
          <a:xfrm>
            <a:off x="6556248" y="4160520"/>
            <a:ext cx="4754880" cy="9601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Why 0.5 — where did that number come from?</a:t>
            </a:r>
            <a:endParaRPr lang="en-US" sz="1500" dirty="0"/>
          </a:p>
        </p:txBody>
      </p:sp>
      <p:sp>
        <p:nvSpPr>
          <p:cNvPr id="12" name="Text 10"/>
          <p:cNvSpPr/>
          <p:nvPr/>
        </p:nvSpPr>
        <p:spPr>
          <a:xfrm>
            <a:off x="566928" y="5669280"/>
            <a:ext cx="11064240" cy="7315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Short answers: no, we run a pretrained ArcFace · not faithfully, but treat embeddings as personal data anyway · they defeat it · it is Immich’s default, and we kept it because the safer failure is splitting, not merging.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face becomes 512 numbers</dc:title>
  <dc:subject>PptxGenJS Presentation</dc:subject>
  <dc:creator>EventLens</dc:creator>
  <cp:lastModifiedBy>EventLens</cp:lastModifiedBy>
  <cp:revision>1</cp:revision>
  <dcterms:created xsi:type="dcterms:W3CDTF">2026-07-23T14:28:58Z</dcterms:created>
  <dcterms:modified xsi:type="dcterms:W3CDTF">2026-07-23T14:28:58Z</dcterms:modified>
</cp:coreProperties>
</file>