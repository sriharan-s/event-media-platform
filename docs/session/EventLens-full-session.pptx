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problem, not the architecture. 4,000 fest photos, you want the 12 you are in. Matching needs a GPU. A GPU costs money every second it is on. Those are the two halves of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two questions out loud. They are the spine of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how they would find their own photos today. Someone will say "the WhatsApp group". That is the competitor.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Ninety seconds. The demo does the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dev stack warm. Fallback screen recording ready in case the ML sidecar is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this is an engineering project that USES models, not a research project that builds them. Say that plainly — it is a legitimate and very common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asks "so what did you actually build?" — this bottom band is the answer. Say it confidently, not apologetically.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slide. Plant the cost problem here so Act Two feels inevitable rather than bolted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Someone WILL arrive with roughly this model. Confirm it warmly, then correct precisely. Do not lead with the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this six-word spine early. Every later slide is a zoom into one of these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once. Then point at the third panel: everything after this point is arithmetic on those numbers. The photograph is never looked at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them what "classify this photo" would even mean for a picture with thirty people in it. Let the answer be awkward.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Nice real-world detail: the same face has two different sources depending on what you need 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to tilt their heads. To them these are obviously the same face. To a naive model they are two unrelated grids of pixels.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 single number means anything" card usually gets a question. Good — it is the honest answer, and it is why you cannot audit these by eye.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Stress that the 2D picture is a lie of convenience. In 512 dimensions there is far more room, which is exactly why the clusters stay separated.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decision-making lesson in the deck. Asymmetric costs should push the default, not a coin flip.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YES branch and the NO branch out loud. Then say: run that for every face and people fall out. Nobody ever wrote a function called findPeople().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keep the two-pass one. Subtler bug, better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assume the selfie flow re-runs clustering. It does not. Make that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students should photograph. Comments do not fail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present recognition as solved. The manual review tools exist precisely because this list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moving on, ask the room: "just turn it off when idle — what could go wrong?" Collect answers, then walk the ones they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arrows in order: client to API, API to Redis, GPU worker pulls from Redis, GPU worker heartbeats back, API shells out to jl. The arrow DIRECTIONS are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the "microservices = many repos" assumption. Then: because the API never calls the GPU directly, the GPU is allowed to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once quickly end to end, then again pointing only at the amber steps: that is the GPU's entire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quote a price you have not verified. Talk in shape — bursty vs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jarvislabs.repository.ts on screen. The header comment says most of it already.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transferable slide in Act Two. Every student will shell out to something eventually.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real Admin -&gt; GPU worker panel next to this if the demo stack is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bug students will write. Showing the fix before they write it is worth 90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direction of the arrow is the security design and the cost design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"cost bugs" are really state bugs. The bill is just where you notice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Act Two on this. It is the line worth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what is unfinished buys more credibility than any number on this slide. Do not skip the right-hand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them out, then pause. This is where the recording gets rewatched.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 you reconstruct the face" question matters legally as much as technically. Say plainly: we treat embeddings as personal data, which is why erasure deletes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325880"/>
            <a:ext cx="1463040" cy="384048"/>
          </a:xfrm>
          <a:prstGeom prst="roundRect">
            <a:avLst>
              <a:gd name="adj" fmla="val 47619"/>
            </a:avLst>
          </a:prstGeom>
          <a:solidFill>
            <a:srgbClr val="FFB020"/>
          </a:solidFill>
          <a:ln/>
        </p:spPr>
      </p:sp>
      <p:sp>
        <p:nvSpPr>
          <p:cNvPr id="3" name="Text 1"/>
          <p:cNvSpPr/>
          <p:nvPr/>
        </p:nvSpPr>
        <p:spPr>
          <a:xfrm>
            <a:off x="566928" y="1325880"/>
            <a:ext cx="1463040" cy="384048"/>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CASE STUDY</a:t>
            </a:r>
            <a:endParaRPr lang="en-US" sz="1100" dirty="0"/>
          </a:p>
        </p:txBody>
      </p:sp>
      <p:sp>
        <p:nvSpPr>
          <p:cNvPr id="4" name="Text 2"/>
          <p:cNvSpPr/>
          <p:nvPr/>
        </p:nvSpPr>
        <p:spPr>
          <a:xfrm>
            <a:off x="566928" y="1828800"/>
            <a:ext cx="10515600" cy="100584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EventLens</a:t>
            </a:r>
            <a:endParaRPr lang="en-US" sz="5800" dirty="0"/>
          </a:p>
        </p:txBody>
      </p:sp>
      <p:sp>
        <p:nvSpPr>
          <p:cNvPr id="5" name="Text 3"/>
          <p:cNvSpPr/>
          <p:nvPr/>
        </p:nvSpPr>
        <p:spPr>
          <a:xfrm>
            <a:off x="566928" y="2788920"/>
            <a:ext cx="10515600" cy="502920"/>
          </a:xfrm>
          <a:prstGeom prst="rect">
            <a:avLst/>
          </a:prstGeom>
          <a:noFill/>
          <a:ln/>
        </p:spPr>
        <p:txBody>
          <a:bodyPr wrap="square" lIns="0" tIns="0" rIns="0" bIns="0" rtlCol="0" anchor="ctr"/>
          <a:lstStyle/>
          <a:p>
            <a:pPr indent="0" marL="0">
              <a:buNone/>
            </a:pPr>
            <a:r>
              <a:rPr lang="en-US" sz="2100" dirty="0">
                <a:solidFill>
                  <a:srgbClr val="A9BEFF"/>
                </a:solidFill>
                <a:latin typeface="Arial" pitchFamily="34" charset="0"/>
                <a:ea typeface="Arial" pitchFamily="34" charset="-122"/>
                <a:cs typeface="Arial" pitchFamily="34" charset="-120"/>
              </a:rPr>
              <a:t>Upload one selfie. Get every photo you appear in.</a:t>
            </a:r>
            <a:endParaRPr lang="en-US" sz="2100" dirty="0"/>
          </a:p>
        </p:txBody>
      </p:sp>
      <p:sp>
        <p:nvSpPr>
          <p:cNvPr id="6" name="Text 4"/>
          <p:cNvSpPr/>
          <p:nvPr/>
        </p:nvSpPr>
        <p:spPr>
          <a:xfrm>
            <a:off x="566928" y="3337560"/>
            <a:ext cx="10058400" cy="731520"/>
          </a:xfrm>
          <a:prstGeom prst="rect">
            <a:avLst/>
          </a:prstGeom>
          <a:noFill/>
          <a:ln/>
        </p:spPr>
        <p:txBody>
          <a:bodyPr wrap="square" lIns="0" tIns="0" rIns="0" bIns="0" rtlCol="0" anchor="ctr"/>
          <a:lstStyle/>
          <a:p>
            <a:pPr indent="0" marL="0">
              <a:buNone/>
            </a:pPr>
            <a:r>
              <a:rPr lang="en-US" sz="1700" dirty="0">
                <a:solidFill>
                  <a:srgbClr val="8A93B8"/>
                </a:solidFill>
                <a:latin typeface="Arial" pitchFamily="34" charset="0"/>
                <a:ea typeface="Arial" pitchFamily="34" charset="-122"/>
                <a:cs typeface="Arial" pitchFamily="34" charset="-120"/>
              </a:rPr>
              <a:t>How three models turn a photograph into a person — and how we ran the GPU on JarvisLabs only for the seconds it was actually earning its keep.</a:t>
            </a:r>
            <a:endParaRPr lang="en-US" sz="1700" dirty="0"/>
          </a:p>
        </p:txBody>
      </p:sp>
      <p:sp>
        <p:nvSpPr>
          <p:cNvPr id="7" name="Shape 5"/>
          <p:cNvSpPr/>
          <p:nvPr/>
        </p:nvSpPr>
        <p:spPr>
          <a:xfrm>
            <a:off x="566928" y="4663440"/>
            <a:ext cx="2606040" cy="960120"/>
          </a:xfrm>
          <a:prstGeom prst="roundRect">
            <a:avLst>
              <a:gd name="adj" fmla="val 11429"/>
            </a:avLst>
          </a:prstGeom>
          <a:solidFill>
            <a:srgbClr val="1A2350"/>
          </a:solidFill>
          <a:ln w="19050">
            <a:solidFill>
              <a:srgbClr val="FFB020"/>
            </a:solidFill>
            <a:prstDash val="solid"/>
          </a:ln>
        </p:spPr>
      </p:sp>
      <p:sp>
        <p:nvSpPr>
          <p:cNvPr id="8" name="Text 6"/>
          <p:cNvSpPr/>
          <p:nvPr/>
        </p:nvSpPr>
        <p:spPr>
          <a:xfrm>
            <a:off x="768096" y="4791456"/>
            <a:ext cx="2240280" cy="320040"/>
          </a:xfrm>
          <a:prstGeom prst="rect">
            <a:avLst/>
          </a:prstGeom>
          <a:noFill/>
          <a:ln/>
        </p:spPr>
        <p:txBody>
          <a:bodyPr wrap="square" lIns="0" tIns="0" rIns="0" bIns="0" rtlCol="0" anchor="ctr"/>
          <a:lstStyle/>
          <a:p>
            <a:pPr indent="0" marL="0">
              <a:buNone/>
            </a:pPr>
            <a:r>
              <a:rPr lang="en-US" sz="1400" b="1" dirty="0">
                <a:solidFill>
                  <a:srgbClr val="FFB020"/>
                </a:solidFill>
                <a:latin typeface="Arial" pitchFamily="34" charset="0"/>
                <a:ea typeface="Arial" pitchFamily="34" charset="-122"/>
                <a:cs typeface="Arial" pitchFamily="34" charset="-120"/>
              </a:rPr>
              <a:t>RetinaFace</a:t>
            </a:r>
            <a:endParaRPr lang="en-US" sz="1400" dirty="0"/>
          </a:p>
        </p:txBody>
      </p:sp>
      <p:sp>
        <p:nvSpPr>
          <p:cNvPr id="9" name="Text 7"/>
          <p:cNvSpPr/>
          <p:nvPr/>
        </p:nvSpPr>
        <p:spPr>
          <a:xfrm>
            <a:off x="768096" y="5102352"/>
            <a:ext cx="2240280" cy="365760"/>
          </a:xfrm>
          <a:prstGeom prst="rect">
            <a:avLst/>
          </a:prstGeom>
          <a:noFill/>
          <a:ln/>
        </p:spPr>
        <p:txBody>
          <a:bodyPr wrap="square" lIns="0" tIns="0" rIns="0" bIns="0" rtlCol="0" anchor="ctr"/>
          <a:lstStyle/>
          <a:p>
            <a:pPr indent="0" marL="0">
              <a:buNone/>
            </a:pPr>
            <a:r>
              <a:rPr lang="en-US" sz="1200" dirty="0">
                <a:solidFill>
                  <a:srgbClr val="8A93B8"/>
                </a:solidFill>
                <a:latin typeface="Arial" pitchFamily="34" charset="0"/>
                <a:ea typeface="Arial" pitchFamily="34" charset="-122"/>
                <a:cs typeface="Arial" pitchFamily="34" charset="-120"/>
              </a:rPr>
              <a:t>find the faces</a:t>
            </a:r>
            <a:endParaRPr lang="en-US" sz="1200" dirty="0"/>
          </a:p>
        </p:txBody>
      </p:sp>
      <p:sp>
        <p:nvSpPr>
          <p:cNvPr id="10" name="Shape 8"/>
          <p:cNvSpPr/>
          <p:nvPr/>
        </p:nvSpPr>
        <p:spPr>
          <a:xfrm>
            <a:off x="3355848" y="4663440"/>
            <a:ext cx="2606040" cy="960120"/>
          </a:xfrm>
          <a:prstGeom prst="roundRect">
            <a:avLst>
              <a:gd name="adj" fmla="val 11429"/>
            </a:avLst>
          </a:prstGeom>
          <a:solidFill>
            <a:srgbClr val="1A2350"/>
          </a:solidFill>
          <a:ln w="19050">
            <a:solidFill>
              <a:srgbClr val="A9BEFF"/>
            </a:solidFill>
            <a:prstDash val="solid"/>
          </a:ln>
        </p:spPr>
      </p:sp>
      <p:sp>
        <p:nvSpPr>
          <p:cNvPr id="11" name="Text 9"/>
          <p:cNvSpPr/>
          <p:nvPr/>
        </p:nvSpPr>
        <p:spPr>
          <a:xfrm>
            <a:off x="3557016" y="4791456"/>
            <a:ext cx="2240280" cy="320040"/>
          </a:xfrm>
          <a:prstGeom prst="rect">
            <a:avLst/>
          </a:prstGeom>
          <a:noFill/>
          <a:ln/>
        </p:spPr>
        <p:txBody>
          <a:bodyPr wrap="square" lIns="0" tIns="0" rIns="0" bIns="0" rtlCol="0" anchor="ctr"/>
          <a:lstStyle/>
          <a:p>
            <a:pPr indent="0" marL="0">
              <a:buNone/>
            </a:pPr>
            <a:r>
              <a:rPr lang="en-US" sz="1400" b="1" dirty="0">
                <a:solidFill>
                  <a:srgbClr val="A9BEFF"/>
                </a:solidFill>
                <a:latin typeface="Arial" pitchFamily="34" charset="0"/>
                <a:ea typeface="Arial" pitchFamily="34" charset="-122"/>
                <a:cs typeface="Arial" pitchFamily="34" charset="-120"/>
              </a:rPr>
              <a:t>ArcFace buffalo_l</a:t>
            </a:r>
            <a:endParaRPr lang="en-US" sz="1400" dirty="0"/>
          </a:p>
        </p:txBody>
      </p:sp>
      <p:sp>
        <p:nvSpPr>
          <p:cNvPr id="12" name="Text 10"/>
          <p:cNvSpPr/>
          <p:nvPr/>
        </p:nvSpPr>
        <p:spPr>
          <a:xfrm>
            <a:off x="3557016" y="5102352"/>
            <a:ext cx="2240280" cy="365760"/>
          </a:xfrm>
          <a:prstGeom prst="rect">
            <a:avLst/>
          </a:prstGeom>
          <a:noFill/>
          <a:ln/>
        </p:spPr>
        <p:txBody>
          <a:bodyPr wrap="square" lIns="0" tIns="0" rIns="0" bIns="0" rtlCol="0" anchor="ctr"/>
          <a:lstStyle/>
          <a:p>
            <a:pPr indent="0" marL="0">
              <a:buNone/>
            </a:pPr>
            <a:r>
              <a:rPr lang="en-US" sz="1200" dirty="0">
                <a:solidFill>
                  <a:srgbClr val="8A93B8"/>
                </a:solidFill>
                <a:latin typeface="Arial" pitchFamily="34" charset="0"/>
                <a:ea typeface="Arial" pitchFamily="34" charset="-122"/>
                <a:cs typeface="Arial" pitchFamily="34" charset="-120"/>
              </a:rPr>
              <a:t>measure each face</a:t>
            </a:r>
            <a:endParaRPr lang="en-US" sz="1200" dirty="0"/>
          </a:p>
        </p:txBody>
      </p:sp>
      <p:sp>
        <p:nvSpPr>
          <p:cNvPr id="13" name="Shape 11"/>
          <p:cNvSpPr/>
          <p:nvPr/>
        </p:nvSpPr>
        <p:spPr>
          <a:xfrm>
            <a:off x="6144768" y="4663440"/>
            <a:ext cx="2606040" cy="960120"/>
          </a:xfrm>
          <a:prstGeom prst="roundRect">
            <a:avLst>
              <a:gd name="adj" fmla="val 11429"/>
            </a:avLst>
          </a:prstGeom>
          <a:solidFill>
            <a:srgbClr val="1A2350"/>
          </a:solidFill>
          <a:ln w="19050">
            <a:solidFill>
              <a:srgbClr val="FF7AA8"/>
            </a:solidFill>
            <a:prstDash val="solid"/>
          </a:ln>
        </p:spPr>
      </p:sp>
      <p:sp>
        <p:nvSpPr>
          <p:cNvPr id="14" name="Text 12"/>
          <p:cNvSpPr/>
          <p:nvPr/>
        </p:nvSpPr>
        <p:spPr>
          <a:xfrm>
            <a:off x="6345936" y="4791456"/>
            <a:ext cx="2240280" cy="320040"/>
          </a:xfrm>
          <a:prstGeom prst="rect">
            <a:avLst/>
          </a:prstGeom>
          <a:noFill/>
          <a:ln/>
        </p:spPr>
        <p:txBody>
          <a:bodyPr wrap="square" lIns="0" tIns="0" rIns="0" bIns="0" rtlCol="0" anchor="ctr"/>
          <a:lstStyle/>
          <a:p>
            <a:pPr indent="0" marL="0">
              <a:buNone/>
            </a:pPr>
            <a:r>
              <a:rPr lang="en-US" sz="1400" b="1" dirty="0">
                <a:solidFill>
                  <a:srgbClr val="FF7AA8"/>
                </a:solidFill>
                <a:latin typeface="Arial" pitchFamily="34" charset="0"/>
                <a:ea typeface="Arial" pitchFamily="34" charset="-122"/>
                <a:cs typeface="Arial" pitchFamily="34" charset="-120"/>
              </a:rPr>
              <a:t>CLIP ViT-B-32</a:t>
            </a:r>
            <a:endParaRPr lang="en-US" sz="1400" dirty="0"/>
          </a:p>
        </p:txBody>
      </p:sp>
      <p:sp>
        <p:nvSpPr>
          <p:cNvPr id="15" name="Text 13"/>
          <p:cNvSpPr/>
          <p:nvPr/>
        </p:nvSpPr>
        <p:spPr>
          <a:xfrm>
            <a:off x="6345936" y="5102352"/>
            <a:ext cx="2240280" cy="365760"/>
          </a:xfrm>
          <a:prstGeom prst="rect">
            <a:avLst/>
          </a:prstGeom>
          <a:noFill/>
          <a:ln/>
        </p:spPr>
        <p:txBody>
          <a:bodyPr wrap="square" lIns="0" tIns="0" rIns="0" bIns="0" rtlCol="0" anchor="ctr"/>
          <a:lstStyle/>
          <a:p>
            <a:pPr indent="0" marL="0">
              <a:buNone/>
            </a:pPr>
            <a:r>
              <a:rPr lang="en-US" sz="1200" dirty="0">
                <a:solidFill>
                  <a:srgbClr val="8A93B8"/>
                </a:solidFill>
                <a:latin typeface="Arial" pitchFamily="34" charset="0"/>
                <a:ea typeface="Arial" pitchFamily="34" charset="-122"/>
                <a:cs typeface="Arial" pitchFamily="34" charset="-120"/>
              </a:rPr>
              <a:t>search by description</a:t>
            </a:r>
            <a:endParaRPr lang="en-US" sz="1200" dirty="0"/>
          </a:p>
        </p:txBody>
      </p:sp>
      <p:sp>
        <p:nvSpPr>
          <p:cNvPr id="16" name="Shape 14"/>
          <p:cNvSpPr/>
          <p:nvPr/>
        </p:nvSpPr>
        <p:spPr>
          <a:xfrm>
            <a:off x="8933688" y="4663440"/>
            <a:ext cx="2606040" cy="960120"/>
          </a:xfrm>
          <a:prstGeom prst="roundRect">
            <a:avLst>
              <a:gd name="adj" fmla="val 11429"/>
            </a:avLst>
          </a:prstGeom>
          <a:solidFill>
            <a:srgbClr val="1A2350"/>
          </a:solidFill>
          <a:ln w="19050">
            <a:solidFill>
              <a:srgbClr val="3DD68C"/>
            </a:solidFill>
            <a:prstDash val="solid"/>
          </a:ln>
        </p:spPr>
      </p:sp>
      <p:sp>
        <p:nvSpPr>
          <p:cNvPr id="17" name="Text 15"/>
          <p:cNvSpPr/>
          <p:nvPr/>
        </p:nvSpPr>
        <p:spPr>
          <a:xfrm>
            <a:off x="9134856" y="4791456"/>
            <a:ext cx="2240280" cy="320040"/>
          </a:xfrm>
          <a:prstGeom prst="rect">
            <a:avLst/>
          </a:prstGeom>
          <a:noFill/>
          <a:ln/>
        </p:spPr>
        <p:txBody>
          <a:bodyPr wrap="square" lIns="0" tIns="0" rIns="0" bIns="0" rtlCol="0" anchor="ctr"/>
          <a:lstStyle/>
          <a:p>
            <a:pPr indent="0" marL="0">
              <a:buNone/>
            </a:pPr>
            <a:r>
              <a:rPr lang="en-US" sz="1400" b="1" dirty="0">
                <a:solidFill>
                  <a:srgbClr val="3DD68C"/>
                </a:solidFill>
                <a:latin typeface="Arial" pitchFamily="34" charset="0"/>
                <a:ea typeface="Arial" pitchFamily="34" charset="-122"/>
                <a:cs typeface="Arial" pitchFamily="34" charset="-120"/>
              </a:rPr>
              <a:t>JarvisLabs GPU</a:t>
            </a:r>
            <a:endParaRPr lang="en-US" sz="1400" dirty="0"/>
          </a:p>
        </p:txBody>
      </p:sp>
      <p:sp>
        <p:nvSpPr>
          <p:cNvPr id="18" name="Text 16"/>
          <p:cNvSpPr/>
          <p:nvPr/>
        </p:nvSpPr>
        <p:spPr>
          <a:xfrm>
            <a:off x="9134856" y="5102352"/>
            <a:ext cx="2240280" cy="365760"/>
          </a:xfrm>
          <a:prstGeom prst="rect">
            <a:avLst/>
          </a:prstGeom>
          <a:noFill/>
          <a:ln/>
        </p:spPr>
        <p:txBody>
          <a:bodyPr wrap="square" lIns="0" tIns="0" rIns="0" bIns="0" rtlCol="0" anchor="ctr"/>
          <a:lstStyle/>
          <a:p>
            <a:pPr indent="0" marL="0">
              <a:buNone/>
            </a:pPr>
            <a:r>
              <a:rPr lang="en-US" sz="1200" dirty="0">
                <a:solidFill>
                  <a:srgbClr val="8A93B8"/>
                </a:solidFill>
                <a:latin typeface="Arial" pitchFamily="34" charset="0"/>
                <a:ea typeface="Arial" pitchFamily="34" charset="-122"/>
                <a:cs typeface="Arial" pitchFamily="34" charset="-120"/>
              </a:rPr>
              <a:t>run it all, briefly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THREE ACTS, ABOUT TWO HOURS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you will walk out knowing</a:t>
            </a:r>
            <a:endParaRPr lang="en-US" sz="3400" dirty="0"/>
          </a:p>
        </p:txBody>
      </p:sp>
      <p:sp>
        <p:nvSpPr>
          <p:cNvPr id="4" name="Shape 2"/>
          <p:cNvSpPr/>
          <p:nvPr/>
        </p:nvSpPr>
        <p:spPr>
          <a:xfrm>
            <a:off x="566928" y="1554480"/>
            <a:ext cx="11064240" cy="1005840"/>
          </a:xfrm>
          <a:prstGeom prst="roundRect">
            <a:avLst>
              <a:gd name="adj" fmla="val 9091"/>
            </a:avLst>
          </a:prstGeom>
          <a:solidFill>
            <a:srgbClr val="1A2350"/>
          </a:solidFill>
          <a:ln/>
        </p:spPr>
      </p:sp>
      <p:sp>
        <p:nvSpPr>
          <p:cNvPr id="5" name="Shape 3"/>
          <p:cNvSpPr/>
          <p:nvPr/>
        </p:nvSpPr>
        <p:spPr>
          <a:xfrm>
            <a:off x="804672" y="1847088"/>
            <a:ext cx="420624" cy="420624"/>
          </a:xfrm>
          <a:prstGeom prst="ellipse">
            <a:avLst/>
          </a:prstGeom>
          <a:solidFill>
            <a:srgbClr val="A9BEFF"/>
          </a:solidFill>
          <a:ln/>
        </p:spPr>
      </p:sp>
      <p:sp>
        <p:nvSpPr>
          <p:cNvPr id="6" name="Text 4"/>
          <p:cNvSpPr/>
          <p:nvPr/>
        </p:nvSpPr>
        <p:spPr>
          <a:xfrm>
            <a:off x="804672" y="1847088"/>
            <a:ext cx="420624" cy="420624"/>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0</a:t>
            </a:r>
            <a:endParaRPr lang="en-US" sz="1500" dirty="0"/>
          </a:p>
        </p:txBody>
      </p:sp>
      <p:sp>
        <p:nvSpPr>
          <p:cNvPr id="7" name="Text 5"/>
          <p:cNvSpPr/>
          <p:nvPr/>
        </p:nvSpPr>
        <p:spPr>
          <a:xfrm>
            <a:off x="1417320" y="1737360"/>
            <a:ext cx="8046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problem, and the product</a:t>
            </a:r>
            <a:endParaRPr lang="en-US" sz="1800" dirty="0"/>
          </a:p>
        </p:txBody>
      </p:sp>
      <p:sp>
        <p:nvSpPr>
          <p:cNvPr id="8" name="Text 6"/>
          <p:cNvSpPr/>
          <p:nvPr/>
        </p:nvSpPr>
        <p:spPr>
          <a:xfrm>
            <a:off x="1417320" y="2103120"/>
            <a:ext cx="8412480" cy="329184"/>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live demo before a single slide of architecture.</a:t>
            </a:r>
            <a:endParaRPr lang="en-US" sz="1300" dirty="0"/>
          </a:p>
        </p:txBody>
      </p:sp>
      <p:sp>
        <p:nvSpPr>
          <p:cNvPr id="9" name="Text 7"/>
          <p:cNvSpPr/>
          <p:nvPr/>
        </p:nvSpPr>
        <p:spPr>
          <a:xfrm>
            <a:off x="9966960" y="1554480"/>
            <a:ext cx="1463040" cy="1005840"/>
          </a:xfrm>
          <a:prstGeom prst="rect">
            <a:avLst/>
          </a:prstGeom>
          <a:noFill/>
          <a:ln/>
        </p:spPr>
        <p:txBody>
          <a:bodyPr wrap="square" lIns="0" tIns="0" rIns="0" bIns="0" rtlCol="0" anchor="ctr"/>
          <a:lstStyle/>
          <a:p>
            <a:pPr algn="r" indent="0" marL="0">
              <a:buNone/>
            </a:pPr>
            <a:r>
              <a:rPr lang="en-US" sz="1500" b="1" dirty="0">
                <a:solidFill>
                  <a:srgbClr val="A9BEFF"/>
                </a:solidFill>
                <a:latin typeface="Arial" pitchFamily="34" charset="0"/>
                <a:ea typeface="Arial" pitchFamily="34" charset="-122"/>
                <a:cs typeface="Arial" pitchFamily="34" charset="-120"/>
              </a:rPr>
              <a:t>15 min</a:t>
            </a:r>
            <a:endParaRPr lang="en-US" sz="1500" dirty="0"/>
          </a:p>
        </p:txBody>
      </p:sp>
      <p:sp>
        <p:nvSpPr>
          <p:cNvPr id="10" name="Shape 8"/>
          <p:cNvSpPr/>
          <p:nvPr/>
        </p:nvSpPr>
        <p:spPr>
          <a:xfrm>
            <a:off x="566928" y="2697480"/>
            <a:ext cx="11064240" cy="1005840"/>
          </a:xfrm>
          <a:prstGeom prst="roundRect">
            <a:avLst>
              <a:gd name="adj" fmla="val 9091"/>
            </a:avLst>
          </a:prstGeom>
          <a:solidFill>
            <a:srgbClr val="1A2350"/>
          </a:solidFill>
          <a:ln/>
        </p:spPr>
      </p:sp>
      <p:sp>
        <p:nvSpPr>
          <p:cNvPr id="11" name="Shape 9"/>
          <p:cNvSpPr/>
          <p:nvPr/>
        </p:nvSpPr>
        <p:spPr>
          <a:xfrm>
            <a:off x="804672" y="2990088"/>
            <a:ext cx="420624" cy="420624"/>
          </a:xfrm>
          <a:prstGeom prst="ellipse">
            <a:avLst/>
          </a:prstGeom>
          <a:solidFill>
            <a:srgbClr val="FFB020"/>
          </a:solidFill>
          <a:ln/>
        </p:spPr>
      </p:sp>
      <p:sp>
        <p:nvSpPr>
          <p:cNvPr id="12" name="Text 10"/>
          <p:cNvSpPr/>
          <p:nvPr/>
        </p:nvSpPr>
        <p:spPr>
          <a:xfrm>
            <a:off x="804672" y="2990088"/>
            <a:ext cx="420624" cy="420624"/>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13" name="Text 11"/>
          <p:cNvSpPr/>
          <p:nvPr/>
        </p:nvSpPr>
        <p:spPr>
          <a:xfrm>
            <a:off x="1417320" y="2880360"/>
            <a:ext cx="8046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The models, and how a face becomes a number</a:t>
            </a:r>
            <a:endParaRPr lang="en-US" sz="1800" dirty="0"/>
          </a:p>
        </p:txBody>
      </p:sp>
      <p:sp>
        <p:nvSpPr>
          <p:cNvPr id="14" name="Text 12"/>
          <p:cNvSpPr/>
          <p:nvPr/>
        </p:nvSpPr>
        <p:spPr>
          <a:xfrm>
            <a:off x="1417320" y="3246120"/>
            <a:ext cx="8412480" cy="329184"/>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Three pretrained models, 512 numbers, and how people fall out of them.</a:t>
            </a:r>
            <a:endParaRPr lang="en-US" sz="1300" dirty="0"/>
          </a:p>
        </p:txBody>
      </p:sp>
      <p:sp>
        <p:nvSpPr>
          <p:cNvPr id="15" name="Text 13"/>
          <p:cNvSpPr/>
          <p:nvPr/>
        </p:nvSpPr>
        <p:spPr>
          <a:xfrm>
            <a:off x="9966960" y="2697480"/>
            <a:ext cx="1463040" cy="1005840"/>
          </a:xfrm>
          <a:prstGeom prst="rect">
            <a:avLst/>
          </a:prstGeom>
          <a:noFill/>
          <a:ln/>
        </p:spPr>
        <p:txBody>
          <a:bodyPr wrap="square" lIns="0" tIns="0" rIns="0" bIns="0" rtlCol="0" anchor="ctr"/>
          <a:lstStyle/>
          <a:p>
            <a:pPr algn="r" indent="0" marL="0">
              <a:buNone/>
            </a:pPr>
            <a:r>
              <a:rPr lang="en-US" sz="1500" b="1" dirty="0">
                <a:solidFill>
                  <a:srgbClr val="FFB020"/>
                </a:solidFill>
                <a:latin typeface="Arial" pitchFamily="34" charset="0"/>
                <a:ea typeface="Arial" pitchFamily="34" charset="-122"/>
                <a:cs typeface="Arial" pitchFamily="34" charset="-120"/>
              </a:rPr>
              <a:t>45 min</a:t>
            </a:r>
            <a:endParaRPr lang="en-US" sz="1500" dirty="0"/>
          </a:p>
        </p:txBody>
      </p:sp>
      <p:sp>
        <p:nvSpPr>
          <p:cNvPr id="16" name="Shape 14"/>
          <p:cNvSpPr/>
          <p:nvPr/>
        </p:nvSpPr>
        <p:spPr>
          <a:xfrm>
            <a:off x="566928" y="3840480"/>
            <a:ext cx="11064240" cy="1005840"/>
          </a:xfrm>
          <a:prstGeom prst="roundRect">
            <a:avLst>
              <a:gd name="adj" fmla="val 9091"/>
            </a:avLst>
          </a:prstGeom>
          <a:solidFill>
            <a:srgbClr val="1A2350"/>
          </a:solidFill>
          <a:ln/>
        </p:spPr>
      </p:sp>
      <p:sp>
        <p:nvSpPr>
          <p:cNvPr id="17" name="Shape 15"/>
          <p:cNvSpPr/>
          <p:nvPr/>
        </p:nvSpPr>
        <p:spPr>
          <a:xfrm>
            <a:off x="804672" y="4133088"/>
            <a:ext cx="420624" cy="420624"/>
          </a:xfrm>
          <a:prstGeom prst="ellipse">
            <a:avLst/>
          </a:prstGeom>
          <a:solidFill>
            <a:srgbClr val="3DD68C"/>
          </a:solidFill>
          <a:ln/>
        </p:spPr>
      </p:sp>
      <p:sp>
        <p:nvSpPr>
          <p:cNvPr id="18" name="Text 16"/>
          <p:cNvSpPr/>
          <p:nvPr/>
        </p:nvSpPr>
        <p:spPr>
          <a:xfrm>
            <a:off x="804672" y="4133088"/>
            <a:ext cx="420624" cy="420624"/>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9" name="Text 17"/>
          <p:cNvSpPr/>
          <p:nvPr/>
        </p:nvSpPr>
        <p:spPr>
          <a:xfrm>
            <a:off x="1417320" y="4023360"/>
            <a:ext cx="8046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Running it — JarvisLabs and the per-second GPU</a:t>
            </a:r>
            <a:endParaRPr lang="en-US" sz="1800" dirty="0"/>
          </a:p>
        </p:txBody>
      </p:sp>
      <p:sp>
        <p:nvSpPr>
          <p:cNvPr id="20" name="Text 18"/>
          <p:cNvSpPr/>
          <p:nvPr/>
        </p:nvSpPr>
        <p:spPr>
          <a:xfrm>
            <a:off x="1417320" y="4389120"/>
            <a:ext cx="8412480" cy="329184"/>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 REST API, bursty work, flat billing, and how to not get a scary bill.</a:t>
            </a:r>
            <a:endParaRPr lang="en-US" sz="1300" dirty="0"/>
          </a:p>
        </p:txBody>
      </p:sp>
      <p:sp>
        <p:nvSpPr>
          <p:cNvPr id="21" name="Text 19"/>
          <p:cNvSpPr/>
          <p:nvPr/>
        </p:nvSpPr>
        <p:spPr>
          <a:xfrm>
            <a:off x="9966960" y="3840480"/>
            <a:ext cx="1463040" cy="1005840"/>
          </a:xfrm>
          <a:prstGeom prst="rect">
            <a:avLst/>
          </a:prstGeom>
          <a:noFill/>
          <a:ln/>
        </p:spPr>
        <p:txBody>
          <a:bodyPr wrap="square" lIns="0" tIns="0" rIns="0" bIns="0" rtlCol="0" anchor="ctr"/>
          <a:lstStyle/>
          <a:p>
            <a:pPr algn="r" indent="0" marL="0">
              <a:buNone/>
            </a:pPr>
            <a:r>
              <a:rPr lang="en-US" sz="1500" b="1" dirty="0">
                <a:solidFill>
                  <a:srgbClr val="3DD68C"/>
                </a:solidFill>
                <a:latin typeface="Arial" pitchFamily="34" charset="0"/>
                <a:ea typeface="Arial" pitchFamily="34" charset="-122"/>
                <a:cs typeface="Arial" pitchFamily="34" charset="-120"/>
              </a:rPr>
              <a:t>40 min</a:t>
            </a:r>
            <a:endParaRPr lang="en-US" sz="1500" dirty="0"/>
          </a:p>
        </p:txBody>
      </p:sp>
      <p:sp>
        <p:nvSpPr>
          <p:cNvPr id="22" name="Shape 20"/>
          <p:cNvSpPr/>
          <p:nvPr/>
        </p:nvSpPr>
        <p:spPr>
          <a:xfrm>
            <a:off x="566928" y="4983480"/>
            <a:ext cx="11064240" cy="1005840"/>
          </a:xfrm>
          <a:prstGeom prst="roundRect">
            <a:avLst>
              <a:gd name="adj" fmla="val 9091"/>
            </a:avLst>
          </a:prstGeom>
          <a:solidFill>
            <a:srgbClr val="1A2350"/>
          </a:solidFill>
          <a:ln/>
        </p:spPr>
      </p:sp>
      <p:sp>
        <p:nvSpPr>
          <p:cNvPr id="23" name="Shape 21"/>
          <p:cNvSpPr/>
          <p:nvPr/>
        </p:nvSpPr>
        <p:spPr>
          <a:xfrm>
            <a:off x="804672" y="5276088"/>
            <a:ext cx="420624" cy="420624"/>
          </a:xfrm>
          <a:prstGeom prst="ellipse">
            <a:avLst/>
          </a:prstGeom>
          <a:solidFill>
            <a:srgbClr val="4C6FFF"/>
          </a:solidFill>
          <a:ln/>
        </p:spPr>
      </p:sp>
      <p:sp>
        <p:nvSpPr>
          <p:cNvPr id="24" name="Text 22"/>
          <p:cNvSpPr/>
          <p:nvPr/>
        </p:nvSpPr>
        <p:spPr>
          <a:xfrm>
            <a:off x="804672" y="5276088"/>
            <a:ext cx="420624" cy="420624"/>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25" name="Text 23"/>
          <p:cNvSpPr/>
          <p:nvPr/>
        </p:nvSpPr>
        <p:spPr>
          <a:xfrm>
            <a:off x="1417320" y="5166360"/>
            <a:ext cx="8046720" cy="347472"/>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Results, lessons, and your questions</a:t>
            </a:r>
            <a:endParaRPr lang="en-US" sz="1800" dirty="0"/>
          </a:p>
        </p:txBody>
      </p:sp>
      <p:sp>
        <p:nvSpPr>
          <p:cNvPr id="26" name="Text 24"/>
          <p:cNvSpPr/>
          <p:nvPr/>
        </p:nvSpPr>
        <p:spPr>
          <a:xfrm>
            <a:off x="1417320" y="5532120"/>
            <a:ext cx="8412480" cy="329184"/>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Measured numbers, six portable rules, then Q&amp;A.</a:t>
            </a:r>
            <a:endParaRPr lang="en-US" sz="1300" dirty="0"/>
          </a:p>
        </p:txBody>
      </p:sp>
      <p:sp>
        <p:nvSpPr>
          <p:cNvPr id="27" name="Text 25"/>
          <p:cNvSpPr/>
          <p:nvPr/>
        </p:nvSpPr>
        <p:spPr>
          <a:xfrm>
            <a:off x="9966960" y="4983480"/>
            <a:ext cx="1463040" cy="1005840"/>
          </a:xfrm>
          <a:prstGeom prst="rect">
            <a:avLst/>
          </a:prstGeom>
          <a:noFill/>
          <a:ln/>
        </p:spPr>
        <p:txBody>
          <a:bodyPr wrap="square" lIns="0" tIns="0" rIns="0" bIns="0" rtlCol="0" anchor="ctr"/>
          <a:lstStyle/>
          <a:p>
            <a:pPr algn="r" indent="0" marL="0">
              <a:buNone/>
            </a:pPr>
            <a:r>
              <a:rPr lang="en-US" sz="1500" b="1" dirty="0">
                <a:solidFill>
                  <a:srgbClr val="4C6FFF"/>
                </a:solidFill>
                <a:latin typeface="Arial" pitchFamily="34" charset="0"/>
                <a:ea typeface="Arial" pitchFamily="34" charset="-122"/>
                <a:cs typeface="Arial" pitchFamily="34" charset="-120"/>
              </a:rPr>
              <a:t>20 min</a:t>
            </a:r>
            <a:endParaRPr lang="en-US" sz="1500" dirty="0"/>
          </a:p>
        </p:txBody>
      </p:sp>
      <p:sp>
        <p:nvSpPr>
          <p:cNvPr id="28" name="Text 26"/>
          <p:cNvSpPr/>
          <p:nvPr/>
        </p:nvSpPr>
        <p:spPr>
          <a:xfrm>
            <a:off x="566928" y="6172200"/>
            <a:ext cx="11064240" cy="45720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Two questions run through all of it: how does a photo become “a photo of you”, and how do you run a GPU you cannot afford to leave switched 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PROBLEM</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Nobody scrolls 4,000 photos to find themselves</a:t>
            </a:r>
            <a:endParaRPr lang="en-US" sz="3400" dirty="0"/>
          </a:p>
        </p:txBody>
      </p:sp>
      <p:sp>
        <p:nvSpPr>
          <p:cNvPr id="4" name="Shape 2"/>
          <p:cNvSpPr/>
          <p:nvPr/>
        </p:nvSpPr>
        <p:spPr>
          <a:xfrm>
            <a:off x="566928" y="1554480"/>
            <a:ext cx="3520440" cy="1920240"/>
          </a:xfrm>
          <a:prstGeom prst="roundRect">
            <a:avLst>
              <a:gd name="adj" fmla="val 6667"/>
            </a:avLst>
          </a:prstGeom>
          <a:solidFill>
            <a:srgbClr val="1A2350"/>
          </a:solidFill>
          <a:ln/>
        </p:spPr>
      </p:sp>
      <p:sp>
        <p:nvSpPr>
          <p:cNvPr id="5" name="Text 3"/>
          <p:cNvSpPr/>
          <p:nvPr/>
        </p:nvSpPr>
        <p:spPr>
          <a:xfrm>
            <a:off x="566928" y="1691640"/>
            <a:ext cx="3520440" cy="1005840"/>
          </a:xfrm>
          <a:prstGeom prst="rect">
            <a:avLst/>
          </a:prstGeom>
          <a:noFill/>
          <a:ln/>
        </p:spPr>
        <p:txBody>
          <a:bodyPr wrap="square" lIns="0" tIns="0" rIns="0" bIns="0" rtlCol="0" anchor="ctr"/>
          <a:lstStyle/>
          <a:p>
            <a:pPr algn="ctr" indent="0" marL="0">
              <a:buNone/>
            </a:pPr>
            <a:r>
              <a:rPr lang="en-US" sz="5800" b="1" dirty="0">
                <a:solidFill>
                  <a:srgbClr val="4C6FFF"/>
                </a:solidFill>
                <a:latin typeface="Cambria" pitchFamily="34" charset="0"/>
                <a:ea typeface="Cambria" pitchFamily="34" charset="-122"/>
                <a:cs typeface="Cambria" pitchFamily="34" charset="-120"/>
              </a:rPr>
              <a:t>4,000</a:t>
            </a:r>
            <a:endParaRPr lang="en-US" sz="5800" dirty="0"/>
          </a:p>
        </p:txBody>
      </p:sp>
      <p:sp>
        <p:nvSpPr>
          <p:cNvPr id="6" name="Text 4"/>
          <p:cNvSpPr/>
          <p:nvPr/>
        </p:nvSpPr>
        <p:spPr>
          <a:xfrm>
            <a:off x="841248" y="2697480"/>
            <a:ext cx="2971800" cy="640080"/>
          </a:xfrm>
          <a:prstGeom prst="rect">
            <a:avLst/>
          </a:prstGeom>
          <a:noFill/>
          <a:ln/>
        </p:spPr>
        <p:txBody>
          <a:bodyPr wrap="square" lIns="0" tIns="0" rIns="0" bIns="0" rtlCol="0" anchor="ctr"/>
          <a:lstStyle/>
          <a:p>
            <a:pPr algn="ctr" indent="0" marL="0">
              <a:buNone/>
            </a:pPr>
            <a:r>
              <a:rPr lang="en-US" sz="1400" dirty="0">
                <a:solidFill>
                  <a:srgbClr val="8A93B8"/>
                </a:solidFill>
                <a:latin typeface="Arial" pitchFamily="34" charset="0"/>
                <a:ea typeface="Arial" pitchFamily="34" charset="-122"/>
                <a:cs typeface="Arial" pitchFamily="34" charset="-120"/>
              </a:rPr>
              <a:t>photos from one college fest</a:t>
            </a:r>
            <a:endParaRPr lang="en-US" sz="1400" dirty="0"/>
          </a:p>
        </p:txBody>
      </p:sp>
      <p:sp>
        <p:nvSpPr>
          <p:cNvPr id="7" name="Shape 5"/>
          <p:cNvSpPr/>
          <p:nvPr/>
        </p:nvSpPr>
        <p:spPr>
          <a:xfrm>
            <a:off x="4270248" y="1554480"/>
            <a:ext cx="3520440" cy="1920240"/>
          </a:xfrm>
          <a:prstGeom prst="roundRect">
            <a:avLst>
              <a:gd name="adj" fmla="val 6667"/>
            </a:avLst>
          </a:prstGeom>
          <a:solidFill>
            <a:srgbClr val="1A2350"/>
          </a:solidFill>
          <a:ln/>
        </p:spPr>
      </p:sp>
      <p:sp>
        <p:nvSpPr>
          <p:cNvPr id="8" name="Text 6"/>
          <p:cNvSpPr/>
          <p:nvPr/>
        </p:nvSpPr>
        <p:spPr>
          <a:xfrm>
            <a:off x="4270248" y="1691640"/>
            <a:ext cx="3520440" cy="1005840"/>
          </a:xfrm>
          <a:prstGeom prst="rect">
            <a:avLst/>
          </a:prstGeom>
          <a:noFill/>
          <a:ln/>
        </p:spPr>
        <p:txBody>
          <a:bodyPr wrap="square" lIns="0" tIns="0" rIns="0" bIns="0" rtlCol="0" anchor="ctr"/>
          <a:lstStyle/>
          <a:p>
            <a:pPr algn="ctr" indent="0" marL="0">
              <a:buNone/>
            </a:pPr>
            <a:r>
              <a:rPr lang="en-US" sz="5800" b="1" dirty="0">
                <a:solidFill>
                  <a:srgbClr val="3DD68C"/>
                </a:solidFill>
                <a:latin typeface="Cambria" pitchFamily="34" charset="0"/>
                <a:ea typeface="Cambria" pitchFamily="34" charset="-122"/>
                <a:cs typeface="Cambria" pitchFamily="34" charset="-120"/>
              </a:rPr>
              <a:t>~12</a:t>
            </a:r>
            <a:endParaRPr lang="en-US" sz="5800" dirty="0"/>
          </a:p>
        </p:txBody>
      </p:sp>
      <p:sp>
        <p:nvSpPr>
          <p:cNvPr id="9" name="Text 7"/>
          <p:cNvSpPr/>
          <p:nvPr/>
        </p:nvSpPr>
        <p:spPr>
          <a:xfrm>
            <a:off x="4544568" y="2697480"/>
            <a:ext cx="2971800" cy="640080"/>
          </a:xfrm>
          <a:prstGeom prst="rect">
            <a:avLst/>
          </a:prstGeom>
          <a:noFill/>
          <a:ln/>
        </p:spPr>
        <p:txBody>
          <a:bodyPr wrap="square" lIns="0" tIns="0" rIns="0" bIns="0" rtlCol="0" anchor="ctr"/>
          <a:lstStyle/>
          <a:p>
            <a:pPr algn="ctr" indent="0" marL="0">
              <a:buNone/>
            </a:pPr>
            <a:r>
              <a:rPr lang="en-US" sz="1400" dirty="0">
                <a:solidFill>
                  <a:srgbClr val="8A93B8"/>
                </a:solidFill>
                <a:latin typeface="Arial" pitchFamily="34" charset="0"/>
                <a:ea typeface="Arial" pitchFamily="34" charset="-122"/>
                <a:cs typeface="Arial" pitchFamily="34" charset="-120"/>
              </a:rPr>
              <a:t>of them actually have you in</a:t>
            </a:r>
            <a:endParaRPr lang="en-US" sz="1400" dirty="0"/>
          </a:p>
        </p:txBody>
      </p:sp>
      <p:sp>
        <p:nvSpPr>
          <p:cNvPr id="10" name="Shape 8"/>
          <p:cNvSpPr/>
          <p:nvPr/>
        </p:nvSpPr>
        <p:spPr>
          <a:xfrm>
            <a:off x="7973568" y="1554480"/>
            <a:ext cx="3520440" cy="1920240"/>
          </a:xfrm>
          <a:prstGeom prst="roundRect">
            <a:avLst>
              <a:gd name="adj" fmla="val 6667"/>
            </a:avLst>
          </a:prstGeom>
          <a:solidFill>
            <a:srgbClr val="1A2350"/>
          </a:solidFill>
          <a:ln/>
        </p:spPr>
      </p:sp>
      <p:sp>
        <p:nvSpPr>
          <p:cNvPr id="11" name="Text 9"/>
          <p:cNvSpPr/>
          <p:nvPr/>
        </p:nvSpPr>
        <p:spPr>
          <a:xfrm>
            <a:off x="7973568" y="1691640"/>
            <a:ext cx="3520440" cy="1005840"/>
          </a:xfrm>
          <a:prstGeom prst="rect">
            <a:avLst/>
          </a:prstGeom>
          <a:noFill/>
          <a:ln/>
        </p:spPr>
        <p:txBody>
          <a:bodyPr wrap="square" lIns="0" tIns="0" rIns="0" bIns="0" rtlCol="0" anchor="ctr"/>
          <a:lstStyle/>
          <a:p>
            <a:pPr algn="ctr" indent="0" marL="0">
              <a:buNone/>
            </a:pPr>
            <a:r>
              <a:rPr lang="en-US" sz="5800" b="1" dirty="0">
                <a:solidFill>
                  <a:srgbClr val="FFB020"/>
                </a:solidFill>
                <a:latin typeface="Cambria" pitchFamily="34" charset="0"/>
                <a:ea typeface="Cambria" pitchFamily="34" charset="-122"/>
                <a:cs typeface="Cambria" pitchFamily="34" charset="-120"/>
              </a:rPr>
              <a:t>1 hr</a:t>
            </a:r>
            <a:endParaRPr lang="en-US" sz="5800" dirty="0"/>
          </a:p>
        </p:txBody>
      </p:sp>
      <p:sp>
        <p:nvSpPr>
          <p:cNvPr id="12" name="Text 10"/>
          <p:cNvSpPr/>
          <p:nvPr/>
        </p:nvSpPr>
        <p:spPr>
          <a:xfrm>
            <a:off x="8247888" y="2697480"/>
            <a:ext cx="2971800" cy="640080"/>
          </a:xfrm>
          <a:prstGeom prst="rect">
            <a:avLst/>
          </a:prstGeom>
          <a:noFill/>
          <a:ln/>
        </p:spPr>
        <p:txBody>
          <a:bodyPr wrap="square" lIns="0" tIns="0" rIns="0" bIns="0" rtlCol="0" anchor="ctr"/>
          <a:lstStyle/>
          <a:p>
            <a:pPr algn="ctr" indent="0" marL="0">
              <a:buNone/>
            </a:pPr>
            <a:r>
              <a:rPr lang="en-US" sz="1400" dirty="0">
                <a:solidFill>
                  <a:srgbClr val="8A93B8"/>
                </a:solidFill>
                <a:latin typeface="Arial" pitchFamily="34" charset="0"/>
                <a:ea typeface="Arial" pitchFamily="34" charset="-122"/>
                <a:cs typeface="Arial" pitchFamily="34" charset="-120"/>
              </a:rPr>
              <a:t>of scrolling to find them by hand</a:t>
            </a:r>
            <a:endParaRPr lang="en-US" sz="1400" dirty="0"/>
          </a:p>
        </p:txBody>
      </p:sp>
      <p:sp>
        <p:nvSpPr>
          <p:cNvPr id="13" name="Shape 11"/>
          <p:cNvSpPr/>
          <p:nvPr/>
        </p:nvSpPr>
        <p:spPr>
          <a:xfrm>
            <a:off x="566928" y="3794760"/>
            <a:ext cx="11064240" cy="1371600"/>
          </a:xfrm>
          <a:prstGeom prst="roundRect">
            <a:avLst>
              <a:gd name="adj" fmla="val 9333"/>
            </a:avLst>
          </a:prstGeom>
          <a:solidFill>
            <a:srgbClr val="141B3E"/>
          </a:solidFill>
          <a:ln w="25400">
            <a:solidFill>
              <a:srgbClr val="3DD68C"/>
            </a:solidFill>
            <a:prstDash val="solid"/>
          </a:ln>
        </p:spPr>
      </p:sp>
      <p:sp>
        <p:nvSpPr>
          <p:cNvPr id="14" name="Text 12"/>
          <p:cNvSpPr/>
          <p:nvPr/>
        </p:nvSpPr>
        <p:spPr>
          <a:xfrm>
            <a:off x="914400" y="3977640"/>
            <a:ext cx="10058400" cy="320040"/>
          </a:xfrm>
          <a:prstGeom prst="rect">
            <a:avLst/>
          </a:prstGeom>
          <a:noFill/>
          <a:ln/>
        </p:spPr>
        <p:txBody>
          <a:bodyPr wrap="square" lIns="0" tIns="0" rIns="0" bIns="0" rtlCol="0" anchor="ctr"/>
          <a:lstStyle/>
          <a:p>
            <a:pPr indent="0" marL="0">
              <a:buNone/>
            </a:pPr>
            <a:r>
              <a:rPr lang="en-US" sz="1400" b="1" dirty="0">
                <a:solidFill>
                  <a:srgbClr val="3DD68C"/>
                </a:solidFill>
                <a:latin typeface="Arial" pitchFamily="34" charset="0"/>
                <a:ea typeface="Arial" pitchFamily="34" charset="-122"/>
                <a:cs typeface="Arial" pitchFamily="34" charset="-120"/>
              </a:rPr>
              <a:t>The product answer</a:t>
            </a:r>
            <a:endParaRPr lang="en-US" sz="1400" dirty="0"/>
          </a:p>
        </p:txBody>
      </p:sp>
      <p:sp>
        <p:nvSpPr>
          <p:cNvPr id="15" name="Text 13"/>
          <p:cNvSpPr/>
          <p:nvPr/>
        </p:nvSpPr>
        <p:spPr>
          <a:xfrm>
            <a:off x="914400" y="4297680"/>
            <a:ext cx="1014984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You submit one selfie on a public link and get a private gallery containing exactly the photos you appear in. No account. No scrolling. No access to anyone else’s pictures.</a:t>
            </a:r>
            <a:endParaRPr lang="en-US" sz="1600" dirty="0"/>
          </a:p>
        </p:txBody>
      </p:sp>
      <p:sp>
        <p:nvSpPr>
          <p:cNvPr id="16" name="Text 14"/>
          <p:cNvSpPr/>
          <p:nvPr/>
        </p:nvSpPr>
        <p:spPr>
          <a:xfrm>
            <a:off x="566928" y="5486400"/>
            <a:ext cx="11064240" cy="457200"/>
          </a:xfrm>
          <a:prstGeom prst="rect">
            <a:avLst/>
          </a:prstGeom>
          <a:noFill/>
          <a:ln/>
        </p:spPr>
        <p:txBody>
          <a:bodyPr wrap="square" lIns="0" tIns="0" rIns="0" bIns="0" rtlCol="0" anchor="ctr"/>
          <a:lstStyle/>
          <a:p>
            <a:pPr indent="0" marL="0">
              <a:buNone/>
            </a:pPr>
            <a:r>
              <a:rPr lang="en-US" sz="1600" i="1" dirty="0">
                <a:solidFill>
                  <a:srgbClr val="8A93B8"/>
                </a:solidFill>
                <a:latin typeface="Arial" pitchFamily="34" charset="0"/>
                <a:ea typeface="Arial" pitchFamily="34" charset="-122"/>
                <a:cs typeface="Arial" pitchFamily="34" charset="-120"/>
              </a:rPr>
              <a:t>The engineering answer is the rest of this session.</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THREE KINDS OF USER</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EventLens actually is</a:t>
            </a:r>
            <a:endParaRPr lang="en-US" sz="3400" dirty="0"/>
          </a:p>
        </p:txBody>
      </p:sp>
      <p:sp>
        <p:nvSpPr>
          <p:cNvPr id="4" name="Shape 2"/>
          <p:cNvSpPr/>
          <p:nvPr/>
        </p:nvSpPr>
        <p:spPr>
          <a:xfrm>
            <a:off x="566928" y="1554480"/>
            <a:ext cx="3520440" cy="4023360"/>
          </a:xfrm>
          <a:prstGeom prst="roundRect">
            <a:avLst>
              <a:gd name="adj" fmla="val 3636"/>
            </a:avLst>
          </a:prstGeom>
          <a:solidFill>
            <a:srgbClr val="1A2350"/>
          </a:solidFill>
          <a:ln/>
        </p:spPr>
      </p:sp>
      <p:sp>
        <p:nvSpPr>
          <p:cNvPr id="5" name="Shape 3"/>
          <p:cNvSpPr/>
          <p:nvPr/>
        </p:nvSpPr>
        <p:spPr>
          <a:xfrm>
            <a:off x="841248" y="1810512"/>
            <a:ext cx="365760" cy="365760"/>
          </a:xfrm>
          <a:prstGeom prst="ellipse">
            <a:avLst/>
          </a:prstGeom>
          <a:solidFill>
            <a:srgbClr val="4C6FFF"/>
          </a:solidFill>
          <a:ln/>
        </p:spPr>
      </p:sp>
      <p:sp>
        <p:nvSpPr>
          <p:cNvPr id="6" name="Text 4"/>
          <p:cNvSpPr/>
          <p:nvPr/>
        </p:nvSpPr>
        <p:spPr>
          <a:xfrm>
            <a:off x="1344168" y="1783080"/>
            <a:ext cx="2560320" cy="411480"/>
          </a:xfrm>
          <a:prstGeom prst="rect">
            <a:avLst/>
          </a:prstGeom>
          <a:noFill/>
          <a:ln/>
        </p:spPr>
        <p:txBody>
          <a:bodyPr wrap="square" lIns="0" tIns="0" rIns="0" bIns="0" rtlCol="0" anchor="ctr"/>
          <a:lstStyle/>
          <a:p>
            <a:pPr indent="0" marL="0">
              <a:buNone/>
            </a:pPr>
            <a:r>
              <a:rPr lang="en-US" sz="1900" b="1" dirty="0">
                <a:solidFill>
                  <a:srgbClr val="4C6FFF"/>
                </a:solidFill>
                <a:latin typeface="Arial" pitchFamily="34" charset="0"/>
                <a:ea typeface="Arial" pitchFamily="34" charset="-122"/>
                <a:cs typeface="Arial" pitchFamily="34" charset="-120"/>
              </a:rPr>
              <a:t>Organisers</a:t>
            </a:r>
            <a:endParaRPr lang="en-US" sz="1900" dirty="0"/>
          </a:p>
        </p:txBody>
      </p:sp>
      <p:sp>
        <p:nvSpPr>
          <p:cNvPr id="7" name="Text 5"/>
          <p:cNvSpPr/>
          <p:nvPr/>
        </p:nvSpPr>
        <p:spPr>
          <a:xfrm>
            <a:off x="88696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Create an org and an event</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Bulk upload, or import from Google Drive / OneDrive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Review and name detected people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Erase a participant on request</a:t>
            </a:r>
            <a:endParaRPr lang="en-US" sz="1400" dirty="0"/>
          </a:p>
        </p:txBody>
      </p:sp>
      <p:sp>
        <p:nvSpPr>
          <p:cNvPr id="8" name="Shape 6"/>
          <p:cNvSpPr/>
          <p:nvPr/>
        </p:nvSpPr>
        <p:spPr>
          <a:xfrm>
            <a:off x="4270248" y="1554480"/>
            <a:ext cx="3520440" cy="4023360"/>
          </a:xfrm>
          <a:prstGeom prst="roundRect">
            <a:avLst>
              <a:gd name="adj" fmla="val 3636"/>
            </a:avLst>
          </a:prstGeom>
          <a:solidFill>
            <a:srgbClr val="1A2350"/>
          </a:solidFill>
          <a:ln/>
        </p:spPr>
      </p:sp>
      <p:sp>
        <p:nvSpPr>
          <p:cNvPr id="9" name="Shape 7"/>
          <p:cNvSpPr/>
          <p:nvPr/>
        </p:nvSpPr>
        <p:spPr>
          <a:xfrm>
            <a:off x="4544568" y="1810512"/>
            <a:ext cx="365760" cy="365760"/>
          </a:xfrm>
          <a:prstGeom prst="ellipse">
            <a:avLst/>
          </a:prstGeom>
          <a:solidFill>
            <a:srgbClr val="3DD68C"/>
          </a:solidFill>
          <a:ln/>
        </p:spPr>
      </p:sp>
      <p:sp>
        <p:nvSpPr>
          <p:cNvPr id="10" name="Text 8"/>
          <p:cNvSpPr/>
          <p:nvPr/>
        </p:nvSpPr>
        <p:spPr>
          <a:xfrm>
            <a:off x="5047488" y="1783080"/>
            <a:ext cx="2560320" cy="41148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Participants</a:t>
            </a:r>
            <a:endParaRPr lang="en-US" sz="1900" dirty="0"/>
          </a:p>
        </p:txBody>
      </p:sp>
      <p:sp>
        <p:nvSpPr>
          <p:cNvPr id="11" name="Text 9"/>
          <p:cNvSpPr/>
          <p:nvPr/>
        </p:nvSpPr>
        <p:spPr>
          <a:xfrm>
            <a:off x="459028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Open a public event link</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Submit one selfie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Get a tokenised private gallery</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Download the lot as a zip</a:t>
            </a:r>
            <a:endParaRPr lang="en-US" sz="1400" dirty="0"/>
          </a:p>
        </p:txBody>
      </p:sp>
      <p:sp>
        <p:nvSpPr>
          <p:cNvPr id="12" name="Shape 10"/>
          <p:cNvSpPr/>
          <p:nvPr/>
        </p:nvSpPr>
        <p:spPr>
          <a:xfrm>
            <a:off x="7973568" y="1554480"/>
            <a:ext cx="3520440" cy="4023360"/>
          </a:xfrm>
          <a:prstGeom prst="roundRect">
            <a:avLst>
              <a:gd name="adj" fmla="val 3636"/>
            </a:avLst>
          </a:prstGeom>
          <a:solidFill>
            <a:srgbClr val="1A2350"/>
          </a:solidFill>
          <a:ln/>
        </p:spPr>
      </p:sp>
      <p:sp>
        <p:nvSpPr>
          <p:cNvPr id="13" name="Shape 11"/>
          <p:cNvSpPr/>
          <p:nvPr/>
        </p:nvSpPr>
        <p:spPr>
          <a:xfrm>
            <a:off x="8247888" y="1810512"/>
            <a:ext cx="365760" cy="365760"/>
          </a:xfrm>
          <a:prstGeom prst="ellipse">
            <a:avLst/>
          </a:prstGeom>
          <a:solidFill>
            <a:srgbClr val="FFB020"/>
          </a:solidFill>
          <a:ln/>
        </p:spPr>
      </p:sp>
      <p:sp>
        <p:nvSpPr>
          <p:cNvPr id="14" name="Text 12"/>
          <p:cNvSpPr/>
          <p:nvPr/>
        </p:nvSpPr>
        <p:spPr>
          <a:xfrm>
            <a:off x="8750808" y="1783080"/>
            <a:ext cx="2560320" cy="41148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Admins</a:t>
            </a:r>
            <a:endParaRPr lang="en-US" sz="1900" dirty="0"/>
          </a:p>
        </p:txBody>
      </p:sp>
      <p:sp>
        <p:nvSpPr>
          <p:cNvPr id="15" name="Text 13"/>
          <p:cNvSpPr/>
          <p:nvPr/>
        </p:nvSpPr>
        <p:spPr>
          <a:xfrm>
            <a:off x="8293608" y="2377440"/>
            <a:ext cx="2926080" cy="301752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Watch every queue live</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See what the GPU box is doing and what it has cost</a:t>
            </a:r>
            <a:endParaRPr lang="en-US" sz="1400" dirty="0"/>
          </a:p>
          <a:p>
            <a:pPr marL="342900" indent="-342900">
              <a:lnSpc>
                <a:spcPts val="1900"/>
              </a:lnSpc>
              <a:spcAft>
                <a:spcPts val="1000"/>
              </a:spcAft>
              <a:buSzPct val="100000"/>
              <a:buChar char="•"/>
            </a:pPr>
            <a:r>
              <a:rPr lang="en-US" sz="1400" dirty="0">
                <a:solidFill>
                  <a:srgbClr val="A9BEFF"/>
                </a:solidFill>
                <a:latin typeface="Arial" pitchFamily="34" charset="0"/>
                <a:ea typeface="Arial" pitchFamily="34" charset="-122"/>
                <a:cs typeface="Arial" pitchFamily="34" charset="-120"/>
              </a:rPr>
              <a:t>Wake it or pause it by hand</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SWITCH TO THE BROWSER</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Demo — the whole product in four minutes</a:t>
            </a:r>
            <a:endParaRPr lang="en-US" sz="3400" dirty="0"/>
          </a:p>
        </p:txBody>
      </p:sp>
      <p:sp>
        <p:nvSpPr>
          <p:cNvPr id="4" name="Shape 2"/>
          <p:cNvSpPr/>
          <p:nvPr/>
        </p:nvSpPr>
        <p:spPr>
          <a:xfrm>
            <a:off x="566928" y="1554480"/>
            <a:ext cx="11064240" cy="868680"/>
          </a:xfrm>
          <a:prstGeom prst="roundRect">
            <a:avLst>
              <a:gd name="adj" fmla="val 10526"/>
            </a:avLst>
          </a:prstGeom>
          <a:solidFill>
            <a:srgbClr val="1A2350"/>
          </a:solidFill>
          <a:ln/>
        </p:spPr>
      </p:sp>
      <p:sp>
        <p:nvSpPr>
          <p:cNvPr id="5" name="Shape 3"/>
          <p:cNvSpPr/>
          <p:nvPr/>
        </p:nvSpPr>
        <p:spPr>
          <a:xfrm>
            <a:off x="804672" y="1792224"/>
            <a:ext cx="402336" cy="402336"/>
          </a:xfrm>
          <a:prstGeom prst="ellipse">
            <a:avLst/>
          </a:prstGeom>
          <a:solidFill>
            <a:srgbClr val="FFB020"/>
          </a:solidFill>
          <a:ln/>
        </p:spPr>
      </p:sp>
      <p:sp>
        <p:nvSpPr>
          <p:cNvPr id="6" name="Text 4"/>
          <p:cNvSpPr/>
          <p:nvPr/>
        </p:nvSpPr>
        <p:spPr>
          <a:xfrm>
            <a:off x="804672" y="179222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17320" y="167335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Create an event and drag in 50 photos</a:t>
            </a:r>
            <a:endParaRPr lang="en-US" sz="1700" dirty="0"/>
          </a:p>
        </p:txBody>
      </p:sp>
      <p:sp>
        <p:nvSpPr>
          <p:cNvPr id="8" name="Text 6"/>
          <p:cNvSpPr/>
          <p:nvPr/>
        </p:nvSpPr>
        <p:spPr>
          <a:xfrm>
            <a:off x="1417320" y="201168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Watch the processing badges flip as jobs drain.</a:t>
            </a:r>
            <a:endParaRPr lang="en-US" sz="1300" dirty="0"/>
          </a:p>
        </p:txBody>
      </p:sp>
      <p:sp>
        <p:nvSpPr>
          <p:cNvPr id="9" name="Shape 7"/>
          <p:cNvSpPr/>
          <p:nvPr/>
        </p:nvSpPr>
        <p:spPr>
          <a:xfrm>
            <a:off x="566928" y="2560320"/>
            <a:ext cx="11064240" cy="868680"/>
          </a:xfrm>
          <a:prstGeom prst="roundRect">
            <a:avLst>
              <a:gd name="adj" fmla="val 10526"/>
            </a:avLst>
          </a:prstGeom>
          <a:solidFill>
            <a:srgbClr val="1A2350"/>
          </a:solidFill>
          <a:ln/>
        </p:spPr>
      </p:sp>
      <p:sp>
        <p:nvSpPr>
          <p:cNvPr id="10" name="Shape 8"/>
          <p:cNvSpPr/>
          <p:nvPr/>
        </p:nvSpPr>
        <p:spPr>
          <a:xfrm>
            <a:off x="804672" y="2798064"/>
            <a:ext cx="402336" cy="402336"/>
          </a:xfrm>
          <a:prstGeom prst="ellipse">
            <a:avLst/>
          </a:prstGeom>
          <a:solidFill>
            <a:srgbClr val="FFB020"/>
          </a:solidFill>
          <a:ln/>
        </p:spPr>
      </p:sp>
      <p:sp>
        <p:nvSpPr>
          <p:cNvPr id="11" name="Text 9"/>
          <p:cNvSpPr/>
          <p:nvPr/>
        </p:nvSpPr>
        <p:spPr>
          <a:xfrm>
            <a:off x="804672" y="279806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1417320" y="267919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Open the public link as a stranger</a:t>
            </a:r>
            <a:endParaRPr lang="en-US" sz="1700" dirty="0"/>
          </a:p>
        </p:txBody>
      </p:sp>
      <p:sp>
        <p:nvSpPr>
          <p:cNvPr id="13" name="Text 11"/>
          <p:cNvSpPr/>
          <p:nvPr/>
        </p:nvSpPr>
        <p:spPr>
          <a:xfrm>
            <a:off x="1417320" y="301752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 login. Just a selfie box and a privacy notice.</a:t>
            </a:r>
            <a:endParaRPr lang="en-US" sz="1300" dirty="0"/>
          </a:p>
        </p:txBody>
      </p:sp>
      <p:sp>
        <p:nvSpPr>
          <p:cNvPr id="14" name="Shape 12"/>
          <p:cNvSpPr/>
          <p:nvPr/>
        </p:nvSpPr>
        <p:spPr>
          <a:xfrm>
            <a:off x="566928" y="3566160"/>
            <a:ext cx="11064240" cy="868680"/>
          </a:xfrm>
          <a:prstGeom prst="roundRect">
            <a:avLst>
              <a:gd name="adj" fmla="val 10526"/>
            </a:avLst>
          </a:prstGeom>
          <a:solidFill>
            <a:srgbClr val="1A2350"/>
          </a:solidFill>
          <a:ln/>
        </p:spPr>
      </p:sp>
      <p:sp>
        <p:nvSpPr>
          <p:cNvPr id="15" name="Shape 13"/>
          <p:cNvSpPr/>
          <p:nvPr/>
        </p:nvSpPr>
        <p:spPr>
          <a:xfrm>
            <a:off x="804672" y="3803904"/>
            <a:ext cx="402336" cy="402336"/>
          </a:xfrm>
          <a:prstGeom prst="ellipse">
            <a:avLst/>
          </a:prstGeom>
          <a:solidFill>
            <a:srgbClr val="FFB020"/>
          </a:solidFill>
          <a:ln/>
        </p:spPr>
      </p:sp>
      <p:sp>
        <p:nvSpPr>
          <p:cNvPr id="16" name="Text 14"/>
          <p:cNvSpPr/>
          <p:nvPr/>
        </p:nvSpPr>
        <p:spPr>
          <a:xfrm>
            <a:off x="804672" y="380390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1417320" y="368503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Submit a selfie</a:t>
            </a:r>
            <a:endParaRPr lang="en-US" sz="1700" dirty="0"/>
          </a:p>
        </p:txBody>
      </p:sp>
      <p:sp>
        <p:nvSpPr>
          <p:cNvPr id="18" name="Text 16"/>
          <p:cNvSpPr/>
          <p:nvPr/>
        </p:nvSpPr>
        <p:spPr>
          <a:xfrm>
            <a:off x="1417320" y="402336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Either a live queue position, or “we will email you”.</a:t>
            </a:r>
            <a:endParaRPr lang="en-US" sz="1300" dirty="0"/>
          </a:p>
        </p:txBody>
      </p:sp>
      <p:sp>
        <p:nvSpPr>
          <p:cNvPr id="19" name="Shape 17"/>
          <p:cNvSpPr/>
          <p:nvPr/>
        </p:nvSpPr>
        <p:spPr>
          <a:xfrm>
            <a:off x="566928" y="4572000"/>
            <a:ext cx="11064240" cy="868680"/>
          </a:xfrm>
          <a:prstGeom prst="roundRect">
            <a:avLst>
              <a:gd name="adj" fmla="val 10526"/>
            </a:avLst>
          </a:prstGeom>
          <a:solidFill>
            <a:srgbClr val="1A2350"/>
          </a:solidFill>
          <a:ln/>
        </p:spPr>
      </p:sp>
      <p:sp>
        <p:nvSpPr>
          <p:cNvPr id="20" name="Shape 18"/>
          <p:cNvSpPr/>
          <p:nvPr/>
        </p:nvSpPr>
        <p:spPr>
          <a:xfrm>
            <a:off x="804672" y="4809744"/>
            <a:ext cx="402336" cy="402336"/>
          </a:xfrm>
          <a:prstGeom prst="ellipse">
            <a:avLst/>
          </a:prstGeom>
          <a:solidFill>
            <a:srgbClr val="FFB020"/>
          </a:solidFill>
          <a:ln/>
        </p:spPr>
      </p:sp>
      <p:sp>
        <p:nvSpPr>
          <p:cNvPr id="21" name="Text 19"/>
          <p:cNvSpPr/>
          <p:nvPr/>
        </p:nvSpPr>
        <p:spPr>
          <a:xfrm>
            <a:off x="804672" y="4809744"/>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1417320" y="4690872"/>
            <a:ext cx="9875520" cy="329184"/>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Open the personal gallery</a:t>
            </a:r>
            <a:endParaRPr lang="en-US" sz="1700" dirty="0"/>
          </a:p>
        </p:txBody>
      </p:sp>
      <p:sp>
        <p:nvSpPr>
          <p:cNvPr id="23" name="Text 21"/>
          <p:cNvSpPr/>
          <p:nvPr/>
        </p:nvSpPr>
        <p:spPr>
          <a:xfrm>
            <a:off x="1417320" y="5029200"/>
            <a:ext cx="9875520" cy="29260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Only that person’s photos. Download all as a zip.</a:t>
            </a:r>
            <a:endParaRPr lang="en-US" sz="1300" dirty="0"/>
          </a:p>
        </p:txBody>
      </p:sp>
      <p:sp>
        <p:nvSpPr>
          <p:cNvPr id="24" name="Text 22"/>
          <p:cNvSpPr/>
          <p:nvPr/>
        </p:nvSpPr>
        <p:spPr>
          <a:xfrm>
            <a:off x="566928" y="5760720"/>
            <a:ext cx="11064240" cy="45720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One thing to notice: after “upload”, nothing waits on the browser. Everything is a queued job.</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783080"/>
            <a:ext cx="2468880" cy="457200"/>
          </a:xfrm>
          <a:prstGeom prst="roundRect">
            <a:avLst>
              <a:gd name="adj" fmla="val 44000"/>
            </a:avLst>
          </a:prstGeom>
          <a:solidFill>
            <a:srgbClr val="FFB020"/>
          </a:solidFill>
          <a:ln/>
        </p:spPr>
      </p:sp>
      <p:sp>
        <p:nvSpPr>
          <p:cNvPr id="3" name="Text 1"/>
          <p:cNvSpPr/>
          <p:nvPr/>
        </p:nvSpPr>
        <p:spPr>
          <a:xfrm>
            <a:off x="566928" y="1783080"/>
            <a:ext cx="2468880" cy="457200"/>
          </a:xfrm>
          <a:prstGeom prst="rect">
            <a:avLst/>
          </a:prstGeom>
          <a:noFill/>
          <a:ln/>
        </p:spPr>
        <p:txBody>
          <a:bodyPr wrap="square" lIns="0" tIns="0" rIns="0" bIns="0" rtlCol="0" anchor="ctr"/>
          <a:lstStyle/>
          <a:p>
            <a:pPr algn="ctr" indent="0" marL="0">
              <a:buNone/>
            </a:pPr>
            <a:r>
              <a:rPr lang="en-US" sz="1200" b="1" dirty="0">
                <a:solidFill>
                  <a:srgbClr val="11162E"/>
                </a:solidFill>
                <a:latin typeface="Arial" pitchFamily="34" charset="0"/>
                <a:ea typeface="Arial" pitchFamily="34" charset="-122"/>
                <a:cs typeface="Arial" pitchFamily="34" charset="-120"/>
              </a:rPr>
              <a:t>ACT ONE</a:t>
            </a:r>
            <a:endParaRPr lang="en-US" sz="1200" dirty="0"/>
          </a:p>
        </p:txBody>
      </p:sp>
      <p:sp>
        <p:nvSpPr>
          <p:cNvPr id="4" name="Text 2"/>
          <p:cNvSpPr/>
          <p:nvPr/>
        </p:nvSpPr>
        <p:spPr>
          <a:xfrm>
            <a:off x="566928" y="2377440"/>
            <a:ext cx="10515600" cy="109728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The models</a:t>
            </a:r>
            <a:endParaRPr lang="en-US" sz="5800" dirty="0"/>
          </a:p>
        </p:txBody>
      </p:sp>
      <p:sp>
        <p:nvSpPr>
          <p:cNvPr id="5" name="Text 3"/>
          <p:cNvSpPr/>
          <p:nvPr/>
        </p:nvSpPr>
        <p:spPr>
          <a:xfrm>
            <a:off x="566928" y="3520440"/>
            <a:ext cx="9875520" cy="640080"/>
          </a:xfrm>
          <a:prstGeom prst="rect">
            <a:avLst/>
          </a:prstGeom>
          <a:noFill/>
          <a:ln/>
        </p:spPr>
        <p:txBody>
          <a:bodyPr wrap="square" lIns="0" tIns="0" rIns="0" bIns="0" rtlCol="0" anchor="ctr"/>
          <a:lstStyle/>
          <a:p>
            <a:pPr indent="0" marL="0">
              <a:buNone/>
            </a:pPr>
            <a:r>
              <a:rPr lang="en-US" sz="1900" dirty="0">
                <a:solidFill>
                  <a:srgbClr val="A9BEFF"/>
                </a:solidFill>
                <a:latin typeface="Arial" pitchFamily="34" charset="0"/>
                <a:ea typeface="Arial" pitchFamily="34" charset="-122"/>
                <a:cs typeface="Arial" pitchFamily="34" charset="-120"/>
              </a:rPr>
              <a:t>Three pretrained models do all the intelligence here. We trained none of them — and that is the point.</a:t>
            </a:r>
            <a:endParaRPr lang="en-US" sz="1900" dirty="0"/>
          </a:p>
        </p:txBody>
      </p:sp>
      <p:sp>
        <p:nvSpPr>
          <p:cNvPr id="6" name="Shape 4"/>
          <p:cNvSpPr/>
          <p:nvPr/>
        </p:nvSpPr>
        <p:spPr>
          <a:xfrm>
            <a:off x="566928" y="4709160"/>
            <a:ext cx="2606040" cy="822960"/>
          </a:xfrm>
          <a:prstGeom prst="roundRect">
            <a:avLst>
              <a:gd name="adj" fmla="val 13333"/>
            </a:avLst>
          </a:prstGeom>
          <a:solidFill>
            <a:srgbClr val="1A2350"/>
          </a:solidFill>
          <a:ln w="19050">
            <a:solidFill>
              <a:srgbClr val="FFB020"/>
            </a:solidFill>
            <a:prstDash val="solid"/>
          </a:ln>
        </p:spPr>
      </p:sp>
      <p:sp>
        <p:nvSpPr>
          <p:cNvPr id="7" name="Text 5"/>
          <p:cNvSpPr/>
          <p:nvPr/>
        </p:nvSpPr>
        <p:spPr>
          <a:xfrm>
            <a:off x="704088" y="470916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Detect the faces</a:t>
            </a:r>
            <a:endParaRPr lang="en-US" sz="1400" dirty="0"/>
          </a:p>
        </p:txBody>
      </p:sp>
      <p:sp>
        <p:nvSpPr>
          <p:cNvPr id="8" name="Shape 6"/>
          <p:cNvSpPr/>
          <p:nvPr/>
        </p:nvSpPr>
        <p:spPr>
          <a:xfrm>
            <a:off x="3355848" y="4709160"/>
            <a:ext cx="2606040" cy="822960"/>
          </a:xfrm>
          <a:prstGeom prst="roundRect">
            <a:avLst>
              <a:gd name="adj" fmla="val 13333"/>
            </a:avLst>
          </a:prstGeom>
          <a:solidFill>
            <a:srgbClr val="1A2350"/>
          </a:solidFill>
          <a:ln w="19050">
            <a:solidFill>
              <a:srgbClr val="FFB020"/>
            </a:solidFill>
            <a:prstDash val="solid"/>
          </a:ln>
        </p:spPr>
      </p:sp>
      <p:sp>
        <p:nvSpPr>
          <p:cNvPr id="9" name="Text 7"/>
          <p:cNvSpPr/>
          <p:nvPr/>
        </p:nvSpPr>
        <p:spPr>
          <a:xfrm>
            <a:off x="3493008" y="470916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Measure each face</a:t>
            </a:r>
            <a:endParaRPr lang="en-US" sz="1400" dirty="0"/>
          </a:p>
        </p:txBody>
      </p:sp>
      <p:sp>
        <p:nvSpPr>
          <p:cNvPr id="10" name="Shape 8"/>
          <p:cNvSpPr/>
          <p:nvPr/>
        </p:nvSpPr>
        <p:spPr>
          <a:xfrm>
            <a:off x="6144768" y="4709160"/>
            <a:ext cx="2606040" cy="822960"/>
          </a:xfrm>
          <a:prstGeom prst="roundRect">
            <a:avLst>
              <a:gd name="adj" fmla="val 13333"/>
            </a:avLst>
          </a:prstGeom>
          <a:solidFill>
            <a:srgbClr val="1A2350"/>
          </a:solidFill>
          <a:ln w="19050">
            <a:solidFill>
              <a:srgbClr val="FFB020"/>
            </a:solidFill>
            <a:prstDash val="solid"/>
          </a:ln>
        </p:spPr>
      </p:sp>
      <p:sp>
        <p:nvSpPr>
          <p:cNvPr id="11" name="Text 9"/>
          <p:cNvSpPr/>
          <p:nvPr/>
        </p:nvSpPr>
        <p:spPr>
          <a:xfrm>
            <a:off x="6281928" y="4709160"/>
            <a:ext cx="2331720" cy="822960"/>
          </a:xfrm>
          <a:prstGeom prst="rect">
            <a:avLst/>
          </a:prstGeom>
          <a:noFill/>
          <a:ln/>
        </p:spPr>
        <p:txBody>
          <a:bodyPr wrap="square" lIns="0" tIns="0" rIns="0" bIns="0" rtlCol="0" anchor="ctr"/>
          <a:lstStyle/>
          <a:p>
            <a:pPr algn="ctr" indent="0" marL="0">
              <a:buNone/>
            </a:pPr>
            <a:r>
              <a:rPr lang="en-US" sz="1400" b="1" dirty="0">
                <a:solidFill>
                  <a:srgbClr val="FFB020"/>
                </a:solidFill>
                <a:latin typeface="Arial" pitchFamily="34" charset="0"/>
                <a:ea typeface="Arial" pitchFamily="34" charset="-122"/>
                <a:cs typeface="Arial" pitchFamily="34" charset="-120"/>
              </a:rPr>
              <a:t>Understand the scene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THE THREE MODELS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each model is for</a:t>
            </a:r>
            <a:endParaRPr lang="en-US" sz="3400" dirty="0"/>
          </a:p>
        </p:txBody>
      </p:sp>
      <p:sp>
        <p:nvSpPr>
          <p:cNvPr id="4" name="Shape 2"/>
          <p:cNvSpPr/>
          <p:nvPr/>
        </p:nvSpPr>
        <p:spPr>
          <a:xfrm>
            <a:off x="566928" y="1463040"/>
            <a:ext cx="3520440" cy="3931920"/>
          </a:xfrm>
          <a:prstGeom prst="roundRect">
            <a:avLst>
              <a:gd name="adj" fmla="val 3636"/>
            </a:avLst>
          </a:prstGeom>
          <a:solidFill>
            <a:srgbClr val="1A2350"/>
          </a:solidFill>
          <a:ln w="25400">
            <a:solidFill>
              <a:srgbClr val="FFB020"/>
            </a:solidFill>
            <a:prstDash val="solid"/>
          </a:ln>
        </p:spPr>
      </p:sp>
      <p:sp>
        <p:nvSpPr>
          <p:cNvPr id="5" name="Shape 3"/>
          <p:cNvSpPr/>
          <p:nvPr/>
        </p:nvSpPr>
        <p:spPr>
          <a:xfrm>
            <a:off x="822960" y="1691640"/>
            <a:ext cx="1554480" cy="329184"/>
          </a:xfrm>
          <a:prstGeom prst="roundRect">
            <a:avLst>
              <a:gd name="adj" fmla="val 44444"/>
            </a:avLst>
          </a:prstGeom>
          <a:solidFill>
            <a:srgbClr val="FFB020"/>
          </a:solidFill>
          <a:ln/>
        </p:spPr>
      </p:sp>
      <p:sp>
        <p:nvSpPr>
          <p:cNvPr id="6" name="Text 4"/>
          <p:cNvSpPr/>
          <p:nvPr/>
        </p:nvSpPr>
        <p:spPr>
          <a:xfrm>
            <a:off x="822960" y="1691640"/>
            <a:ext cx="1554480" cy="329184"/>
          </a:xfrm>
          <a:prstGeom prst="rect">
            <a:avLst/>
          </a:prstGeom>
          <a:noFill/>
          <a:ln/>
        </p:spPr>
        <p:txBody>
          <a:bodyPr wrap="square" lIns="0" tIns="0" rIns="0" bIns="0" rtlCol="0" anchor="ctr"/>
          <a:lstStyle/>
          <a:p>
            <a:pPr algn="ctr" indent="0" marL="0">
              <a:buNone/>
            </a:pPr>
            <a:r>
              <a:rPr lang="en-US" sz="1000" b="1" dirty="0">
                <a:solidFill>
                  <a:srgbClr val="11162E"/>
                </a:solidFill>
                <a:latin typeface="Arial" pitchFamily="34" charset="0"/>
                <a:ea typeface="Arial" pitchFamily="34" charset="-122"/>
                <a:cs typeface="Arial" pitchFamily="34" charset="-120"/>
              </a:rPr>
              <a:t>DETECTION</a:t>
            </a:r>
            <a:endParaRPr lang="en-US" sz="1000" dirty="0"/>
          </a:p>
        </p:txBody>
      </p:sp>
      <p:sp>
        <p:nvSpPr>
          <p:cNvPr id="7" name="Text 5"/>
          <p:cNvSpPr/>
          <p:nvPr/>
        </p:nvSpPr>
        <p:spPr>
          <a:xfrm>
            <a:off x="822960" y="2121408"/>
            <a:ext cx="3017520" cy="36576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RetinaFace</a:t>
            </a:r>
            <a:endParaRPr lang="en-US" sz="1800" dirty="0"/>
          </a:p>
        </p:txBody>
      </p:sp>
      <p:sp>
        <p:nvSpPr>
          <p:cNvPr id="8" name="Text 6"/>
          <p:cNvSpPr/>
          <p:nvPr/>
        </p:nvSpPr>
        <p:spPr>
          <a:xfrm>
            <a:off x="822960" y="2514600"/>
            <a:ext cx="3017520" cy="502920"/>
          </a:xfrm>
          <a:prstGeom prst="rect">
            <a:avLst/>
          </a:prstGeom>
          <a:noFill/>
          <a:ln/>
        </p:spPr>
        <p:txBody>
          <a:bodyPr wrap="square" lIns="0" tIns="0" rIns="0" bIns="0" rtlCol="0" anchor="ctr"/>
          <a:lstStyle/>
          <a:p>
            <a:pPr indent="0" marL="0">
              <a:buNone/>
            </a:pPr>
            <a:r>
              <a:rPr lang="en-US" sz="1400" i="1" dirty="0">
                <a:solidFill>
                  <a:srgbClr val="FFFFFF"/>
                </a:solidFill>
                <a:latin typeface="Arial" pitchFamily="34" charset="0"/>
                <a:ea typeface="Arial" pitchFamily="34" charset="-122"/>
                <a:cs typeface="Arial" pitchFamily="34" charset="-120"/>
              </a:rPr>
              <a:t>“Where are the faces?”</a:t>
            </a:r>
            <a:endParaRPr lang="en-US" sz="1400" dirty="0"/>
          </a:p>
        </p:txBody>
      </p:sp>
      <p:sp>
        <p:nvSpPr>
          <p:cNvPr id="9" name="Text 7"/>
          <p:cNvSpPr/>
          <p:nvPr/>
        </p:nvSpPr>
        <p:spPr>
          <a:xfrm>
            <a:off x="859536" y="3108960"/>
            <a:ext cx="2926080" cy="21945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In: a whole photo</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Out: a box, a confidence score and 5 landmarks per face</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Ships inside the buffalo_l pack</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Its output is a crop, never an identity</a:t>
            </a:r>
            <a:endParaRPr lang="en-US" sz="1200" dirty="0"/>
          </a:p>
        </p:txBody>
      </p:sp>
      <p:sp>
        <p:nvSpPr>
          <p:cNvPr id="10" name="Shape 8"/>
          <p:cNvSpPr/>
          <p:nvPr/>
        </p:nvSpPr>
        <p:spPr>
          <a:xfrm>
            <a:off x="4270248" y="1463040"/>
            <a:ext cx="3520440" cy="3931920"/>
          </a:xfrm>
          <a:prstGeom prst="roundRect">
            <a:avLst>
              <a:gd name="adj" fmla="val 3636"/>
            </a:avLst>
          </a:prstGeom>
          <a:solidFill>
            <a:srgbClr val="1A2350"/>
          </a:solidFill>
          <a:ln w="25400">
            <a:solidFill>
              <a:srgbClr val="A9BEFF"/>
            </a:solidFill>
            <a:prstDash val="solid"/>
          </a:ln>
        </p:spPr>
      </p:sp>
      <p:sp>
        <p:nvSpPr>
          <p:cNvPr id="11" name="Shape 9"/>
          <p:cNvSpPr/>
          <p:nvPr/>
        </p:nvSpPr>
        <p:spPr>
          <a:xfrm>
            <a:off x="4526280" y="1691640"/>
            <a:ext cx="1554480" cy="329184"/>
          </a:xfrm>
          <a:prstGeom prst="roundRect">
            <a:avLst>
              <a:gd name="adj" fmla="val 44444"/>
            </a:avLst>
          </a:prstGeom>
          <a:solidFill>
            <a:srgbClr val="A9BEFF"/>
          </a:solidFill>
          <a:ln/>
        </p:spPr>
      </p:sp>
      <p:sp>
        <p:nvSpPr>
          <p:cNvPr id="12" name="Text 10"/>
          <p:cNvSpPr/>
          <p:nvPr/>
        </p:nvSpPr>
        <p:spPr>
          <a:xfrm>
            <a:off x="4526280" y="1691640"/>
            <a:ext cx="1554480" cy="329184"/>
          </a:xfrm>
          <a:prstGeom prst="rect">
            <a:avLst/>
          </a:prstGeom>
          <a:noFill/>
          <a:ln/>
        </p:spPr>
        <p:txBody>
          <a:bodyPr wrap="square" lIns="0" tIns="0" rIns="0" bIns="0" rtlCol="0" anchor="ctr"/>
          <a:lstStyle/>
          <a:p>
            <a:pPr algn="ctr" indent="0" marL="0">
              <a:buNone/>
            </a:pPr>
            <a:r>
              <a:rPr lang="en-US" sz="1000" b="1" dirty="0">
                <a:solidFill>
                  <a:srgbClr val="11162E"/>
                </a:solidFill>
                <a:latin typeface="Arial" pitchFamily="34" charset="0"/>
                <a:ea typeface="Arial" pitchFamily="34" charset="-122"/>
                <a:cs typeface="Arial" pitchFamily="34" charset="-120"/>
              </a:rPr>
              <a:t>RECOGNITION</a:t>
            </a:r>
            <a:endParaRPr lang="en-US" sz="1000" dirty="0"/>
          </a:p>
        </p:txBody>
      </p:sp>
      <p:sp>
        <p:nvSpPr>
          <p:cNvPr id="13" name="Text 11"/>
          <p:cNvSpPr/>
          <p:nvPr/>
        </p:nvSpPr>
        <p:spPr>
          <a:xfrm>
            <a:off x="4526280" y="2121408"/>
            <a:ext cx="3017520" cy="365760"/>
          </a:xfrm>
          <a:prstGeom prst="rect">
            <a:avLst/>
          </a:prstGeom>
          <a:noFill/>
          <a:ln/>
        </p:spPr>
        <p:txBody>
          <a:bodyPr wrap="square" lIns="0" tIns="0" rIns="0" bIns="0" rtlCol="0" anchor="ctr"/>
          <a:lstStyle/>
          <a:p>
            <a:pPr indent="0" marL="0">
              <a:buNone/>
            </a:pPr>
            <a:r>
              <a:rPr lang="en-US" sz="1800" b="1" dirty="0">
                <a:solidFill>
                  <a:srgbClr val="A9BEFF"/>
                </a:solidFill>
                <a:latin typeface="Arial" pitchFamily="34" charset="0"/>
                <a:ea typeface="Arial" pitchFamily="34" charset="-122"/>
                <a:cs typeface="Arial" pitchFamily="34" charset="-120"/>
              </a:rPr>
              <a:t>ArcFace — buffalo_l</a:t>
            </a:r>
            <a:endParaRPr lang="en-US" sz="1800" dirty="0"/>
          </a:p>
        </p:txBody>
      </p:sp>
      <p:sp>
        <p:nvSpPr>
          <p:cNvPr id="14" name="Text 12"/>
          <p:cNvSpPr/>
          <p:nvPr/>
        </p:nvSpPr>
        <p:spPr>
          <a:xfrm>
            <a:off x="4526280" y="2514600"/>
            <a:ext cx="3017520" cy="502920"/>
          </a:xfrm>
          <a:prstGeom prst="rect">
            <a:avLst/>
          </a:prstGeom>
          <a:noFill/>
          <a:ln/>
        </p:spPr>
        <p:txBody>
          <a:bodyPr wrap="square" lIns="0" tIns="0" rIns="0" bIns="0" rtlCol="0" anchor="ctr"/>
          <a:lstStyle/>
          <a:p>
            <a:pPr indent="0" marL="0">
              <a:buNone/>
            </a:pPr>
            <a:r>
              <a:rPr lang="en-US" sz="1400" i="1" dirty="0">
                <a:solidFill>
                  <a:srgbClr val="FFFFFF"/>
                </a:solidFill>
                <a:latin typeface="Arial" pitchFamily="34" charset="0"/>
                <a:ea typeface="Arial" pitchFamily="34" charset="-122"/>
                <a:cs typeface="Arial" pitchFamily="34" charset="-120"/>
              </a:rPr>
              <a:t>“Who is this face?”</a:t>
            </a:r>
            <a:endParaRPr lang="en-US" sz="1400" dirty="0"/>
          </a:p>
        </p:txBody>
      </p:sp>
      <p:sp>
        <p:nvSpPr>
          <p:cNvPr id="15" name="Text 13"/>
          <p:cNvSpPr/>
          <p:nvPr/>
        </p:nvSpPr>
        <p:spPr>
          <a:xfrm>
            <a:off x="4562856" y="3108960"/>
            <a:ext cx="2926080" cy="21945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In: one aligned 112×112 face crop</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Out: 512 numbers (a vector)</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Never sees a whole photo</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Everything downstream is arithmetic on its output</a:t>
            </a:r>
            <a:endParaRPr lang="en-US" sz="1200" dirty="0"/>
          </a:p>
        </p:txBody>
      </p:sp>
      <p:sp>
        <p:nvSpPr>
          <p:cNvPr id="16" name="Shape 14"/>
          <p:cNvSpPr/>
          <p:nvPr/>
        </p:nvSpPr>
        <p:spPr>
          <a:xfrm>
            <a:off x="7973568" y="1463040"/>
            <a:ext cx="3520440" cy="3931920"/>
          </a:xfrm>
          <a:prstGeom prst="roundRect">
            <a:avLst>
              <a:gd name="adj" fmla="val 3636"/>
            </a:avLst>
          </a:prstGeom>
          <a:solidFill>
            <a:srgbClr val="1A2350"/>
          </a:solidFill>
          <a:ln w="25400">
            <a:solidFill>
              <a:srgbClr val="FF7AA8"/>
            </a:solidFill>
            <a:prstDash val="solid"/>
          </a:ln>
        </p:spPr>
      </p:sp>
      <p:sp>
        <p:nvSpPr>
          <p:cNvPr id="17" name="Shape 15"/>
          <p:cNvSpPr/>
          <p:nvPr/>
        </p:nvSpPr>
        <p:spPr>
          <a:xfrm>
            <a:off x="8229600" y="1691640"/>
            <a:ext cx="1554480" cy="329184"/>
          </a:xfrm>
          <a:prstGeom prst="roundRect">
            <a:avLst>
              <a:gd name="adj" fmla="val 44444"/>
            </a:avLst>
          </a:prstGeom>
          <a:solidFill>
            <a:srgbClr val="FF7AA8"/>
          </a:solidFill>
          <a:ln/>
        </p:spPr>
      </p:sp>
      <p:sp>
        <p:nvSpPr>
          <p:cNvPr id="18" name="Text 16"/>
          <p:cNvSpPr/>
          <p:nvPr/>
        </p:nvSpPr>
        <p:spPr>
          <a:xfrm>
            <a:off x="8229600" y="1691640"/>
            <a:ext cx="1554480" cy="329184"/>
          </a:xfrm>
          <a:prstGeom prst="rect">
            <a:avLst/>
          </a:prstGeom>
          <a:noFill/>
          <a:ln/>
        </p:spPr>
        <p:txBody>
          <a:bodyPr wrap="square" lIns="0" tIns="0" rIns="0" bIns="0" rtlCol="0" anchor="ctr"/>
          <a:lstStyle/>
          <a:p>
            <a:pPr algn="ctr" indent="0" marL="0">
              <a:buNone/>
            </a:pPr>
            <a:r>
              <a:rPr lang="en-US" sz="1000" b="1" dirty="0">
                <a:solidFill>
                  <a:srgbClr val="11162E"/>
                </a:solidFill>
                <a:latin typeface="Arial" pitchFamily="34" charset="0"/>
                <a:ea typeface="Arial" pitchFamily="34" charset="-122"/>
                <a:cs typeface="Arial" pitchFamily="34" charset="-120"/>
              </a:rPr>
              <a:t>SCENE SEARCH</a:t>
            </a:r>
            <a:endParaRPr lang="en-US" sz="1000" dirty="0"/>
          </a:p>
        </p:txBody>
      </p:sp>
      <p:sp>
        <p:nvSpPr>
          <p:cNvPr id="19" name="Text 17"/>
          <p:cNvSpPr/>
          <p:nvPr/>
        </p:nvSpPr>
        <p:spPr>
          <a:xfrm>
            <a:off x="8229600" y="2121408"/>
            <a:ext cx="3017520" cy="36576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CLIP — ViT-B-32</a:t>
            </a:r>
            <a:endParaRPr lang="en-US" sz="1800" dirty="0"/>
          </a:p>
        </p:txBody>
      </p:sp>
      <p:sp>
        <p:nvSpPr>
          <p:cNvPr id="20" name="Text 18"/>
          <p:cNvSpPr/>
          <p:nvPr/>
        </p:nvSpPr>
        <p:spPr>
          <a:xfrm>
            <a:off x="8229600" y="2514600"/>
            <a:ext cx="3017520" cy="502920"/>
          </a:xfrm>
          <a:prstGeom prst="rect">
            <a:avLst/>
          </a:prstGeom>
          <a:noFill/>
          <a:ln/>
        </p:spPr>
        <p:txBody>
          <a:bodyPr wrap="square" lIns="0" tIns="0" rIns="0" bIns="0" rtlCol="0" anchor="ctr"/>
          <a:lstStyle/>
          <a:p>
            <a:pPr indent="0" marL="0">
              <a:buNone/>
            </a:pPr>
            <a:r>
              <a:rPr lang="en-US" sz="1400" i="1" dirty="0">
                <a:solidFill>
                  <a:srgbClr val="FFFFFF"/>
                </a:solidFill>
                <a:latin typeface="Arial" pitchFamily="34" charset="0"/>
                <a:ea typeface="Arial" pitchFamily="34" charset="-122"/>
                <a:cs typeface="Arial" pitchFamily="34" charset="-120"/>
              </a:rPr>
              <a:t>“What is happening in this photo?”</a:t>
            </a:r>
            <a:endParaRPr lang="en-US" sz="1400" dirty="0"/>
          </a:p>
        </p:txBody>
      </p:sp>
      <p:sp>
        <p:nvSpPr>
          <p:cNvPr id="21" name="Text 19"/>
          <p:cNvSpPr/>
          <p:nvPr/>
        </p:nvSpPr>
        <p:spPr>
          <a:xfrm>
            <a:off x="8266176" y="3108960"/>
            <a:ext cx="2926080" cy="2194560"/>
          </a:xfrm>
          <a:prstGeom prst="rect">
            <a:avLst/>
          </a:prstGeom>
          <a:noFill/>
          <a:ln/>
        </p:spPr>
        <p:txBody>
          <a:bodyPr wrap="square" lIns="0" tIns="0" rIns="0" bIns="0" rtlCol="0" anchor="ctr"/>
          <a:lstStyle/>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In: the whole photo preview</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Out: 512 numbers describing the scene</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Powers “find similar photos”</a:t>
            </a:r>
            <a:endParaRPr lang="en-US" sz="1200" dirty="0"/>
          </a:p>
          <a:p>
            <a:pPr marL="342900" indent="-342900">
              <a:lnSpc>
                <a:spcPts val="1600"/>
              </a:lnSpc>
              <a:spcAft>
                <a:spcPts val="800"/>
              </a:spcAft>
              <a:buSzPct val="100000"/>
              <a:buChar char="•"/>
            </a:pPr>
            <a:r>
              <a:rPr lang="en-US" sz="1200" dirty="0">
                <a:solidFill>
                  <a:srgbClr val="8A93B8"/>
                </a:solidFill>
                <a:latin typeface="Arial" pitchFamily="34" charset="0"/>
                <a:ea typeface="Arial" pitchFamily="34" charset="-122"/>
                <a:cs typeface="Arial" pitchFamily="34" charset="-120"/>
              </a:rPr>
              <a:t>Nothing to do with identity</a:t>
            </a:r>
            <a:endParaRPr lang="en-US" sz="1200" dirty="0"/>
          </a:p>
        </p:txBody>
      </p:sp>
      <p:sp>
        <p:nvSpPr>
          <p:cNvPr id="22" name="Shape 20"/>
          <p:cNvSpPr/>
          <p:nvPr/>
        </p:nvSpPr>
        <p:spPr>
          <a:xfrm>
            <a:off x="566928" y="5577840"/>
            <a:ext cx="11064240" cy="960120"/>
          </a:xfrm>
          <a:prstGeom prst="roundRect">
            <a:avLst>
              <a:gd name="adj" fmla="val 13333"/>
            </a:avLst>
          </a:prstGeom>
          <a:solidFill>
            <a:srgbClr val="141B3E"/>
          </a:solidFill>
          <a:ln w="25400">
            <a:solidFill>
              <a:srgbClr val="3DD68C"/>
            </a:solidFill>
            <a:prstDash val="solid"/>
          </a:ln>
        </p:spPr>
      </p:sp>
      <p:sp>
        <p:nvSpPr>
          <p:cNvPr id="23" name="Text 21"/>
          <p:cNvSpPr/>
          <p:nvPr/>
        </p:nvSpPr>
        <p:spPr>
          <a:xfrm>
            <a:off x="914400" y="5669280"/>
            <a:ext cx="10332720" cy="7772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All three are pretrained and run inside one Python sidecar — a verbatim copy of Immich’s machine-learning service. We wrote none of the model code. What we built is everything around it: the queues, the scoping, the storage and the machine they run 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PRACTICAL SIDE OF THE MODELS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they cost you to run</a:t>
            </a:r>
            <a:endParaRPr lang="en-US" sz="3400" dirty="0"/>
          </a:p>
        </p:txBody>
      </p:sp>
      <p:sp>
        <p:nvSpPr>
          <p:cNvPr id="4" name="Text 2"/>
          <p:cNvSpPr/>
          <p:nvPr/>
        </p:nvSpPr>
        <p:spPr>
          <a:xfrm>
            <a:off x="914400" y="1463040"/>
            <a:ext cx="2377440" cy="320040"/>
          </a:xfrm>
          <a:prstGeom prst="rect">
            <a:avLst/>
          </a:prstGeom>
          <a:noFill/>
          <a:ln/>
        </p:spPr>
        <p:txBody>
          <a:bodyPr wrap="square" lIns="0" tIns="0" rIns="0" bIns="0" rtlCol="0" anchor="ctr"/>
          <a:lstStyle/>
          <a:p>
            <a:pPr indent="0" marL="0">
              <a:buNone/>
            </a:pPr>
            <a:r>
              <a:rPr lang="en-US" sz="1200" b="1" spc="100" kern="0" dirty="0">
                <a:solidFill>
                  <a:srgbClr val="8A93B8"/>
                </a:solidFill>
                <a:latin typeface="Arial" pitchFamily="34" charset="0"/>
                <a:ea typeface="Arial" pitchFamily="34" charset="-122"/>
                <a:cs typeface="Arial" pitchFamily="34" charset="-120"/>
              </a:rPr>
              <a:t>MODEL</a:t>
            </a:r>
            <a:endParaRPr lang="en-US" sz="1200" dirty="0"/>
          </a:p>
        </p:txBody>
      </p:sp>
      <p:sp>
        <p:nvSpPr>
          <p:cNvPr id="5" name="Text 3"/>
          <p:cNvSpPr/>
          <p:nvPr/>
        </p:nvSpPr>
        <p:spPr>
          <a:xfrm>
            <a:off x="3383280" y="1463040"/>
            <a:ext cx="1737360" cy="320040"/>
          </a:xfrm>
          <a:prstGeom prst="rect">
            <a:avLst/>
          </a:prstGeom>
          <a:noFill/>
          <a:ln/>
        </p:spPr>
        <p:txBody>
          <a:bodyPr wrap="square" lIns="0" tIns="0" rIns="0" bIns="0" rtlCol="0" anchor="ctr"/>
          <a:lstStyle/>
          <a:p>
            <a:pPr indent="0" marL="0">
              <a:buNone/>
            </a:pPr>
            <a:r>
              <a:rPr lang="en-US" sz="1200" b="1" spc="100" kern="0" dirty="0">
                <a:solidFill>
                  <a:srgbClr val="8A93B8"/>
                </a:solidFill>
                <a:latin typeface="Arial" pitchFamily="34" charset="0"/>
                <a:ea typeface="Arial" pitchFamily="34" charset="-122"/>
                <a:cs typeface="Arial" pitchFamily="34" charset="-120"/>
              </a:rPr>
              <a:t>HOW OFTEN</a:t>
            </a:r>
            <a:endParaRPr lang="en-US" sz="1200" dirty="0"/>
          </a:p>
        </p:txBody>
      </p:sp>
      <p:sp>
        <p:nvSpPr>
          <p:cNvPr id="6" name="Text 4"/>
          <p:cNvSpPr/>
          <p:nvPr/>
        </p:nvSpPr>
        <p:spPr>
          <a:xfrm>
            <a:off x="5120640" y="1463040"/>
            <a:ext cx="1097280" cy="320040"/>
          </a:xfrm>
          <a:prstGeom prst="rect">
            <a:avLst/>
          </a:prstGeom>
          <a:noFill/>
          <a:ln/>
        </p:spPr>
        <p:txBody>
          <a:bodyPr wrap="square" lIns="0" tIns="0" rIns="0" bIns="0" rtlCol="0" anchor="ctr"/>
          <a:lstStyle/>
          <a:p>
            <a:pPr indent="0" marL="0">
              <a:buNone/>
            </a:pPr>
            <a:r>
              <a:rPr lang="en-US" sz="1200" b="1" spc="100" kern="0" dirty="0">
                <a:solidFill>
                  <a:srgbClr val="8A93B8"/>
                </a:solidFill>
                <a:latin typeface="Arial" pitchFamily="34" charset="0"/>
                <a:ea typeface="Arial" pitchFamily="34" charset="-122"/>
                <a:cs typeface="Arial" pitchFamily="34" charset="-120"/>
              </a:rPr>
              <a:t>RUNS ON</a:t>
            </a:r>
            <a:endParaRPr lang="en-US" sz="1200" dirty="0"/>
          </a:p>
        </p:txBody>
      </p:sp>
      <p:sp>
        <p:nvSpPr>
          <p:cNvPr id="7" name="Text 5"/>
          <p:cNvSpPr/>
          <p:nvPr/>
        </p:nvSpPr>
        <p:spPr>
          <a:xfrm>
            <a:off x="6309360" y="1463040"/>
            <a:ext cx="4937760" cy="320040"/>
          </a:xfrm>
          <a:prstGeom prst="rect">
            <a:avLst/>
          </a:prstGeom>
          <a:noFill/>
          <a:ln/>
        </p:spPr>
        <p:txBody>
          <a:bodyPr wrap="square" lIns="0" tIns="0" rIns="0" bIns="0" rtlCol="0" anchor="ctr"/>
          <a:lstStyle/>
          <a:p>
            <a:pPr indent="0" marL="0">
              <a:buNone/>
            </a:pPr>
            <a:r>
              <a:rPr lang="en-US" sz="1200" b="1" spc="100" kern="0" dirty="0">
                <a:solidFill>
                  <a:srgbClr val="8A93B8"/>
                </a:solidFill>
                <a:latin typeface="Arial" pitchFamily="34" charset="0"/>
                <a:ea typeface="Arial" pitchFamily="34" charset="-122"/>
                <a:cs typeface="Arial" pitchFamily="34" charset="-120"/>
              </a:rPr>
              <a:t>WHY IT MATTERS</a:t>
            </a:r>
            <a:endParaRPr lang="en-US" sz="1200" dirty="0"/>
          </a:p>
        </p:txBody>
      </p:sp>
      <p:sp>
        <p:nvSpPr>
          <p:cNvPr id="8" name="Shape 6"/>
          <p:cNvSpPr/>
          <p:nvPr/>
        </p:nvSpPr>
        <p:spPr>
          <a:xfrm>
            <a:off x="566928" y="1874520"/>
            <a:ext cx="11064240" cy="932688"/>
          </a:xfrm>
          <a:prstGeom prst="roundRect">
            <a:avLst>
              <a:gd name="adj" fmla="val 9804"/>
            </a:avLst>
          </a:prstGeom>
          <a:solidFill>
            <a:srgbClr val="1A2350"/>
          </a:solidFill>
          <a:ln/>
        </p:spPr>
      </p:sp>
      <p:sp>
        <p:nvSpPr>
          <p:cNvPr id="9" name="Text 7"/>
          <p:cNvSpPr/>
          <p:nvPr/>
        </p:nvSpPr>
        <p:spPr>
          <a:xfrm>
            <a:off x="914400" y="1874520"/>
            <a:ext cx="2377440" cy="932688"/>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RetinaFace</a:t>
            </a:r>
            <a:endParaRPr lang="en-US" sz="1600" dirty="0"/>
          </a:p>
        </p:txBody>
      </p:sp>
      <p:sp>
        <p:nvSpPr>
          <p:cNvPr id="10" name="Text 8"/>
          <p:cNvSpPr/>
          <p:nvPr/>
        </p:nvSpPr>
        <p:spPr>
          <a:xfrm>
            <a:off x="3383280" y="1874520"/>
            <a:ext cx="173736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once per photo</a:t>
            </a:r>
            <a:endParaRPr lang="en-US" sz="1400" dirty="0"/>
          </a:p>
        </p:txBody>
      </p:sp>
      <p:sp>
        <p:nvSpPr>
          <p:cNvPr id="11" name="Text 9"/>
          <p:cNvSpPr/>
          <p:nvPr/>
        </p:nvSpPr>
        <p:spPr>
          <a:xfrm>
            <a:off x="5120640" y="1874520"/>
            <a:ext cx="109728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GPU</a:t>
            </a:r>
            <a:endParaRPr lang="en-US" sz="1400" dirty="0"/>
          </a:p>
        </p:txBody>
      </p:sp>
      <p:sp>
        <p:nvSpPr>
          <p:cNvPr id="12" name="Text 10"/>
          <p:cNvSpPr/>
          <p:nvPr/>
        </p:nvSpPr>
        <p:spPr>
          <a:xfrm>
            <a:off x="6309360" y="1874520"/>
            <a:ext cx="4937760" cy="93268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Cheap and fast. The gate that decides how much work everything else has to do.</a:t>
            </a:r>
            <a:endParaRPr lang="en-US" sz="1300" dirty="0"/>
          </a:p>
        </p:txBody>
      </p:sp>
      <p:sp>
        <p:nvSpPr>
          <p:cNvPr id="13" name="Shape 11"/>
          <p:cNvSpPr/>
          <p:nvPr/>
        </p:nvSpPr>
        <p:spPr>
          <a:xfrm>
            <a:off x="566928" y="2926080"/>
            <a:ext cx="11064240" cy="932688"/>
          </a:xfrm>
          <a:prstGeom prst="roundRect">
            <a:avLst>
              <a:gd name="adj" fmla="val 9804"/>
            </a:avLst>
          </a:prstGeom>
          <a:solidFill>
            <a:srgbClr val="1A2350"/>
          </a:solidFill>
          <a:ln/>
        </p:spPr>
      </p:sp>
      <p:sp>
        <p:nvSpPr>
          <p:cNvPr id="14" name="Text 12"/>
          <p:cNvSpPr/>
          <p:nvPr/>
        </p:nvSpPr>
        <p:spPr>
          <a:xfrm>
            <a:off x="914400" y="2926080"/>
            <a:ext cx="2377440" cy="932688"/>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ArcFace</a:t>
            </a:r>
            <a:endParaRPr lang="en-US" sz="1600" dirty="0"/>
          </a:p>
        </p:txBody>
      </p:sp>
      <p:sp>
        <p:nvSpPr>
          <p:cNvPr id="15" name="Text 13"/>
          <p:cNvSpPr/>
          <p:nvPr/>
        </p:nvSpPr>
        <p:spPr>
          <a:xfrm>
            <a:off x="3383280" y="2926080"/>
            <a:ext cx="173736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once per face</a:t>
            </a:r>
            <a:endParaRPr lang="en-US" sz="1400" dirty="0"/>
          </a:p>
        </p:txBody>
      </p:sp>
      <p:sp>
        <p:nvSpPr>
          <p:cNvPr id="16" name="Text 14"/>
          <p:cNvSpPr/>
          <p:nvPr/>
        </p:nvSpPr>
        <p:spPr>
          <a:xfrm>
            <a:off x="5120640" y="2926080"/>
            <a:ext cx="109728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GPU</a:t>
            </a:r>
            <a:endParaRPr lang="en-US" sz="1400" dirty="0"/>
          </a:p>
        </p:txBody>
      </p:sp>
      <p:sp>
        <p:nvSpPr>
          <p:cNvPr id="17" name="Text 15"/>
          <p:cNvSpPr/>
          <p:nvPr/>
        </p:nvSpPr>
        <p:spPr>
          <a:xfrm>
            <a:off x="6309360" y="2926080"/>
            <a:ext cx="4937760" cy="93268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group photo of 30 people means 30 runs. This is what actually fills the GPU queue.</a:t>
            </a:r>
            <a:endParaRPr lang="en-US" sz="1300" dirty="0"/>
          </a:p>
        </p:txBody>
      </p:sp>
      <p:sp>
        <p:nvSpPr>
          <p:cNvPr id="18" name="Shape 16"/>
          <p:cNvSpPr/>
          <p:nvPr/>
        </p:nvSpPr>
        <p:spPr>
          <a:xfrm>
            <a:off x="566928" y="3977640"/>
            <a:ext cx="11064240" cy="932688"/>
          </a:xfrm>
          <a:prstGeom prst="roundRect">
            <a:avLst>
              <a:gd name="adj" fmla="val 9804"/>
            </a:avLst>
          </a:prstGeom>
          <a:solidFill>
            <a:srgbClr val="1A2350"/>
          </a:solidFill>
          <a:ln/>
        </p:spPr>
      </p:sp>
      <p:sp>
        <p:nvSpPr>
          <p:cNvPr id="19" name="Text 17"/>
          <p:cNvSpPr/>
          <p:nvPr/>
        </p:nvSpPr>
        <p:spPr>
          <a:xfrm>
            <a:off x="914400" y="3977640"/>
            <a:ext cx="2377440" cy="932688"/>
          </a:xfrm>
          <a:prstGeom prst="rect">
            <a:avLst/>
          </a:prstGeom>
          <a:noFill/>
          <a:ln/>
        </p:spPr>
        <p:txBody>
          <a:bodyPr wrap="square" lIns="0" tIns="0" rIns="0" bIns="0" rtlCol="0" anchor="ctr"/>
          <a:lstStyle/>
          <a:p>
            <a:pPr indent="0" marL="0">
              <a:buNone/>
            </a:pPr>
            <a:r>
              <a:rPr lang="en-US" sz="1600" b="1" dirty="0">
                <a:solidFill>
                  <a:srgbClr val="FF7AA8"/>
                </a:solidFill>
                <a:latin typeface="Arial" pitchFamily="34" charset="0"/>
                <a:ea typeface="Arial" pitchFamily="34" charset="-122"/>
                <a:cs typeface="Arial" pitchFamily="34" charset="-120"/>
              </a:rPr>
              <a:t>CLIP</a:t>
            </a:r>
            <a:endParaRPr lang="en-US" sz="1600" dirty="0"/>
          </a:p>
        </p:txBody>
      </p:sp>
      <p:sp>
        <p:nvSpPr>
          <p:cNvPr id="20" name="Text 18"/>
          <p:cNvSpPr/>
          <p:nvPr/>
        </p:nvSpPr>
        <p:spPr>
          <a:xfrm>
            <a:off x="3383280" y="3977640"/>
            <a:ext cx="173736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once per photo</a:t>
            </a:r>
            <a:endParaRPr lang="en-US" sz="1400" dirty="0"/>
          </a:p>
        </p:txBody>
      </p:sp>
      <p:sp>
        <p:nvSpPr>
          <p:cNvPr id="21" name="Text 19"/>
          <p:cNvSpPr/>
          <p:nvPr/>
        </p:nvSpPr>
        <p:spPr>
          <a:xfrm>
            <a:off x="5120640" y="3977640"/>
            <a:ext cx="1097280" cy="93268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GPU</a:t>
            </a:r>
            <a:endParaRPr lang="en-US" sz="1400" dirty="0"/>
          </a:p>
        </p:txBody>
      </p:sp>
      <p:sp>
        <p:nvSpPr>
          <p:cNvPr id="22" name="Text 20"/>
          <p:cNvSpPr/>
          <p:nvPr/>
        </p:nvSpPr>
        <p:spPr>
          <a:xfrm>
            <a:off x="6309360" y="3977640"/>
            <a:ext cx="4937760" cy="93268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Optional. Kept in its own service and queue so a constrained deployment can drop it entirely.</a:t>
            </a:r>
            <a:endParaRPr lang="en-US" sz="1300" dirty="0"/>
          </a:p>
        </p:txBody>
      </p:sp>
      <p:sp>
        <p:nvSpPr>
          <p:cNvPr id="23" name="Shape 21"/>
          <p:cNvSpPr/>
          <p:nvPr/>
        </p:nvSpPr>
        <p:spPr>
          <a:xfrm>
            <a:off x="566928" y="5212080"/>
            <a:ext cx="11064240" cy="1325880"/>
          </a:xfrm>
          <a:prstGeom prst="roundRect">
            <a:avLst>
              <a:gd name="adj" fmla="val 9655"/>
            </a:avLst>
          </a:prstGeom>
          <a:solidFill>
            <a:srgbClr val="141B3E"/>
          </a:solidFill>
          <a:ln w="25400">
            <a:solidFill>
              <a:srgbClr val="FFB020"/>
            </a:solidFill>
            <a:prstDash val="solid"/>
          </a:ln>
        </p:spPr>
      </p:sp>
      <p:sp>
        <p:nvSpPr>
          <p:cNvPr id="24" name="Text 22"/>
          <p:cNvSpPr/>
          <p:nvPr/>
        </p:nvSpPr>
        <p:spPr>
          <a:xfrm>
            <a:off x="914400" y="5349240"/>
            <a:ext cx="10332720" cy="365760"/>
          </a:xfrm>
          <a:prstGeom prst="rect">
            <a:avLst/>
          </a:prstGeom>
          <a:noFill/>
          <a:ln/>
        </p:spPr>
        <p:txBody>
          <a:bodyPr wrap="square" lIns="0" tIns="0" rIns="0" bIns="0" rtlCol="0" anchor="ctr"/>
          <a:lstStyle/>
          <a:p>
            <a:pPr indent="0" marL="0">
              <a:buNone/>
            </a:pPr>
            <a:r>
              <a:rPr lang="en-US" sz="1800" b="1" dirty="0">
                <a:solidFill>
                  <a:srgbClr val="FFB020"/>
                </a:solidFill>
                <a:latin typeface="Arial" pitchFamily="34" charset="0"/>
                <a:ea typeface="Arial" pitchFamily="34" charset="-122"/>
                <a:cs typeface="Arial" pitchFamily="34" charset="-120"/>
              </a:rPr>
              <a:t>This table is the whole reason Act Two exists.</a:t>
            </a:r>
            <a:endParaRPr lang="en-US" sz="1800" dirty="0"/>
          </a:p>
        </p:txBody>
      </p:sp>
      <p:sp>
        <p:nvSpPr>
          <p:cNvPr id="25" name="Text 23"/>
          <p:cNvSpPr/>
          <p:nvPr/>
        </p:nvSpPr>
        <p:spPr>
          <a:xfrm>
            <a:off x="914400" y="5760720"/>
            <a:ext cx="10332720" cy="64008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Three models, all wanting a GPU, all doing nothing at all between events. Every architectural decision in the second half of this session follows from that one sentence.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START HERE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one-paragraph version — and the three things it misses</a:t>
            </a:r>
            <a:endParaRPr lang="en-US" sz="3400" dirty="0"/>
          </a:p>
        </p:txBody>
      </p:sp>
      <p:sp>
        <p:nvSpPr>
          <p:cNvPr id="4" name="Shape 2"/>
          <p:cNvSpPr/>
          <p:nvPr/>
        </p:nvSpPr>
        <p:spPr>
          <a:xfrm>
            <a:off x="566928" y="1417320"/>
            <a:ext cx="11064240" cy="1051560"/>
          </a:xfrm>
          <a:prstGeom prst="roundRect">
            <a:avLst>
              <a:gd name="adj" fmla="val 12174"/>
            </a:avLst>
          </a:prstGeom>
          <a:solidFill>
            <a:srgbClr val="141B3E"/>
          </a:solidFill>
          <a:ln w="25400">
            <a:solidFill>
              <a:srgbClr val="3DD68C"/>
            </a:solidFill>
            <a:prstDash val="solid"/>
          </a:ln>
        </p:spPr>
      </p:sp>
      <p:sp>
        <p:nvSpPr>
          <p:cNvPr id="5" name="Text 3"/>
          <p:cNvSpPr/>
          <p:nvPr/>
        </p:nvSpPr>
        <p:spPr>
          <a:xfrm>
            <a:off x="914400" y="1508760"/>
            <a:ext cx="10332720" cy="868680"/>
          </a:xfrm>
          <a:prstGeom prst="rect">
            <a:avLst/>
          </a:prstGeom>
          <a:noFill/>
          <a:ln/>
        </p:spPr>
        <p:txBody>
          <a:bodyPr wrap="square" lIns="0" tIns="0" rIns="0" bIns="0" rtlCol="0" anchor="ctr"/>
          <a:lstStyle/>
          <a:p>
            <a:pPr indent="0" marL="0">
              <a:buNone/>
            </a:pPr>
            <a:r>
              <a:rPr lang="en-US" sz="1700" i="1" dirty="0">
                <a:solidFill>
                  <a:srgbClr val="FFFFFF"/>
                </a:solidFill>
                <a:latin typeface="Arial" pitchFamily="34" charset="0"/>
                <a:ea typeface="Arial" pitchFamily="34" charset="-122"/>
                <a:cs typeface="Arial" pitchFamily="34" charset="-120"/>
              </a:rPr>
              <a:t>“Your face is analysed into a 512-number fingerprint. Your other photos produce nearby numbers. Those nearby ones get grouped together into a person.”</a:t>
            </a:r>
            <a:endParaRPr lang="en-US" sz="1700" dirty="0"/>
          </a:p>
        </p:txBody>
      </p:sp>
      <p:sp>
        <p:nvSpPr>
          <p:cNvPr id="6" name="Text 4"/>
          <p:cNvSpPr/>
          <p:nvPr/>
        </p:nvSpPr>
        <p:spPr>
          <a:xfrm>
            <a:off x="566928" y="2606040"/>
            <a:ext cx="11064240" cy="320040"/>
          </a:xfrm>
          <a:prstGeom prst="rect">
            <a:avLst/>
          </a:prstGeom>
          <a:noFill/>
          <a:ln/>
        </p:spPr>
        <p:txBody>
          <a:bodyPr wrap="square" lIns="0" tIns="0" rIns="0" bIns="0" rtlCol="0" anchor="ctr"/>
          <a:lstStyle/>
          <a:p>
            <a:pPr indent="0" marL="0">
              <a:buNone/>
            </a:pPr>
            <a:r>
              <a:rPr lang="en-US" sz="1500" b="1" dirty="0">
                <a:solidFill>
                  <a:srgbClr val="3DD68C"/>
                </a:solidFill>
                <a:latin typeface="Arial" pitchFamily="34" charset="0"/>
                <a:ea typeface="Arial" pitchFamily="34" charset="-122"/>
                <a:cs typeface="Arial" pitchFamily="34" charset="-120"/>
              </a:rPr>
              <a:t>That is right. Three details change how you would build it:</a:t>
            </a:r>
            <a:endParaRPr lang="en-US" sz="1500" dirty="0"/>
          </a:p>
        </p:txBody>
      </p:sp>
      <p:sp>
        <p:nvSpPr>
          <p:cNvPr id="7" name="Shape 5"/>
          <p:cNvSpPr/>
          <p:nvPr/>
        </p:nvSpPr>
        <p:spPr>
          <a:xfrm>
            <a:off x="566928" y="3063240"/>
            <a:ext cx="11064240" cy="932688"/>
          </a:xfrm>
          <a:prstGeom prst="roundRect">
            <a:avLst>
              <a:gd name="adj" fmla="val 9804"/>
            </a:avLst>
          </a:prstGeom>
          <a:solidFill>
            <a:srgbClr val="1A2350"/>
          </a:solidFill>
          <a:ln/>
        </p:spPr>
      </p:sp>
      <p:sp>
        <p:nvSpPr>
          <p:cNvPr id="8" name="Shape 6"/>
          <p:cNvSpPr/>
          <p:nvPr/>
        </p:nvSpPr>
        <p:spPr>
          <a:xfrm>
            <a:off x="841248" y="3319272"/>
            <a:ext cx="420624" cy="420624"/>
          </a:xfrm>
          <a:prstGeom prst="ellipse">
            <a:avLst/>
          </a:prstGeom>
          <a:solidFill>
            <a:srgbClr val="FFB020"/>
          </a:solidFill>
          <a:ln/>
        </p:spPr>
      </p:sp>
      <p:sp>
        <p:nvSpPr>
          <p:cNvPr id="9" name="Text 7"/>
          <p:cNvSpPr/>
          <p:nvPr/>
        </p:nvSpPr>
        <p:spPr>
          <a:xfrm>
            <a:off x="841248" y="33192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10" name="Text 8"/>
          <p:cNvSpPr/>
          <p:nvPr/>
        </p:nvSpPr>
        <p:spPr>
          <a:xfrm>
            <a:off x="1508760" y="3154680"/>
            <a:ext cx="9784080" cy="329184"/>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Numbers, not digits</a:t>
            </a:r>
            <a:endParaRPr lang="en-US" sz="1700" dirty="0"/>
          </a:p>
        </p:txBody>
      </p:sp>
      <p:sp>
        <p:nvSpPr>
          <p:cNvPr id="11" name="Text 9"/>
          <p:cNvSpPr/>
          <p:nvPr/>
        </p:nvSpPr>
        <p:spPr>
          <a:xfrm>
            <a:off x="1508760" y="349300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They are 512 decimals like -0.118 — not 512 single digits. Together they are one arrow pointing somewhere in space.</a:t>
            </a:r>
            <a:endParaRPr lang="en-US" sz="1300" dirty="0"/>
          </a:p>
        </p:txBody>
      </p:sp>
      <p:sp>
        <p:nvSpPr>
          <p:cNvPr id="12" name="Shape 10"/>
          <p:cNvSpPr/>
          <p:nvPr/>
        </p:nvSpPr>
        <p:spPr>
          <a:xfrm>
            <a:off x="566928" y="4114800"/>
            <a:ext cx="11064240" cy="932688"/>
          </a:xfrm>
          <a:prstGeom prst="roundRect">
            <a:avLst>
              <a:gd name="adj" fmla="val 9804"/>
            </a:avLst>
          </a:prstGeom>
          <a:solidFill>
            <a:srgbClr val="1A2350"/>
          </a:solidFill>
          <a:ln/>
        </p:spPr>
      </p:sp>
      <p:sp>
        <p:nvSpPr>
          <p:cNvPr id="13" name="Shape 11"/>
          <p:cNvSpPr/>
          <p:nvPr/>
        </p:nvSpPr>
        <p:spPr>
          <a:xfrm>
            <a:off x="841248" y="4370832"/>
            <a:ext cx="420624" cy="420624"/>
          </a:xfrm>
          <a:prstGeom prst="ellipse">
            <a:avLst/>
          </a:prstGeom>
          <a:solidFill>
            <a:srgbClr val="4C6FFF"/>
          </a:solidFill>
          <a:ln/>
        </p:spPr>
      </p:sp>
      <p:sp>
        <p:nvSpPr>
          <p:cNvPr id="14" name="Text 12"/>
          <p:cNvSpPr/>
          <p:nvPr/>
        </p:nvSpPr>
        <p:spPr>
          <a:xfrm>
            <a:off x="841248" y="437083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5" name="Text 13"/>
          <p:cNvSpPr/>
          <p:nvPr/>
        </p:nvSpPr>
        <p:spPr>
          <a:xfrm>
            <a:off x="1508760" y="4206240"/>
            <a:ext cx="9784080" cy="329184"/>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One distance, not 512 comparisons</a:t>
            </a:r>
            <a:endParaRPr lang="en-US" sz="1700" dirty="0"/>
          </a:p>
        </p:txBody>
      </p:sp>
      <p:sp>
        <p:nvSpPr>
          <p:cNvPr id="16" name="Text 14"/>
          <p:cNvSpPr/>
          <p:nvPr/>
        </p:nvSpPr>
        <p:spPr>
          <a:xfrm>
            <a:off x="1508760" y="454456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You never compare number 7 to number 7. All 512 collapse into a single distance, and one threshold decides.</a:t>
            </a:r>
            <a:endParaRPr lang="en-US" sz="1300" dirty="0"/>
          </a:p>
        </p:txBody>
      </p:sp>
      <p:sp>
        <p:nvSpPr>
          <p:cNvPr id="17" name="Shape 15"/>
          <p:cNvSpPr/>
          <p:nvPr/>
        </p:nvSpPr>
        <p:spPr>
          <a:xfrm>
            <a:off x="566928" y="5166360"/>
            <a:ext cx="11064240" cy="932688"/>
          </a:xfrm>
          <a:prstGeom prst="roundRect">
            <a:avLst>
              <a:gd name="adj" fmla="val 9804"/>
            </a:avLst>
          </a:prstGeom>
          <a:solidFill>
            <a:srgbClr val="1A2350"/>
          </a:solidFill>
          <a:ln/>
        </p:spPr>
      </p:sp>
      <p:sp>
        <p:nvSpPr>
          <p:cNvPr id="18" name="Shape 16"/>
          <p:cNvSpPr/>
          <p:nvPr/>
        </p:nvSpPr>
        <p:spPr>
          <a:xfrm>
            <a:off x="841248" y="5422392"/>
            <a:ext cx="420624" cy="420624"/>
          </a:xfrm>
          <a:prstGeom prst="ellipse">
            <a:avLst/>
          </a:prstGeom>
          <a:solidFill>
            <a:srgbClr val="FF7AA8"/>
          </a:solidFill>
          <a:ln/>
        </p:spPr>
      </p:sp>
      <p:sp>
        <p:nvSpPr>
          <p:cNvPr id="19" name="Text 17"/>
          <p:cNvSpPr/>
          <p:nvPr/>
        </p:nvSpPr>
        <p:spPr>
          <a:xfrm>
            <a:off x="841248" y="542239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20" name="Text 18"/>
          <p:cNvSpPr/>
          <p:nvPr/>
        </p:nvSpPr>
        <p:spPr>
          <a:xfrm>
            <a:off x="1508760" y="5257800"/>
            <a:ext cx="9784080" cy="329184"/>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Grouped one at a time, not all at once</a:t>
            </a:r>
            <a:endParaRPr lang="en-US" sz="1700" dirty="0"/>
          </a:p>
        </p:txBody>
      </p:sp>
      <p:sp>
        <p:nvSpPr>
          <p:cNvPr id="21" name="Text 19"/>
          <p:cNvSpPr/>
          <p:nvPr/>
        </p:nvSpPr>
        <p:spPr>
          <a:xfrm>
            <a:off x="1508760" y="5596128"/>
            <a:ext cx="978408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There is no big grouping pass. Each new face asks one question — “does a close neighbour already have a person?” — and joins or starts one.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WHOLE PIPELINE IN SIX WORDS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Find · Align · Measure · Store · Compare · Group</a:t>
            </a:r>
            <a:endParaRPr lang="en-US" sz="3400" dirty="0"/>
          </a:p>
        </p:txBody>
      </p:sp>
      <p:sp>
        <p:nvSpPr>
          <p:cNvPr id="4" name="Shape 2"/>
          <p:cNvSpPr/>
          <p:nvPr/>
        </p:nvSpPr>
        <p:spPr>
          <a:xfrm>
            <a:off x="566928" y="1554480"/>
            <a:ext cx="3520440" cy="1920240"/>
          </a:xfrm>
          <a:prstGeom prst="roundRect">
            <a:avLst>
              <a:gd name="adj" fmla="val 6667"/>
            </a:avLst>
          </a:prstGeom>
          <a:solidFill>
            <a:srgbClr val="1A2350"/>
          </a:solidFill>
          <a:ln w="25400">
            <a:solidFill>
              <a:srgbClr val="FFB020"/>
            </a:solidFill>
            <a:prstDash val="solid"/>
          </a:ln>
        </p:spPr>
      </p:sp>
      <p:sp>
        <p:nvSpPr>
          <p:cNvPr id="5" name="Shape 3"/>
          <p:cNvSpPr/>
          <p:nvPr/>
        </p:nvSpPr>
        <p:spPr>
          <a:xfrm>
            <a:off x="841248" y="1810512"/>
            <a:ext cx="402336" cy="402336"/>
          </a:xfrm>
          <a:prstGeom prst="ellipse">
            <a:avLst/>
          </a:prstGeom>
          <a:solidFill>
            <a:srgbClr val="FFB020"/>
          </a:solidFill>
          <a:ln/>
        </p:spPr>
      </p:sp>
      <p:sp>
        <p:nvSpPr>
          <p:cNvPr id="6" name="Text 4"/>
          <p:cNvSpPr/>
          <p:nvPr/>
        </p:nvSpPr>
        <p:spPr>
          <a:xfrm>
            <a:off x="84124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84124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Find</a:t>
            </a:r>
            <a:endParaRPr lang="en-US" sz="2400" dirty="0"/>
          </a:p>
        </p:txBody>
      </p:sp>
      <p:sp>
        <p:nvSpPr>
          <p:cNvPr id="8" name="Text 6"/>
          <p:cNvSpPr/>
          <p:nvPr/>
        </p:nvSpPr>
        <p:spPr>
          <a:xfrm>
            <a:off x="84124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RetinaFace locates every face in the frame.</a:t>
            </a:r>
            <a:endParaRPr lang="en-US" sz="1300" dirty="0"/>
          </a:p>
        </p:txBody>
      </p:sp>
      <p:sp>
        <p:nvSpPr>
          <p:cNvPr id="9" name="Shape 7"/>
          <p:cNvSpPr/>
          <p:nvPr/>
        </p:nvSpPr>
        <p:spPr>
          <a:xfrm>
            <a:off x="4270248" y="1554480"/>
            <a:ext cx="3520440" cy="1920240"/>
          </a:xfrm>
          <a:prstGeom prst="roundRect">
            <a:avLst>
              <a:gd name="adj" fmla="val 6667"/>
            </a:avLst>
          </a:prstGeom>
          <a:solidFill>
            <a:srgbClr val="1A2350"/>
          </a:solidFill>
          <a:ln w="25400">
            <a:solidFill>
              <a:srgbClr val="FFB020"/>
            </a:solidFill>
            <a:prstDash val="solid"/>
          </a:ln>
        </p:spPr>
      </p:sp>
      <p:sp>
        <p:nvSpPr>
          <p:cNvPr id="10" name="Shape 8"/>
          <p:cNvSpPr/>
          <p:nvPr/>
        </p:nvSpPr>
        <p:spPr>
          <a:xfrm>
            <a:off x="4544568" y="1810512"/>
            <a:ext cx="402336" cy="402336"/>
          </a:xfrm>
          <a:prstGeom prst="ellipse">
            <a:avLst/>
          </a:prstGeom>
          <a:solidFill>
            <a:srgbClr val="FFB020"/>
          </a:solidFill>
          <a:ln/>
        </p:spPr>
      </p:sp>
      <p:sp>
        <p:nvSpPr>
          <p:cNvPr id="11" name="Text 9"/>
          <p:cNvSpPr/>
          <p:nvPr/>
        </p:nvSpPr>
        <p:spPr>
          <a:xfrm>
            <a:off x="454456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2" name="Text 10"/>
          <p:cNvSpPr/>
          <p:nvPr/>
        </p:nvSpPr>
        <p:spPr>
          <a:xfrm>
            <a:off x="454456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Align</a:t>
            </a:r>
            <a:endParaRPr lang="en-US" sz="2400" dirty="0"/>
          </a:p>
        </p:txBody>
      </p:sp>
      <p:sp>
        <p:nvSpPr>
          <p:cNvPr id="13" name="Text 11"/>
          <p:cNvSpPr/>
          <p:nvPr/>
        </p:nvSpPr>
        <p:spPr>
          <a:xfrm>
            <a:off x="454456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Each face is cropped and rotated upright.</a:t>
            </a:r>
            <a:endParaRPr lang="en-US" sz="1300" dirty="0"/>
          </a:p>
        </p:txBody>
      </p:sp>
      <p:sp>
        <p:nvSpPr>
          <p:cNvPr id="14" name="Shape 12"/>
          <p:cNvSpPr/>
          <p:nvPr/>
        </p:nvSpPr>
        <p:spPr>
          <a:xfrm>
            <a:off x="7973568" y="1554480"/>
            <a:ext cx="3520440" cy="1920240"/>
          </a:xfrm>
          <a:prstGeom prst="roundRect">
            <a:avLst>
              <a:gd name="adj" fmla="val 6667"/>
            </a:avLst>
          </a:prstGeom>
          <a:solidFill>
            <a:srgbClr val="1A2350"/>
          </a:solidFill>
          <a:ln w="25400">
            <a:solidFill>
              <a:srgbClr val="A9BEFF"/>
            </a:solidFill>
            <a:prstDash val="solid"/>
          </a:ln>
        </p:spPr>
      </p:sp>
      <p:sp>
        <p:nvSpPr>
          <p:cNvPr id="15" name="Shape 13"/>
          <p:cNvSpPr/>
          <p:nvPr/>
        </p:nvSpPr>
        <p:spPr>
          <a:xfrm>
            <a:off x="8247888" y="1810512"/>
            <a:ext cx="402336" cy="402336"/>
          </a:xfrm>
          <a:prstGeom prst="ellipse">
            <a:avLst/>
          </a:prstGeom>
          <a:solidFill>
            <a:srgbClr val="A9BEFF"/>
          </a:solidFill>
          <a:ln/>
        </p:spPr>
      </p:sp>
      <p:sp>
        <p:nvSpPr>
          <p:cNvPr id="16" name="Text 14"/>
          <p:cNvSpPr/>
          <p:nvPr/>
        </p:nvSpPr>
        <p:spPr>
          <a:xfrm>
            <a:off x="8247888" y="181051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7" name="Text 15"/>
          <p:cNvSpPr/>
          <p:nvPr/>
        </p:nvSpPr>
        <p:spPr>
          <a:xfrm>
            <a:off x="8247888" y="233172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Measure</a:t>
            </a:r>
            <a:endParaRPr lang="en-US" sz="2400" dirty="0"/>
          </a:p>
        </p:txBody>
      </p:sp>
      <p:sp>
        <p:nvSpPr>
          <p:cNvPr id="18" name="Text 16"/>
          <p:cNvSpPr/>
          <p:nvPr/>
        </p:nvSpPr>
        <p:spPr>
          <a:xfrm>
            <a:off x="8247888" y="276148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ArcFace turns the crop into 512 numbers.</a:t>
            </a:r>
            <a:endParaRPr lang="en-US" sz="1300" dirty="0"/>
          </a:p>
        </p:txBody>
      </p:sp>
      <p:sp>
        <p:nvSpPr>
          <p:cNvPr id="19" name="Shape 17"/>
          <p:cNvSpPr/>
          <p:nvPr/>
        </p:nvSpPr>
        <p:spPr>
          <a:xfrm>
            <a:off x="566928" y="3703320"/>
            <a:ext cx="3520440" cy="1920240"/>
          </a:xfrm>
          <a:prstGeom prst="roundRect">
            <a:avLst>
              <a:gd name="adj" fmla="val 6667"/>
            </a:avLst>
          </a:prstGeom>
          <a:solidFill>
            <a:srgbClr val="1A2350"/>
          </a:solidFill>
          <a:ln w="25400">
            <a:solidFill>
              <a:srgbClr val="3DD68C"/>
            </a:solidFill>
            <a:prstDash val="solid"/>
          </a:ln>
        </p:spPr>
      </p:sp>
      <p:sp>
        <p:nvSpPr>
          <p:cNvPr id="20" name="Shape 18"/>
          <p:cNvSpPr/>
          <p:nvPr/>
        </p:nvSpPr>
        <p:spPr>
          <a:xfrm>
            <a:off x="841248" y="3959352"/>
            <a:ext cx="402336" cy="402336"/>
          </a:xfrm>
          <a:prstGeom prst="ellipse">
            <a:avLst/>
          </a:prstGeom>
          <a:solidFill>
            <a:srgbClr val="3DD68C"/>
          </a:solidFill>
          <a:ln/>
        </p:spPr>
      </p:sp>
      <p:sp>
        <p:nvSpPr>
          <p:cNvPr id="21" name="Text 19"/>
          <p:cNvSpPr/>
          <p:nvPr/>
        </p:nvSpPr>
        <p:spPr>
          <a:xfrm>
            <a:off x="84124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22" name="Text 20"/>
          <p:cNvSpPr/>
          <p:nvPr/>
        </p:nvSpPr>
        <p:spPr>
          <a:xfrm>
            <a:off x="84124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Store</a:t>
            </a:r>
            <a:endParaRPr lang="en-US" sz="2400" dirty="0"/>
          </a:p>
        </p:txBody>
      </p:sp>
      <p:sp>
        <p:nvSpPr>
          <p:cNvPr id="23" name="Text 21"/>
          <p:cNvSpPr/>
          <p:nvPr/>
        </p:nvSpPr>
        <p:spPr>
          <a:xfrm>
            <a:off x="84124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vector goes into Postgres with pgvector.</a:t>
            </a:r>
            <a:endParaRPr lang="en-US" sz="1300" dirty="0"/>
          </a:p>
        </p:txBody>
      </p:sp>
      <p:sp>
        <p:nvSpPr>
          <p:cNvPr id="24" name="Shape 22"/>
          <p:cNvSpPr/>
          <p:nvPr/>
        </p:nvSpPr>
        <p:spPr>
          <a:xfrm>
            <a:off x="4270248" y="3703320"/>
            <a:ext cx="3520440" cy="1920240"/>
          </a:xfrm>
          <a:prstGeom prst="roundRect">
            <a:avLst>
              <a:gd name="adj" fmla="val 6667"/>
            </a:avLst>
          </a:prstGeom>
          <a:solidFill>
            <a:srgbClr val="1A2350"/>
          </a:solidFill>
          <a:ln w="25400">
            <a:solidFill>
              <a:srgbClr val="4C6FFF"/>
            </a:solidFill>
            <a:prstDash val="solid"/>
          </a:ln>
        </p:spPr>
      </p:sp>
      <p:sp>
        <p:nvSpPr>
          <p:cNvPr id="25" name="Shape 23"/>
          <p:cNvSpPr/>
          <p:nvPr/>
        </p:nvSpPr>
        <p:spPr>
          <a:xfrm>
            <a:off x="4544568" y="3959352"/>
            <a:ext cx="402336" cy="402336"/>
          </a:xfrm>
          <a:prstGeom prst="ellipse">
            <a:avLst/>
          </a:prstGeom>
          <a:solidFill>
            <a:srgbClr val="4C6FFF"/>
          </a:solidFill>
          <a:ln/>
        </p:spPr>
      </p:sp>
      <p:sp>
        <p:nvSpPr>
          <p:cNvPr id="26" name="Text 24"/>
          <p:cNvSpPr/>
          <p:nvPr/>
        </p:nvSpPr>
        <p:spPr>
          <a:xfrm>
            <a:off x="454456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5</a:t>
            </a:r>
            <a:endParaRPr lang="en-US" sz="1500" dirty="0"/>
          </a:p>
        </p:txBody>
      </p:sp>
      <p:sp>
        <p:nvSpPr>
          <p:cNvPr id="27" name="Text 25"/>
          <p:cNvSpPr/>
          <p:nvPr/>
        </p:nvSpPr>
        <p:spPr>
          <a:xfrm>
            <a:off x="454456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Compare</a:t>
            </a:r>
            <a:endParaRPr lang="en-US" sz="2400" dirty="0"/>
          </a:p>
        </p:txBody>
      </p:sp>
      <p:sp>
        <p:nvSpPr>
          <p:cNvPr id="28" name="Text 26"/>
          <p:cNvSpPr/>
          <p:nvPr/>
        </p:nvSpPr>
        <p:spPr>
          <a:xfrm>
            <a:off x="454456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Distance to every other face in the event.</a:t>
            </a:r>
            <a:endParaRPr lang="en-US" sz="1300" dirty="0"/>
          </a:p>
        </p:txBody>
      </p:sp>
      <p:sp>
        <p:nvSpPr>
          <p:cNvPr id="29" name="Shape 27"/>
          <p:cNvSpPr/>
          <p:nvPr/>
        </p:nvSpPr>
        <p:spPr>
          <a:xfrm>
            <a:off x="7973568" y="3703320"/>
            <a:ext cx="3520440" cy="1920240"/>
          </a:xfrm>
          <a:prstGeom prst="roundRect">
            <a:avLst>
              <a:gd name="adj" fmla="val 6667"/>
            </a:avLst>
          </a:prstGeom>
          <a:solidFill>
            <a:srgbClr val="1A2350"/>
          </a:solidFill>
          <a:ln w="25400">
            <a:solidFill>
              <a:srgbClr val="FF7AA8"/>
            </a:solidFill>
            <a:prstDash val="solid"/>
          </a:ln>
        </p:spPr>
      </p:sp>
      <p:sp>
        <p:nvSpPr>
          <p:cNvPr id="30" name="Shape 28"/>
          <p:cNvSpPr/>
          <p:nvPr/>
        </p:nvSpPr>
        <p:spPr>
          <a:xfrm>
            <a:off x="8247888" y="3959352"/>
            <a:ext cx="402336" cy="402336"/>
          </a:xfrm>
          <a:prstGeom prst="ellipse">
            <a:avLst/>
          </a:prstGeom>
          <a:solidFill>
            <a:srgbClr val="FF7AA8"/>
          </a:solidFill>
          <a:ln/>
        </p:spPr>
      </p:sp>
      <p:sp>
        <p:nvSpPr>
          <p:cNvPr id="31" name="Text 29"/>
          <p:cNvSpPr/>
          <p:nvPr/>
        </p:nvSpPr>
        <p:spPr>
          <a:xfrm>
            <a:off x="8247888" y="3959352"/>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6</a:t>
            </a:r>
            <a:endParaRPr lang="en-US" sz="1500" dirty="0"/>
          </a:p>
        </p:txBody>
      </p:sp>
      <p:sp>
        <p:nvSpPr>
          <p:cNvPr id="32" name="Text 30"/>
          <p:cNvSpPr/>
          <p:nvPr/>
        </p:nvSpPr>
        <p:spPr>
          <a:xfrm>
            <a:off x="8247888" y="4480560"/>
            <a:ext cx="2971800" cy="4114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Group</a:t>
            </a:r>
            <a:endParaRPr lang="en-US" sz="2400" dirty="0"/>
          </a:p>
        </p:txBody>
      </p:sp>
      <p:sp>
        <p:nvSpPr>
          <p:cNvPr id="33" name="Text 31"/>
          <p:cNvSpPr/>
          <p:nvPr/>
        </p:nvSpPr>
        <p:spPr>
          <a:xfrm>
            <a:off x="8247888" y="4910328"/>
            <a:ext cx="2971800" cy="54864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Close enough? Same person.</a:t>
            </a:r>
            <a:endParaRPr lang="en-US" sz="1300" dirty="0"/>
          </a:p>
        </p:txBody>
      </p:sp>
      <p:sp>
        <p:nvSpPr>
          <p:cNvPr id="34" name="Text 32"/>
          <p:cNvSpPr/>
          <p:nvPr/>
        </p:nvSpPr>
        <p:spPr>
          <a:xfrm>
            <a:off x="566928" y="5943600"/>
            <a:ext cx="11064240" cy="41148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Steps 1–4 happen on the GPU. Steps 5–6 are just database queries.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THE PIPELINE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photo goes in. One vector per face comes out.</a:t>
            </a:r>
            <a:endParaRPr lang="en-US" sz="2800" dirty="0"/>
          </a:p>
        </p:txBody>
      </p:sp>
      <p:pic>
        <p:nvPicPr>
          <p:cNvPr id="4" name="Image 0" descr="pipelin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WHY DETECTION COMES FIRST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RetinaFace crops — and that changes the problem entirely</a:t>
            </a:r>
            <a:endParaRPr lang="en-US" sz="3400" dirty="0"/>
          </a:p>
        </p:txBody>
      </p:sp>
      <p:sp>
        <p:nvSpPr>
          <p:cNvPr id="4" name="Shape 2"/>
          <p:cNvSpPr/>
          <p:nvPr/>
        </p:nvSpPr>
        <p:spPr>
          <a:xfrm>
            <a:off x="566928" y="1554480"/>
            <a:ext cx="5394960" cy="3749040"/>
          </a:xfrm>
          <a:prstGeom prst="roundRect">
            <a:avLst>
              <a:gd name="adj" fmla="val 3415"/>
            </a:avLst>
          </a:prstGeom>
          <a:solidFill>
            <a:srgbClr val="1A2350"/>
          </a:solidFill>
          <a:ln w="25400">
            <a:solidFill>
              <a:srgbClr val="FF7AA8"/>
            </a:solidFill>
            <a:prstDash val="solid"/>
          </a:ln>
        </p:spPr>
      </p:sp>
      <p:sp>
        <p:nvSpPr>
          <p:cNvPr id="5" name="Shape 3"/>
          <p:cNvSpPr/>
          <p:nvPr/>
        </p:nvSpPr>
        <p:spPr>
          <a:xfrm>
            <a:off x="886968" y="1783080"/>
            <a:ext cx="1737360" cy="347472"/>
          </a:xfrm>
          <a:prstGeom prst="roundRect">
            <a:avLst>
              <a:gd name="adj" fmla="val 44737"/>
            </a:avLst>
          </a:prstGeom>
          <a:solidFill>
            <a:srgbClr val="FF7AA8"/>
          </a:solidFill>
          <a:ln/>
        </p:spPr>
      </p:sp>
      <p:sp>
        <p:nvSpPr>
          <p:cNvPr id="6" name="Text 4"/>
          <p:cNvSpPr/>
          <p:nvPr/>
        </p:nvSpPr>
        <p:spPr>
          <a:xfrm>
            <a:off x="886968" y="1783080"/>
            <a:ext cx="1737360" cy="347472"/>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The wrong question</a:t>
            </a:r>
            <a:endParaRPr lang="en-US" sz="1100" dirty="0"/>
          </a:p>
        </p:txBody>
      </p:sp>
      <p:sp>
        <p:nvSpPr>
          <p:cNvPr id="7" name="Text 5"/>
          <p:cNvSpPr/>
          <p:nvPr/>
        </p:nvSpPr>
        <p:spPr>
          <a:xfrm>
            <a:off x="886968" y="2240280"/>
            <a:ext cx="47548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If you classified the whole photo</a:t>
            </a:r>
            <a:endParaRPr lang="en-US" sz="1800" dirty="0"/>
          </a:p>
        </p:txBody>
      </p:sp>
      <p:sp>
        <p:nvSpPr>
          <p:cNvPr id="8" name="Text 6"/>
          <p:cNvSpPr/>
          <p:nvPr/>
        </p:nvSpPr>
        <p:spPr>
          <a:xfrm>
            <a:off x="932688" y="27432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One answer for a frame containing thirty people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background and lighting dominate the result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person at the edge is ignored; the biggest face wins</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Move the camera and the “identity” changes</a:t>
            </a:r>
            <a:endParaRPr lang="en-US" sz="1400" dirty="0"/>
          </a:p>
        </p:txBody>
      </p:sp>
      <p:sp>
        <p:nvSpPr>
          <p:cNvPr id="9" name="Shape 7"/>
          <p:cNvSpPr/>
          <p:nvPr/>
        </p:nvSpPr>
        <p:spPr>
          <a:xfrm>
            <a:off x="6236208" y="1554480"/>
            <a:ext cx="5394960" cy="3749040"/>
          </a:xfrm>
          <a:prstGeom prst="roundRect">
            <a:avLst>
              <a:gd name="adj" fmla="val 3415"/>
            </a:avLst>
          </a:prstGeom>
          <a:solidFill>
            <a:srgbClr val="1A2350"/>
          </a:solidFill>
          <a:ln w="25400">
            <a:solidFill>
              <a:srgbClr val="3DD68C"/>
            </a:solidFill>
            <a:prstDash val="solid"/>
          </a:ln>
        </p:spPr>
      </p:sp>
      <p:sp>
        <p:nvSpPr>
          <p:cNvPr id="10" name="Shape 8"/>
          <p:cNvSpPr/>
          <p:nvPr/>
        </p:nvSpPr>
        <p:spPr>
          <a:xfrm>
            <a:off x="6556248" y="1783080"/>
            <a:ext cx="1737360" cy="347472"/>
          </a:xfrm>
          <a:prstGeom prst="roundRect">
            <a:avLst>
              <a:gd name="adj" fmla="val 44737"/>
            </a:avLst>
          </a:prstGeom>
          <a:solidFill>
            <a:srgbClr val="3DD68C"/>
          </a:solidFill>
          <a:ln/>
        </p:spPr>
      </p:sp>
      <p:sp>
        <p:nvSpPr>
          <p:cNvPr id="11" name="Text 9"/>
          <p:cNvSpPr/>
          <p:nvPr/>
        </p:nvSpPr>
        <p:spPr>
          <a:xfrm>
            <a:off x="6556248" y="1783080"/>
            <a:ext cx="1737360" cy="347472"/>
          </a:xfrm>
          <a:prstGeom prst="rect">
            <a:avLst/>
          </a:prstGeom>
          <a:noFill/>
          <a:ln/>
        </p:spPr>
        <p:txBody>
          <a:bodyPr wrap="square" lIns="0" tIns="0" rIns="0" bIns="0" rtlCol="0" anchor="ctr"/>
          <a:lstStyle/>
          <a:p>
            <a:pPr algn="ctr" indent="0" marL="0">
              <a:buNone/>
            </a:pPr>
            <a:r>
              <a:rPr lang="en-US" sz="1100" b="1" dirty="0">
                <a:solidFill>
                  <a:srgbClr val="11162E"/>
                </a:solidFill>
                <a:latin typeface="Arial" pitchFamily="34" charset="0"/>
                <a:ea typeface="Arial" pitchFamily="34" charset="-122"/>
                <a:cs typeface="Arial" pitchFamily="34" charset="-120"/>
              </a:rPr>
              <a:t>The right question</a:t>
            </a:r>
            <a:endParaRPr lang="en-US" sz="1100" dirty="0"/>
          </a:p>
        </p:txBody>
      </p:sp>
      <p:sp>
        <p:nvSpPr>
          <p:cNvPr id="12" name="Text 10"/>
          <p:cNvSpPr/>
          <p:nvPr/>
        </p:nvSpPr>
        <p:spPr>
          <a:xfrm>
            <a:off x="6556248" y="2240280"/>
            <a:ext cx="475488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Because you crop each face first</a:t>
            </a:r>
            <a:endParaRPr lang="en-US" sz="1800" dirty="0"/>
          </a:p>
        </p:txBody>
      </p:sp>
      <p:sp>
        <p:nvSpPr>
          <p:cNvPr id="13" name="Text 11"/>
          <p:cNvSpPr/>
          <p:nvPr/>
        </p:nvSpPr>
        <p:spPr>
          <a:xfrm>
            <a:off x="6601968" y="274320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Thirty faces become thirty separate, comparable problems</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model only ever sees a face, filling the frame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A face at the edge counts as much as one in front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same person in two photos gives two close vectors</a:t>
            </a:r>
            <a:endParaRPr lang="en-US" sz="1400" dirty="0"/>
          </a:p>
        </p:txBody>
      </p:sp>
      <p:sp>
        <p:nvSpPr>
          <p:cNvPr id="14" name="Shape 12"/>
          <p:cNvSpPr/>
          <p:nvPr/>
        </p:nvSpPr>
        <p:spPr>
          <a:xfrm>
            <a:off x="566928" y="5532120"/>
            <a:ext cx="11064240" cy="960120"/>
          </a:xfrm>
          <a:prstGeom prst="roundRect">
            <a:avLst>
              <a:gd name="adj" fmla="val 13333"/>
            </a:avLst>
          </a:prstGeom>
          <a:solidFill>
            <a:srgbClr val="141B3E"/>
          </a:solidFill>
          <a:ln/>
        </p:spPr>
      </p:sp>
      <p:sp>
        <p:nvSpPr>
          <p:cNvPr id="15" name="Text 13"/>
          <p:cNvSpPr/>
          <p:nvPr/>
        </p:nvSpPr>
        <p:spPr>
          <a:xfrm>
            <a:off x="914400" y="5623560"/>
            <a:ext cx="10332720" cy="7772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Detection is not a preprocessing chore. It is what makes the recognition model small, fast, and comparable across photos it has never seen together.</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STEP 1 — FIND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detection actually hands back</a:t>
            </a:r>
            <a:endParaRPr lang="en-US" sz="3400" dirty="0"/>
          </a:p>
        </p:txBody>
      </p:sp>
      <p:sp>
        <p:nvSpPr>
          <p:cNvPr id="4" name="Shape 2"/>
          <p:cNvSpPr/>
          <p:nvPr/>
        </p:nvSpPr>
        <p:spPr>
          <a:xfrm>
            <a:off x="566928" y="1508760"/>
            <a:ext cx="11064240" cy="1207008"/>
          </a:xfrm>
          <a:prstGeom prst="roundRect">
            <a:avLst>
              <a:gd name="adj" fmla="val 9091"/>
            </a:avLst>
          </a:prstGeom>
          <a:solidFill>
            <a:srgbClr val="1A2350"/>
          </a:solidFill>
          <a:ln w="25400">
            <a:solidFill>
              <a:srgbClr val="FFB020"/>
            </a:solidFill>
            <a:prstDash val="solid"/>
          </a:ln>
        </p:spPr>
      </p:sp>
      <p:sp>
        <p:nvSpPr>
          <p:cNvPr id="5" name="Text 3"/>
          <p:cNvSpPr/>
          <p:nvPr/>
        </p:nvSpPr>
        <p:spPr>
          <a:xfrm>
            <a:off x="914400" y="167335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 bounding box</a:t>
            </a:r>
            <a:endParaRPr lang="en-US" sz="1900" dirty="0"/>
          </a:p>
        </p:txBody>
      </p:sp>
      <p:sp>
        <p:nvSpPr>
          <p:cNvPr id="6" name="Text 4"/>
          <p:cNvSpPr/>
          <p:nvPr/>
        </p:nvSpPr>
        <p:spPr>
          <a:xfrm>
            <a:off x="914400" y="20756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x1, y1, x2, y2 — where the face sits in the frame. Stored per face, so a portrait can be cropped later without re-running the model.</a:t>
            </a:r>
            <a:endParaRPr lang="en-US" sz="1400" dirty="0"/>
          </a:p>
        </p:txBody>
      </p:sp>
      <p:sp>
        <p:nvSpPr>
          <p:cNvPr id="7" name="Shape 5"/>
          <p:cNvSpPr/>
          <p:nvPr/>
        </p:nvSpPr>
        <p:spPr>
          <a:xfrm>
            <a:off x="566928" y="2880360"/>
            <a:ext cx="11064240" cy="1207008"/>
          </a:xfrm>
          <a:prstGeom prst="roundRect">
            <a:avLst>
              <a:gd name="adj" fmla="val 9091"/>
            </a:avLst>
          </a:prstGeom>
          <a:solidFill>
            <a:srgbClr val="1A2350"/>
          </a:solidFill>
          <a:ln w="25400">
            <a:solidFill>
              <a:srgbClr val="FFB020"/>
            </a:solidFill>
            <a:prstDash val="solid"/>
          </a:ln>
        </p:spPr>
      </p:sp>
      <p:sp>
        <p:nvSpPr>
          <p:cNvPr id="8" name="Text 6"/>
          <p:cNvSpPr/>
          <p:nvPr/>
        </p:nvSpPr>
        <p:spPr>
          <a:xfrm>
            <a:off x="914400" y="304495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A confidence score</a:t>
            </a:r>
            <a:endParaRPr lang="en-US" sz="1900" dirty="0"/>
          </a:p>
        </p:txBody>
      </p:sp>
      <p:sp>
        <p:nvSpPr>
          <p:cNvPr id="9" name="Text 7"/>
          <p:cNvSpPr/>
          <p:nvPr/>
        </p:nvSpPr>
        <p:spPr>
          <a:xfrm>
            <a:off x="914400" y="34472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How sure it is that this is a face at all. Below minScore = 0.7 it is thrown away before it ever costs us an embedding.</a:t>
            </a:r>
            <a:endParaRPr lang="en-US" sz="1400" dirty="0"/>
          </a:p>
        </p:txBody>
      </p:sp>
      <p:sp>
        <p:nvSpPr>
          <p:cNvPr id="10" name="Shape 8"/>
          <p:cNvSpPr/>
          <p:nvPr/>
        </p:nvSpPr>
        <p:spPr>
          <a:xfrm>
            <a:off x="566928" y="4251960"/>
            <a:ext cx="11064240" cy="1207008"/>
          </a:xfrm>
          <a:prstGeom prst="roundRect">
            <a:avLst>
              <a:gd name="adj" fmla="val 9091"/>
            </a:avLst>
          </a:prstGeom>
          <a:solidFill>
            <a:srgbClr val="1A2350"/>
          </a:solidFill>
          <a:ln w="25400">
            <a:solidFill>
              <a:srgbClr val="A9BEFF"/>
            </a:solidFill>
            <a:prstDash val="solid"/>
          </a:ln>
        </p:spPr>
      </p:sp>
      <p:sp>
        <p:nvSpPr>
          <p:cNvPr id="11" name="Text 9"/>
          <p:cNvSpPr/>
          <p:nvPr/>
        </p:nvSpPr>
        <p:spPr>
          <a:xfrm>
            <a:off x="914400" y="4416552"/>
            <a:ext cx="10332720" cy="365760"/>
          </a:xfrm>
          <a:prstGeom prst="rect">
            <a:avLst/>
          </a:prstGeom>
          <a:noFill/>
          <a:ln/>
        </p:spPr>
        <p:txBody>
          <a:bodyPr wrap="square" lIns="0" tIns="0" rIns="0" bIns="0" rtlCol="0" anchor="ctr"/>
          <a:lstStyle/>
          <a:p>
            <a:pPr indent="0" marL="0">
              <a:buNone/>
            </a:pPr>
            <a:r>
              <a:rPr lang="en-US" sz="1900" b="1" dirty="0">
                <a:solidFill>
                  <a:srgbClr val="A9BEFF"/>
                </a:solidFill>
                <a:latin typeface="Arial" pitchFamily="34" charset="0"/>
                <a:ea typeface="Arial" pitchFamily="34" charset="-122"/>
                <a:cs typeface="Arial" pitchFamily="34" charset="-120"/>
              </a:rPr>
              <a:t>Five landmarks</a:t>
            </a:r>
            <a:endParaRPr lang="en-US" sz="1900" dirty="0"/>
          </a:p>
        </p:txBody>
      </p:sp>
      <p:sp>
        <p:nvSpPr>
          <p:cNvPr id="12" name="Text 10"/>
          <p:cNvSpPr/>
          <p:nvPr/>
        </p:nvSpPr>
        <p:spPr>
          <a:xfrm>
            <a:off x="914400" y="4818888"/>
            <a:ext cx="10332720" cy="50292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Two eyes, the nose, two mouth corners. Not used to identify anyone — used to straighten the crop.</a:t>
            </a:r>
            <a:endParaRPr lang="en-US" sz="1400" dirty="0"/>
          </a:p>
        </p:txBody>
      </p:sp>
      <p:sp>
        <p:nvSpPr>
          <p:cNvPr id="13" name="Shape 11"/>
          <p:cNvSpPr/>
          <p:nvPr/>
        </p:nvSpPr>
        <p:spPr>
          <a:xfrm>
            <a:off x="566928" y="5669280"/>
            <a:ext cx="11064240" cy="914400"/>
          </a:xfrm>
          <a:prstGeom prst="roundRect">
            <a:avLst>
              <a:gd name="adj" fmla="val 14000"/>
            </a:avLst>
          </a:prstGeom>
          <a:solidFill>
            <a:srgbClr val="141B3E"/>
          </a:solidFill>
          <a:ln w="25400">
            <a:solidFill>
              <a:srgbClr val="3DD68C"/>
            </a:solidFill>
            <a:prstDash val="solid"/>
          </a:ln>
        </p:spPr>
      </p:sp>
      <p:sp>
        <p:nvSpPr>
          <p:cNvPr id="14" name="Text 12"/>
          <p:cNvSpPr/>
          <p:nvPr/>
        </p:nvSpPr>
        <p:spPr>
          <a:xfrm>
            <a:off x="914400" y="5760720"/>
            <a:ext cx="10332720" cy="73152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Detection runs on the downscaled preview, but the person portrait is cropped from the original — a face is a small part of a group photo, and upscaling a handful of pixels looks terrible.</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STEP 2 — ALIGN</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step nobody mentions, and everything depends on it</a:t>
            </a:r>
            <a:endParaRPr lang="en-US" sz="3400" dirty="0"/>
          </a:p>
        </p:txBody>
      </p:sp>
      <p:sp>
        <p:nvSpPr>
          <p:cNvPr id="4" name="Shape 2"/>
          <p:cNvSpPr/>
          <p:nvPr/>
        </p:nvSpPr>
        <p:spPr>
          <a:xfrm>
            <a:off x="566928" y="1508760"/>
            <a:ext cx="11064240" cy="1188720"/>
          </a:xfrm>
          <a:prstGeom prst="roundRect">
            <a:avLst>
              <a:gd name="adj" fmla="val 10769"/>
            </a:avLst>
          </a:prstGeom>
          <a:solidFill>
            <a:srgbClr val="141B3E"/>
          </a:solidFill>
          <a:ln w="25400">
            <a:solidFill>
              <a:srgbClr val="FFB020"/>
            </a:solidFill>
            <a:prstDash val="solid"/>
          </a:ln>
        </p:spPr>
      </p:sp>
      <p:sp>
        <p:nvSpPr>
          <p:cNvPr id="5" name="Text 3"/>
          <p:cNvSpPr/>
          <p:nvPr/>
        </p:nvSpPr>
        <p:spPr>
          <a:xfrm>
            <a:off x="914400" y="1627632"/>
            <a:ext cx="10332720" cy="9601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Every crop is warped so the eyes, nose and mouth land in the same place — a fixed 112 × 112 tile. A tilted head and a straight one become the same picture before anything is measured.</a:t>
            </a:r>
            <a:endParaRPr lang="en-US" sz="1700" dirty="0"/>
          </a:p>
        </p:txBody>
      </p:sp>
      <p:sp>
        <p:nvSpPr>
          <p:cNvPr id="6" name="Shape 4"/>
          <p:cNvSpPr/>
          <p:nvPr/>
        </p:nvSpPr>
        <p:spPr>
          <a:xfrm>
            <a:off x="566928" y="2926080"/>
            <a:ext cx="5394960" cy="2286000"/>
          </a:xfrm>
          <a:prstGeom prst="roundRect">
            <a:avLst>
              <a:gd name="adj" fmla="val 5600"/>
            </a:avLst>
          </a:prstGeom>
          <a:solidFill>
            <a:srgbClr val="1A2350"/>
          </a:solidFill>
          <a:ln w="25400">
            <a:solidFill>
              <a:srgbClr val="FF7AA8"/>
            </a:solidFill>
            <a:prstDash val="solid"/>
          </a:ln>
        </p:spPr>
      </p:sp>
      <p:sp>
        <p:nvSpPr>
          <p:cNvPr id="7" name="Text 5"/>
          <p:cNvSpPr/>
          <p:nvPr/>
        </p:nvSpPr>
        <p:spPr>
          <a:xfrm>
            <a:off x="886968" y="3108960"/>
            <a:ext cx="4754880" cy="36576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Without alignment</a:t>
            </a:r>
            <a:endParaRPr lang="en-US" sz="1800" dirty="0"/>
          </a:p>
        </p:txBody>
      </p:sp>
      <p:sp>
        <p:nvSpPr>
          <p:cNvPr id="8" name="Text 6"/>
          <p:cNvSpPr/>
          <p:nvPr/>
        </p:nvSpPr>
        <p:spPr>
          <a:xfrm>
            <a:off x="886968" y="3520440"/>
            <a:ext cx="4754880" cy="155448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The model would have to learn “same person, rotated 20 degrees” separately for every angle — and waste half its 512 numbers describing pose instead of identity.</a:t>
            </a:r>
            <a:endParaRPr lang="en-US" sz="1400" dirty="0"/>
          </a:p>
        </p:txBody>
      </p:sp>
      <p:sp>
        <p:nvSpPr>
          <p:cNvPr id="9" name="Shape 7"/>
          <p:cNvSpPr/>
          <p:nvPr/>
        </p:nvSpPr>
        <p:spPr>
          <a:xfrm>
            <a:off x="6236208" y="2926080"/>
            <a:ext cx="5394960" cy="2286000"/>
          </a:xfrm>
          <a:prstGeom prst="roundRect">
            <a:avLst>
              <a:gd name="adj" fmla="val 5600"/>
            </a:avLst>
          </a:prstGeom>
          <a:solidFill>
            <a:srgbClr val="1A2350"/>
          </a:solidFill>
          <a:ln w="25400">
            <a:solidFill>
              <a:srgbClr val="3DD68C"/>
            </a:solidFill>
            <a:prstDash val="solid"/>
          </a:ln>
        </p:spPr>
      </p:sp>
      <p:sp>
        <p:nvSpPr>
          <p:cNvPr id="10" name="Text 8"/>
          <p:cNvSpPr/>
          <p:nvPr/>
        </p:nvSpPr>
        <p:spPr>
          <a:xfrm>
            <a:off x="6556248" y="3108960"/>
            <a:ext cx="4754880" cy="365760"/>
          </a:xfrm>
          <a:prstGeom prst="rect">
            <a:avLst/>
          </a:prstGeom>
          <a:noFill/>
          <a:ln/>
        </p:spPr>
        <p:txBody>
          <a:bodyPr wrap="square" lIns="0" tIns="0" rIns="0" bIns="0" rtlCol="0" anchor="ctr"/>
          <a:lstStyle/>
          <a:p>
            <a:pPr indent="0" marL="0">
              <a:buNone/>
            </a:pPr>
            <a:r>
              <a:rPr lang="en-US" sz="1800" b="1" dirty="0">
                <a:solidFill>
                  <a:srgbClr val="3DD68C"/>
                </a:solidFill>
                <a:latin typeface="Arial" pitchFamily="34" charset="0"/>
                <a:ea typeface="Arial" pitchFamily="34" charset="-122"/>
                <a:cs typeface="Arial" pitchFamily="34" charset="-120"/>
              </a:rPr>
              <a:t>With alignment</a:t>
            </a:r>
            <a:endParaRPr lang="en-US" sz="1800" dirty="0"/>
          </a:p>
        </p:txBody>
      </p:sp>
      <p:sp>
        <p:nvSpPr>
          <p:cNvPr id="11" name="Text 9"/>
          <p:cNvSpPr/>
          <p:nvPr/>
        </p:nvSpPr>
        <p:spPr>
          <a:xfrm>
            <a:off x="6556248" y="3520440"/>
            <a:ext cx="4754880" cy="155448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Pose is removed before the model sees anything. All 512 numbers get spent on what actually distinguishes one person from another.</a:t>
            </a:r>
            <a:endParaRPr lang="en-US" sz="1400" dirty="0"/>
          </a:p>
        </p:txBody>
      </p:sp>
      <p:sp>
        <p:nvSpPr>
          <p:cNvPr id="12" name="Text 10"/>
          <p:cNvSpPr/>
          <p:nvPr/>
        </p:nvSpPr>
        <p:spPr>
          <a:xfrm>
            <a:off x="566928" y="5486400"/>
            <a:ext cx="11064240" cy="457200"/>
          </a:xfrm>
          <a:prstGeom prst="rect">
            <a:avLst/>
          </a:prstGeom>
          <a:noFill/>
          <a:ln/>
        </p:spPr>
        <p:txBody>
          <a:bodyPr wrap="square" lIns="0" tIns="0" rIns="0" bIns="0" rtlCol="0" anchor="ctr"/>
          <a:lstStyle/>
          <a:p>
            <a:pPr indent="0" marL="0">
              <a:buNone/>
            </a:pPr>
            <a:r>
              <a:rPr lang="en-US" sz="1500" b="1" i="1" dirty="0">
                <a:solidFill>
                  <a:srgbClr val="A9BEFF"/>
                </a:solidFill>
                <a:latin typeface="Arial" pitchFamily="34" charset="0"/>
                <a:ea typeface="Arial" pitchFamily="34" charset="-122"/>
                <a:cs typeface="Arial" pitchFamily="34" charset="-120"/>
              </a:rPr>
              <a:t>Rule of thumb: every bit of variation you remove before the model is capacity you get back for the thing you actually care about.</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A9BEFF"/>
                </a:solidFill>
                <a:latin typeface="Arial" pitchFamily="34" charset="0"/>
                <a:ea typeface="Arial" pitchFamily="34" charset="-122"/>
                <a:cs typeface="Arial" pitchFamily="34" charset="-120"/>
              </a:rPr>
              <a:t>STEP 3 — MEASURE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“512 numbers” literally is</a:t>
            </a:r>
            <a:endParaRPr lang="en-US" sz="3400" dirty="0"/>
          </a:p>
        </p:txBody>
      </p:sp>
      <p:sp>
        <p:nvSpPr>
          <p:cNvPr id="4" name="Shape 2"/>
          <p:cNvSpPr/>
          <p:nvPr/>
        </p:nvSpPr>
        <p:spPr>
          <a:xfrm>
            <a:off x="566928" y="1463040"/>
            <a:ext cx="11064240" cy="914400"/>
          </a:xfrm>
          <a:prstGeom prst="roundRect">
            <a:avLst>
              <a:gd name="adj" fmla="val 12000"/>
            </a:avLst>
          </a:prstGeom>
          <a:solidFill>
            <a:srgbClr val="141B3E"/>
          </a:solidFill>
          <a:ln w="25400">
            <a:solidFill>
              <a:srgbClr val="A9BEFF"/>
            </a:solidFill>
            <a:prstDash val="solid"/>
          </a:ln>
        </p:spPr>
      </p:sp>
      <p:sp>
        <p:nvSpPr>
          <p:cNvPr id="5" name="Text 3"/>
          <p:cNvSpPr/>
          <p:nvPr/>
        </p:nvSpPr>
        <p:spPr>
          <a:xfrm>
            <a:off x="914400" y="1463040"/>
            <a:ext cx="10332720" cy="914400"/>
          </a:xfrm>
          <a:prstGeom prst="rect">
            <a:avLst/>
          </a:prstGeom>
          <a:noFill/>
          <a:ln/>
        </p:spPr>
        <p:txBody>
          <a:bodyPr wrap="square" lIns="0" tIns="0" rIns="0" bIns="0" rtlCol="0" anchor="ctr"/>
          <a:lstStyle/>
          <a:p>
            <a:pPr indent="0" marL="0">
              <a:buNone/>
            </a:pPr>
            <a:r>
              <a:rPr lang="en-US" sz="2000" b="1" dirty="0">
                <a:solidFill>
                  <a:srgbClr val="A9BEFF"/>
                </a:solidFill>
                <a:latin typeface="Courier New" pitchFamily="34" charset="0"/>
                <a:ea typeface="Courier New" pitchFamily="34" charset="-122"/>
                <a:cs typeface="Courier New" pitchFamily="34" charset="-120"/>
              </a:rPr>
              <a:t>[ 0.041, -0.118, 0.207, 0.003, -0.076, 0.162, … 506 more ]</a:t>
            </a:r>
            <a:endParaRPr lang="en-US" sz="2000" dirty="0"/>
          </a:p>
        </p:txBody>
      </p:sp>
      <p:sp>
        <p:nvSpPr>
          <p:cNvPr id="6" name="Shape 4"/>
          <p:cNvSpPr/>
          <p:nvPr/>
        </p:nvSpPr>
        <p:spPr>
          <a:xfrm>
            <a:off x="566928" y="2606040"/>
            <a:ext cx="5394960" cy="1737360"/>
          </a:xfrm>
          <a:prstGeom prst="roundRect">
            <a:avLst>
              <a:gd name="adj" fmla="val 6316"/>
            </a:avLst>
          </a:prstGeom>
          <a:solidFill>
            <a:srgbClr val="1A2350"/>
          </a:solidFill>
          <a:ln/>
        </p:spPr>
      </p:sp>
      <p:sp>
        <p:nvSpPr>
          <p:cNvPr id="7" name="Shape 5"/>
          <p:cNvSpPr/>
          <p:nvPr/>
        </p:nvSpPr>
        <p:spPr>
          <a:xfrm>
            <a:off x="886968" y="2862072"/>
            <a:ext cx="365760" cy="365760"/>
          </a:xfrm>
          <a:prstGeom prst="ellipse">
            <a:avLst/>
          </a:prstGeom>
          <a:solidFill>
            <a:srgbClr val="FFB020"/>
          </a:solidFill>
          <a:ln/>
        </p:spPr>
      </p:sp>
      <p:sp>
        <p:nvSpPr>
          <p:cNvPr id="8" name="Text 6"/>
          <p:cNvSpPr/>
          <p:nvPr/>
        </p:nvSpPr>
        <p:spPr>
          <a:xfrm>
            <a:off x="886968" y="286207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389888" y="2834640"/>
            <a:ext cx="429768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Decimals, not digits</a:t>
            </a:r>
            <a:endParaRPr lang="en-US" sz="1700" dirty="0"/>
          </a:p>
        </p:txBody>
      </p:sp>
      <p:sp>
        <p:nvSpPr>
          <p:cNvPr id="10" name="Text 8"/>
          <p:cNvSpPr/>
          <p:nvPr/>
        </p:nvSpPr>
        <p:spPr>
          <a:xfrm>
            <a:off x="886968" y="331927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Each one is a signed decimal, usually between -1 and 1. “512-digit number” is the one thing worth un-learning.</a:t>
            </a:r>
            <a:endParaRPr lang="en-US" sz="1300" dirty="0"/>
          </a:p>
        </p:txBody>
      </p:sp>
      <p:sp>
        <p:nvSpPr>
          <p:cNvPr id="11" name="Shape 9"/>
          <p:cNvSpPr/>
          <p:nvPr/>
        </p:nvSpPr>
        <p:spPr>
          <a:xfrm>
            <a:off x="6236208" y="2606040"/>
            <a:ext cx="5394960" cy="1737360"/>
          </a:xfrm>
          <a:prstGeom prst="roundRect">
            <a:avLst>
              <a:gd name="adj" fmla="val 6316"/>
            </a:avLst>
          </a:prstGeom>
          <a:solidFill>
            <a:srgbClr val="1A2350"/>
          </a:solidFill>
          <a:ln/>
        </p:spPr>
      </p:sp>
      <p:sp>
        <p:nvSpPr>
          <p:cNvPr id="12" name="Shape 10"/>
          <p:cNvSpPr/>
          <p:nvPr/>
        </p:nvSpPr>
        <p:spPr>
          <a:xfrm>
            <a:off x="6556248" y="2862072"/>
            <a:ext cx="365760" cy="365760"/>
          </a:xfrm>
          <a:prstGeom prst="ellipse">
            <a:avLst/>
          </a:prstGeom>
          <a:solidFill>
            <a:srgbClr val="4C6FFF"/>
          </a:solidFill>
          <a:ln/>
        </p:spPr>
      </p:sp>
      <p:sp>
        <p:nvSpPr>
          <p:cNvPr id="13" name="Text 11"/>
          <p:cNvSpPr/>
          <p:nvPr/>
        </p:nvSpPr>
        <p:spPr>
          <a:xfrm>
            <a:off x="6556248" y="286207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7059168" y="2834640"/>
            <a:ext cx="429768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No single number means anything</a:t>
            </a:r>
            <a:endParaRPr lang="en-US" sz="1700" dirty="0"/>
          </a:p>
        </p:txBody>
      </p:sp>
      <p:sp>
        <p:nvSpPr>
          <p:cNvPr id="15" name="Text 13"/>
          <p:cNvSpPr/>
          <p:nvPr/>
        </p:nvSpPr>
        <p:spPr>
          <a:xfrm>
            <a:off x="6556248" y="331927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Number 47 is not “nose width”. The meaning lives in all 512 together — nobody, including the people who trained it, can tell you what one slot is for.</a:t>
            </a:r>
            <a:endParaRPr lang="en-US" sz="1300" dirty="0"/>
          </a:p>
        </p:txBody>
      </p:sp>
      <p:sp>
        <p:nvSpPr>
          <p:cNvPr id="16" name="Shape 14"/>
          <p:cNvSpPr/>
          <p:nvPr/>
        </p:nvSpPr>
        <p:spPr>
          <a:xfrm>
            <a:off x="566928" y="4526280"/>
            <a:ext cx="5394960" cy="1737360"/>
          </a:xfrm>
          <a:prstGeom prst="roundRect">
            <a:avLst>
              <a:gd name="adj" fmla="val 6316"/>
            </a:avLst>
          </a:prstGeom>
          <a:solidFill>
            <a:srgbClr val="1A2350"/>
          </a:solidFill>
          <a:ln/>
        </p:spPr>
      </p:sp>
      <p:sp>
        <p:nvSpPr>
          <p:cNvPr id="17" name="Shape 15"/>
          <p:cNvSpPr/>
          <p:nvPr/>
        </p:nvSpPr>
        <p:spPr>
          <a:xfrm>
            <a:off x="886968" y="4782312"/>
            <a:ext cx="365760" cy="365760"/>
          </a:xfrm>
          <a:prstGeom prst="ellipse">
            <a:avLst/>
          </a:prstGeom>
          <a:solidFill>
            <a:srgbClr val="3DD68C"/>
          </a:solidFill>
          <a:ln/>
        </p:spPr>
      </p:sp>
      <p:sp>
        <p:nvSpPr>
          <p:cNvPr id="18" name="Text 16"/>
          <p:cNvSpPr/>
          <p:nvPr/>
        </p:nvSpPr>
        <p:spPr>
          <a:xfrm>
            <a:off x="886968" y="478231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389888" y="4754880"/>
            <a:ext cx="4297680" cy="365760"/>
          </a:xfrm>
          <a:prstGeom prst="rect">
            <a:avLst/>
          </a:prstGeom>
          <a:noFill/>
          <a:ln/>
        </p:spPr>
        <p:txBody>
          <a:bodyPr wrap="square" lIns="0" tIns="0" rIns="0" bIns="0" rtlCol="0" anchor="ctr"/>
          <a:lstStyle/>
          <a:p>
            <a:pPr indent="0" marL="0">
              <a:buNone/>
            </a:pPr>
            <a:r>
              <a:rPr lang="en-US" sz="1700" b="1" dirty="0">
                <a:solidFill>
                  <a:srgbClr val="3DD68C"/>
                </a:solidFill>
                <a:latin typeface="Arial" pitchFamily="34" charset="0"/>
                <a:ea typeface="Arial" pitchFamily="34" charset="-122"/>
                <a:cs typeface="Arial" pitchFamily="34" charset="-120"/>
              </a:rPr>
              <a:t>Always exactly 512</a:t>
            </a:r>
            <a:endParaRPr lang="en-US" sz="1700" dirty="0"/>
          </a:p>
        </p:txBody>
      </p:sp>
      <p:sp>
        <p:nvSpPr>
          <p:cNvPr id="20" name="Text 18"/>
          <p:cNvSpPr/>
          <p:nvPr/>
        </p:nvSpPr>
        <p:spPr>
          <a:xfrm>
            <a:off x="886968" y="523951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blurry face, a child, a face at the edge — all produce exactly 512 numbers. That fixed size is what makes them comparable.</a:t>
            </a:r>
            <a:endParaRPr lang="en-US" sz="1300" dirty="0"/>
          </a:p>
        </p:txBody>
      </p:sp>
      <p:sp>
        <p:nvSpPr>
          <p:cNvPr id="21" name="Shape 19"/>
          <p:cNvSpPr/>
          <p:nvPr/>
        </p:nvSpPr>
        <p:spPr>
          <a:xfrm>
            <a:off x="6236208" y="4526280"/>
            <a:ext cx="5394960" cy="1737360"/>
          </a:xfrm>
          <a:prstGeom prst="roundRect">
            <a:avLst>
              <a:gd name="adj" fmla="val 6316"/>
            </a:avLst>
          </a:prstGeom>
          <a:solidFill>
            <a:srgbClr val="1A2350"/>
          </a:solidFill>
          <a:ln/>
        </p:spPr>
      </p:sp>
      <p:sp>
        <p:nvSpPr>
          <p:cNvPr id="22" name="Shape 20"/>
          <p:cNvSpPr/>
          <p:nvPr/>
        </p:nvSpPr>
        <p:spPr>
          <a:xfrm>
            <a:off x="6556248" y="4782312"/>
            <a:ext cx="365760" cy="365760"/>
          </a:xfrm>
          <a:prstGeom prst="ellipse">
            <a:avLst/>
          </a:prstGeom>
          <a:solidFill>
            <a:srgbClr val="FF7AA8"/>
          </a:solidFill>
          <a:ln/>
        </p:spPr>
      </p:sp>
      <p:sp>
        <p:nvSpPr>
          <p:cNvPr id="23" name="Text 21"/>
          <p:cNvSpPr/>
          <p:nvPr/>
        </p:nvSpPr>
        <p:spPr>
          <a:xfrm>
            <a:off x="6556248" y="4782312"/>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7059168" y="4754880"/>
            <a:ext cx="4297680" cy="365760"/>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Normalised to length 1</a:t>
            </a:r>
            <a:endParaRPr lang="en-US" sz="1700" dirty="0"/>
          </a:p>
        </p:txBody>
      </p:sp>
      <p:sp>
        <p:nvSpPr>
          <p:cNvPr id="25" name="Text 23"/>
          <p:cNvSpPr/>
          <p:nvPr/>
        </p:nvSpPr>
        <p:spPr>
          <a:xfrm>
            <a:off x="6556248" y="5239512"/>
            <a:ext cx="4754880" cy="91440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whole arrow is scaled to length 1. Brightness and contrast largely drop out, and comparison becomes an angle.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4C6FFF"/>
                </a:solidFill>
                <a:latin typeface="Arial" pitchFamily="34" charset="0"/>
                <a:ea typeface="Arial" pitchFamily="34" charset="-122"/>
                <a:cs typeface="Arial" pitchFamily="34" charset="-120"/>
              </a:rPr>
              <a:t>STEP 5 — COMPARE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Same person = close together. That is the whole trick.</a:t>
            </a:r>
            <a:endParaRPr lang="en-US" sz="2800" dirty="0"/>
          </a:p>
        </p:txBody>
      </p:sp>
      <p:pic>
        <p:nvPicPr>
          <p:cNvPr id="4" name="Image 0" descr="vector-spac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ONE NUMBER, TWO FAILURE MODES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maxDistance = 0.5 is a judgement call, not a fact</a:t>
            </a:r>
            <a:endParaRPr lang="en-US" sz="3400" dirty="0"/>
          </a:p>
        </p:txBody>
      </p:sp>
      <p:sp>
        <p:nvSpPr>
          <p:cNvPr id="4" name="Shape 2"/>
          <p:cNvSpPr/>
          <p:nvPr/>
        </p:nvSpPr>
        <p:spPr>
          <a:xfrm>
            <a:off x="566928" y="1554480"/>
            <a:ext cx="5394960" cy="2834640"/>
          </a:xfrm>
          <a:prstGeom prst="roundRect">
            <a:avLst>
              <a:gd name="adj" fmla="val 4516"/>
            </a:avLst>
          </a:prstGeom>
          <a:solidFill>
            <a:srgbClr val="1A2350"/>
          </a:solidFill>
          <a:ln w="25400">
            <a:solidFill>
              <a:srgbClr val="FF7AA8"/>
            </a:solidFill>
            <a:prstDash val="solid"/>
          </a:ln>
        </p:spPr>
      </p:sp>
      <p:sp>
        <p:nvSpPr>
          <p:cNvPr id="5" name="Text 3"/>
          <p:cNvSpPr/>
          <p:nvPr/>
        </p:nvSpPr>
        <p:spPr>
          <a:xfrm>
            <a:off x="886968" y="1737360"/>
            <a:ext cx="3108960" cy="41148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Set it too low</a:t>
            </a:r>
            <a:endParaRPr lang="en-US" sz="1800" dirty="0"/>
          </a:p>
        </p:txBody>
      </p:sp>
      <p:sp>
        <p:nvSpPr>
          <p:cNvPr id="6" name="Text 4"/>
          <p:cNvSpPr/>
          <p:nvPr/>
        </p:nvSpPr>
        <p:spPr>
          <a:xfrm>
            <a:off x="4224528" y="1691640"/>
            <a:ext cx="1371600" cy="502920"/>
          </a:xfrm>
          <a:prstGeom prst="rect">
            <a:avLst/>
          </a:prstGeom>
          <a:noFill/>
          <a:ln/>
        </p:spPr>
        <p:txBody>
          <a:bodyPr wrap="square" lIns="0" tIns="0" rIns="0" bIns="0"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0.2</a:t>
            </a:r>
            <a:endParaRPr lang="en-US" sz="2800" dirty="0"/>
          </a:p>
        </p:txBody>
      </p:sp>
      <p:sp>
        <p:nvSpPr>
          <p:cNvPr id="7" name="Text 5"/>
          <p:cNvSpPr/>
          <p:nvPr/>
        </p:nvSpPr>
        <p:spPr>
          <a:xfrm>
            <a:off x="932688" y="2286000"/>
            <a:ext cx="4663440" cy="19202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same person splits into several “people”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You in sunglasses becomes a different person from you without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Participants get only half their photos</a:t>
            </a:r>
            <a:endParaRPr lang="en-US" sz="1400" dirty="0"/>
          </a:p>
        </p:txBody>
      </p:sp>
      <p:sp>
        <p:nvSpPr>
          <p:cNvPr id="8" name="Shape 6"/>
          <p:cNvSpPr/>
          <p:nvPr/>
        </p:nvSpPr>
        <p:spPr>
          <a:xfrm>
            <a:off x="6236208" y="1554480"/>
            <a:ext cx="5394960" cy="2834640"/>
          </a:xfrm>
          <a:prstGeom prst="roundRect">
            <a:avLst>
              <a:gd name="adj" fmla="val 4516"/>
            </a:avLst>
          </a:prstGeom>
          <a:solidFill>
            <a:srgbClr val="1A2350"/>
          </a:solidFill>
          <a:ln w="25400">
            <a:solidFill>
              <a:srgbClr val="FF7AA8"/>
            </a:solidFill>
            <a:prstDash val="solid"/>
          </a:ln>
        </p:spPr>
      </p:sp>
      <p:sp>
        <p:nvSpPr>
          <p:cNvPr id="9" name="Text 7"/>
          <p:cNvSpPr/>
          <p:nvPr/>
        </p:nvSpPr>
        <p:spPr>
          <a:xfrm>
            <a:off x="6556248" y="1737360"/>
            <a:ext cx="3108960" cy="411480"/>
          </a:xfrm>
          <a:prstGeom prst="rect">
            <a:avLst/>
          </a:prstGeom>
          <a:noFill/>
          <a:ln/>
        </p:spPr>
        <p:txBody>
          <a:bodyPr wrap="square" lIns="0" tIns="0" rIns="0" bIns="0" rtlCol="0" anchor="ctr"/>
          <a:lstStyle/>
          <a:p>
            <a:pPr indent="0" marL="0">
              <a:buNone/>
            </a:pPr>
            <a:r>
              <a:rPr lang="en-US" sz="1800" b="1" dirty="0">
                <a:solidFill>
                  <a:srgbClr val="FF7AA8"/>
                </a:solidFill>
                <a:latin typeface="Arial" pitchFamily="34" charset="0"/>
                <a:ea typeface="Arial" pitchFamily="34" charset="-122"/>
                <a:cs typeface="Arial" pitchFamily="34" charset="-120"/>
              </a:rPr>
              <a:t>Set it too high</a:t>
            </a:r>
            <a:endParaRPr lang="en-US" sz="1800" dirty="0"/>
          </a:p>
        </p:txBody>
      </p:sp>
      <p:sp>
        <p:nvSpPr>
          <p:cNvPr id="10" name="Text 8"/>
          <p:cNvSpPr/>
          <p:nvPr/>
        </p:nvSpPr>
        <p:spPr>
          <a:xfrm>
            <a:off x="9893808" y="1691640"/>
            <a:ext cx="1371600" cy="502920"/>
          </a:xfrm>
          <a:prstGeom prst="rect">
            <a:avLst/>
          </a:prstGeom>
          <a:noFill/>
          <a:ln/>
        </p:spPr>
        <p:txBody>
          <a:bodyPr wrap="square" lIns="0" tIns="0" rIns="0" bIns="0" rtlCol="0" anchor="ctr"/>
          <a:lstStyle/>
          <a:p>
            <a:pPr algn="r" indent="0" marL="0">
              <a:buNone/>
            </a:pPr>
            <a:r>
              <a:rPr lang="en-US" sz="2800" b="1" dirty="0">
                <a:solidFill>
                  <a:srgbClr val="FFFFFF"/>
                </a:solidFill>
                <a:latin typeface="Cambria" pitchFamily="34" charset="0"/>
                <a:ea typeface="Cambria" pitchFamily="34" charset="-122"/>
                <a:cs typeface="Cambria" pitchFamily="34" charset="-120"/>
              </a:rPr>
              <a:t>0.9</a:t>
            </a:r>
            <a:endParaRPr lang="en-US" sz="2800" dirty="0"/>
          </a:p>
        </p:txBody>
      </p:sp>
      <p:sp>
        <p:nvSpPr>
          <p:cNvPr id="11" name="Text 9"/>
          <p:cNvSpPr/>
          <p:nvPr/>
        </p:nvSpPr>
        <p:spPr>
          <a:xfrm>
            <a:off x="6601968" y="2286000"/>
            <a:ext cx="4663440" cy="19202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Two different people merge into one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Someone receives photos of a stranger</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The failure nobody can un-see</a:t>
            </a:r>
            <a:endParaRPr lang="en-US" sz="1400" dirty="0"/>
          </a:p>
        </p:txBody>
      </p:sp>
      <p:sp>
        <p:nvSpPr>
          <p:cNvPr id="12" name="Shape 10"/>
          <p:cNvSpPr/>
          <p:nvPr/>
        </p:nvSpPr>
        <p:spPr>
          <a:xfrm>
            <a:off x="566928" y="4617720"/>
            <a:ext cx="11064240" cy="1737360"/>
          </a:xfrm>
          <a:prstGeom prst="roundRect">
            <a:avLst>
              <a:gd name="adj" fmla="val 7368"/>
            </a:avLst>
          </a:prstGeom>
          <a:solidFill>
            <a:srgbClr val="141B3E"/>
          </a:solidFill>
          <a:ln w="31750">
            <a:solidFill>
              <a:srgbClr val="3DD68C"/>
            </a:solidFill>
            <a:prstDash val="solid"/>
          </a:ln>
        </p:spPr>
      </p:sp>
      <p:sp>
        <p:nvSpPr>
          <p:cNvPr id="13" name="Text 11"/>
          <p:cNvSpPr/>
          <p:nvPr/>
        </p:nvSpPr>
        <p:spPr>
          <a:xfrm>
            <a:off x="914400" y="4800600"/>
            <a:ext cx="10332720" cy="411480"/>
          </a:xfrm>
          <a:prstGeom prst="rect">
            <a:avLst/>
          </a:prstGeom>
          <a:noFill/>
          <a:ln/>
        </p:spPr>
        <p:txBody>
          <a:bodyPr wrap="square" lIns="0" tIns="0" rIns="0" bIns="0" rtlCol="0" anchor="ctr"/>
          <a:lstStyle/>
          <a:p>
            <a:pPr indent="0" marL="0">
              <a:buNone/>
            </a:pPr>
            <a:r>
              <a:rPr lang="en-US" sz="2000" b="1" dirty="0">
                <a:solidFill>
                  <a:srgbClr val="3DD68C"/>
                </a:solidFill>
                <a:latin typeface="Arial" pitchFamily="34" charset="0"/>
                <a:ea typeface="Arial" pitchFamily="34" charset="-122"/>
                <a:cs typeface="Arial" pitchFamily="34" charset="-120"/>
              </a:rPr>
              <a:t>The two mistakes are not equally bad.</a:t>
            </a:r>
            <a:endParaRPr lang="en-US" sz="2000" dirty="0"/>
          </a:p>
        </p:txBody>
      </p:sp>
      <p:sp>
        <p:nvSpPr>
          <p:cNvPr id="14" name="Text 12"/>
          <p:cNvSpPr/>
          <p:nvPr/>
        </p:nvSpPr>
        <p:spPr>
          <a:xfrm>
            <a:off x="914400" y="5257800"/>
            <a:ext cx="10332720" cy="91440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Missing a few of your own photos is an annoyance you fix by submitting a better selfie. Showing you a stranger’s photos is a privacy incident. When you tune this number, tune it toward the recoverable failure.</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7AA8"/>
                </a:solidFill>
                <a:latin typeface="Arial" pitchFamily="34" charset="0"/>
                <a:ea typeface="Arial" pitchFamily="34" charset="-122"/>
                <a:cs typeface="Arial" pitchFamily="34" charset="-120"/>
              </a:rPr>
              <a:t>STEP 6 — GROUP</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How a pile of vectors becomes a list of people</a:t>
            </a:r>
            <a:endParaRPr lang="en-US" sz="2800" dirty="0"/>
          </a:p>
        </p:txBody>
      </p:sp>
      <p:pic>
        <p:nvPicPr>
          <p:cNvPr id="4" name="Image 0" descr="clustering.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WHAT GOES WRONG, AND THE FIX</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Two safeguards that stop order from deciding identity</a:t>
            </a:r>
            <a:endParaRPr lang="en-US" sz="3400" dirty="0"/>
          </a:p>
        </p:txBody>
      </p:sp>
      <p:sp>
        <p:nvSpPr>
          <p:cNvPr id="4" name="Shape 2"/>
          <p:cNvSpPr/>
          <p:nvPr/>
        </p:nvSpPr>
        <p:spPr>
          <a:xfrm>
            <a:off x="566928" y="1508760"/>
            <a:ext cx="11064240" cy="1325880"/>
          </a:xfrm>
          <a:prstGeom prst="roundRect">
            <a:avLst>
              <a:gd name="adj" fmla="val 8276"/>
            </a:avLst>
          </a:prstGeom>
          <a:solidFill>
            <a:srgbClr val="1A2350"/>
          </a:solidFill>
          <a:ln w="25400">
            <a:solidFill>
              <a:srgbClr val="FF7AA8"/>
            </a:solidFill>
            <a:prstDash val="solid"/>
          </a:ln>
        </p:spPr>
      </p:sp>
      <p:sp>
        <p:nvSpPr>
          <p:cNvPr id="5" name="Text 3"/>
          <p:cNvSpPr/>
          <p:nvPr/>
        </p:nvSpPr>
        <p:spPr>
          <a:xfrm>
            <a:off x="914400" y="1673352"/>
            <a:ext cx="10332720" cy="365760"/>
          </a:xfrm>
          <a:prstGeom prst="rect">
            <a:avLst/>
          </a:prstGeom>
          <a:noFill/>
          <a:ln/>
        </p:spPr>
        <p:txBody>
          <a:bodyPr wrap="square" lIns="0" tIns="0" rIns="0" bIns="0" rtlCol="0" anchor="ctr"/>
          <a:lstStyle/>
          <a:p>
            <a:pPr indent="0" marL="0">
              <a:buNone/>
            </a:pPr>
            <a:r>
              <a:rPr lang="en-US" sz="1900" b="1" dirty="0">
                <a:solidFill>
                  <a:srgbClr val="FF7AA8"/>
                </a:solidFill>
                <a:latin typeface="Arial" pitchFamily="34" charset="0"/>
                <a:ea typeface="Arial" pitchFamily="34" charset="-122"/>
                <a:cs typeface="Arial" pitchFamily="34" charset="-120"/>
              </a:rPr>
              <a:t>The problem</a:t>
            </a:r>
            <a:endParaRPr lang="en-US" sz="1900" dirty="0"/>
          </a:p>
        </p:txBody>
      </p:sp>
      <p:sp>
        <p:nvSpPr>
          <p:cNvPr id="6" name="Text 4"/>
          <p:cNvSpPr/>
          <p:nvPr/>
        </p:nvSpPr>
        <p:spPr>
          <a:xfrm>
            <a:off x="914400" y="207568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Faces are processed as they arrive. The very first face has nobody to compare against — not because it is alone, but because its neighbours have not been embedded yet.</a:t>
            </a:r>
            <a:endParaRPr lang="en-US" sz="1400" dirty="0"/>
          </a:p>
        </p:txBody>
      </p:sp>
      <p:sp>
        <p:nvSpPr>
          <p:cNvPr id="7" name="Shape 5"/>
          <p:cNvSpPr/>
          <p:nvPr/>
        </p:nvSpPr>
        <p:spPr>
          <a:xfrm>
            <a:off x="566928" y="3017520"/>
            <a:ext cx="11064240" cy="1325880"/>
          </a:xfrm>
          <a:prstGeom prst="roundRect">
            <a:avLst>
              <a:gd name="adj" fmla="val 8276"/>
            </a:avLst>
          </a:prstGeom>
          <a:solidFill>
            <a:srgbClr val="1A2350"/>
          </a:solidFill>
          <a:ln w="25400">
            <a:solidFill>
              <a:srgbClr val="FFB020"/>
            </a:solidFill>
            <a:prstDash val="solid"/>
          </a:ln>
        </p:spPr>
      </p:sp>
      <p:sp>
        <p:nvSpPr>
          <p:cNvPr id="8" name="Text 6"/>
          <p:cNvSpPr/>
          <p:nvPr/>
        </p:nvSpPr>
        <p:spPr>
          <a:xfrm>
            <a:off x="914400" y="3182112"/>
            <a:ext cx="1033272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Safeguard 1 — the two-pass trick</a:t>
            </a:r>
            <a:endParaRPr lang="en-US" sz="1900" dirty="0"/>
          </a:p>
        </p:txBody>
      </p:sp>
      <p:sp>
        <p:nvSpPr>
          <p:cNvPr id="9" name="Text 7"/>
          <p:cNvSpPr/>
          <p:nvPr/>
        </p:nvSpPr>
        <p:spPr>
          <a:xfrm>
            <a:off x="914400" y="358444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A face with too few neighbours is not judged immediately. It is deferred and run again after the confident faces have finished creating people. Order of arrival must not decide who you are.</a:t>
            </a:r>
            <a:endParaRPr lang="en-US" sz="1400" dirty="0"/>
          </a:p>
        </p:txBody>
      </p:sp>
      <p:sp>
        <p:nvSpPr>
          <p:cNvPr id="10" name="Shape 8"/>
          <p:cNvSpPr/>
          <p:nvPr/>
        </p:nvSpPr>
        <p:spPr>
          <a:xfrm>
            <a:off x="566928" y="4526280"/>
            <a:ext cx="11064240" cy="1325880"/>
          </a:xfrm>
          <a:prstGeom prst="roundRect">
            <a:avLst>
              <a:gd name="adj" fmla="val 8276"/>
            </a:avLst>
          </a:prstGeom>
          <a:solidFill>
            <a:srgbClr val="1A2350"/>
          </a:solidFill>
          <a:ln w="25400">
            <a:solidFill>
              <a:srgbClr val="3DD68C"/>
            </a:solidFill>
            <a:prstDash val="solid"/>
          </a:ln>
        </p:spPr>
      </p:sp>
      <p:sp>
        <p:nvSpPr>
          <p:cNvPr id="11" name="Text 9"/>
          <p:cNvSpPr/>
          <p:nvPr/>
        </p:nvSpPr>
        <p:spPr>
          <a:xfrm>
            <a:off x="914400" y="4690872"/>
            <a:ext cx="10332720" cy="36576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Safeguard 2 — minFaces</a:t>
            </a:r>
            <a:endParaRPr lang="en-US" sz="1900" dirty="0"/>
          </a:p>
        </p:txBody>
      </p:sp>
      <p:sp>
        <p:nvSpPr>
          <p:cNvPr id="12" name="Text 10"/>
          <p:cNvSpPr/>
          <p:nvPr/>
        </p:nvSpPr>
        <p:spPr>
          <a:xfrm>
            <a:off x="914400" y="5093208"/>
            <a:ext cx="10332720" cy="640080"/>
          </a:xfrm>
          <a:prstGeom prst="rect">
            <a:avLst/>
          </a:prstGeom>
          <a:noFill/>
          <a:ln/>
        </p:spPr>
        <p:txBody>
          <a:bodyPr wrap="square" lIns="0" tIns="0" rIns="0" bIns="0" rtlCol="0" anchor="t"/>
          <a:lstStyle/>
          <a:p>
            <a:pPr indent="0" marL="0">
              <a:buNone/>
            </a:pPr>
            <a:r>
              <a:rPr lang="en-US" sz="1400" dirty="0">
                <a:solidFill>
                  <a:srgbClr val="8A93B8"/>
                </a:solidFill>
                <a:latin typeface="Arial" pitchFamily="34" charset="0"/>
                <a:ea typeface="Arial" pitchFamily="34" charset="-122"/>
                <a:cs typeface="Arial" pitchFamily="34" charset="-120"/>
              </a:rPr>
              <a:t>How many faces must agree before a cluster may exist at all. Default 1, because at a small event a real guest may genuinely appear in exactly one photo. Raise it per event when single-photo people get noisy.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4C6FFF"/>
                </a:solidFill>
                <a:latin typeface="Arial" pitchFamily="34" charset="0"/>
                <a:ea typeface="Arial" pitchFamily="34" charset="-122"/>
                <a:cs typeface="Arial" pitchFamily="34" charset="-120"/>
              </a:rPr>
              <a:t>A DISTINCTION WORTH DRAWING</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Clustering and selfie-matching are not the same job</a:t>
            </a:r>
            <a:endParaRPr lang="en-US" sz="3400" dirty="0"/>
          </a:p>
        </p:txBody>
      </p:sp>
      <p:sp>
        <p:nvSpPr>
          <p:cNvPr id="4" name="Shape 2"/>
          <p:cNvSpPr/>
          <p:nvPr/>
        </p:nvSpPr>
        <p:spPr>
          <a:xfrm>
            <a:off x="566928" y="1554480"/>
            <a:ext cx="5394960" cy="3657600"/>
          </a:xfrm>
          <a:prstGeom prst="roundRect">
            <a:avLst>
              <a:gd name="adj" fmla="val 3500"/>
            </a:avLst>
          </a:prstGeom>
          <a:solidFill>
            <a:srgbClr val="1A2350"/>
          </a:solidFill>
          <a:ln w="25400">
            <a:solidFill>
              <a:srgbClr val="FF7AA8"/>
            </a:solidFill>
            <a:prstDash val="solid"/>
          </a:ln>
        </p:spPr>
      </p:sp>
      <p:sp>
        <p:nvSpPr>
          <p:cNvPr id="5" name="Text 3"/>
          <p:cNvSpPr/>
          <p:nvPr/>
        </p:nvSpPr>
        <p:spPr>
          <a:xfrm>
            <a:off x="886968" y="1755648"/>
            <a:ext cx="4754880" cy="365760"/>
          </a:xfrm>
          <a:prstGeom prst="rect">
            <a:avLst/>
          </a:prstGeom>
          <a:noFill/>
          <a:ln/>
        </p:spPr>
        <p:txBody>
          <a:bodyPr wrap="square" lIns="0" tIns="0" rIns="0" bIns="0" rtlCol="0" anchor="ctr"/>
          <a:lstStyle/>
          <a:p>
            <a:pPr indent="0" marL="0">
              <a:buNone/>
            </a:pPr>
            <a:r>
              <a:rPr lang="en-US" sz="1900" b="1" dirty="0">
                <a:solidFill>
                  <a:srgbClr val="FF7AA8"/>
                </a:solidFill>
                <a:latin typeface="Arial" pitchFamily="34" charset="0"/>
                <a:ea typeface="Arial" pitchFamily="34" charset="-122"/>
                <a:cs typeface="Arial" pitchFamily="34" charset="-120"/>
              </a:rPr>
              <a:t>Clustering</a:t>
            </a:r>
            <a:endParaRPr lang="en-US" sz="1900" dirty="0"/>
          </a:p>
        </p:txBody>
      </p:sp>
      <p:sp>
        <p:nvSpPr>
          <p:cNvPr id="6" name="Text 4"/>
          <p:cNvSpPr/>
          <p:nvPr/>
        </p:nvSpPr>
        <p:spPr>
          <a:xfrm>
            <a:off x="886968" y="2148840"/>
            <a:ext cx="4754880" cy="36576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“Who is in this event at all?”</a:t>
            </a:r>
            <a:endParaRPr lang="en-US" sz="1500" dirty="0"/>
          </a:p>
        </p:txBody>
      </p:sp>
      <p:sp>
        <p:nvSpPr>
          <p:cNvPr id="7" name="Text 5"/>
          <p:cNvSpPr/>
          <p:nvPr/>
        </p:nvSpPr>
        <p:spPr>
          <a:xfrm>
            <a:off x="932688" y="265176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Runs on faces already in the database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Compares faces to each other</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Produces anonymous “people” the organiser can name</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Happens automatically, in the background</a:t>
            </a:r>
            <a:endParaRPr lang="en-US" sz="1400" dirty="0"/>
          </a:p>
        </p:txBody>
      </p:sp>
      <p:sp>
        <p:nvSpPr>
          <p:cNvPr id="8" name="Shape 6"/>
          <p:cNvSpPr/>
          <p:nvPr/>
        </p:nvSpPr>
        <p:spPr>
          <a:xfrm>
            <a:off x="6236208" y="1554480"/>
            <a:ext cx="5394960" cy="3657600"/>
          </a:xfrm>
          <a:prstGeom prst="roundRect">
            <a:avLst>
              <a:gd name="adj" fmla="val 3500"/>
            </a:avLst>
          </a:prstGeom>
          <a:solidFill>
            <a:srgbClr val="1A2350"/>
          </a:solidFill>
          <a:ln w="25400">
            <a:solidFill>
              <a:srgbClr val="3DD68C"/>
            </a:solidFill>
            <a:prstDash val="solid"/>
          </a:ln>
        </p:spPr>
      </p:sp>
      <p:sp>
        <p:nvSpPr>
          <p:cNvPr id="9" name="Text 7"/>
          <p:cNvSpPr/>
          <p:nvPr/>
        </p:nvSpPr>
        <p:spPr>
          <a:xfrm>
            <a:off x="6556248" y="1755648"/>
            <a:ext cx="4754880" cy="36576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Selfie matching</a:t>
            </a:r>
            <a:endParaRPr lang="en-US" sz="1900" dirty="0"/>
          </a:p>
        </p:txBody>
      </p:sp>
      <p:sp>
        <p:nvSpPr>
          <p:cNvPr id="10" name="Text 8"/>
          <p:cNvSpPr/>
          <p:nvPr/>
        </p:nvSpPr>
        <p:spPr>
          <a:xfrm>
            <a:off x="6556248" y="2148840"/>
            <a:ext cx="4754880" cy="36576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“Which of these people is me?”</a:t>
            </a:r>
            <a:endParaRPr lang="en-US" sz="1500" dirty="0"/>
          </a:p>
        </p:txBody>
      </p:sp>
      <p:sp>
        <p:nvSpPr>
          <p:cNvPr id="11" name="Text 9"/>
          <p:cNvSpPr/>
          <p:nvPr/>
        </p:nvSpPr>
        <p:spPr>
          <a:xfrm>
            <a:off x="6601968" y="2651760"/>
            <a:ext cx="4663440" cy="2377440"/>
          </a:xfrm>
          <a:prstGeom prst="rect">
            <a:avLst/>
          </a:prstGeom>
          <a:noFill/>
          <a:ln/>
        </p:spPr>
        <p:txBody>
          <a:bodyPr wrap="square" lIns="0" tIns="0" rIns="0" bIns="0" rtlCol="0" anchor="ctr"/>
          <a:lstStyle/>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Runs on one selfie a guest just submitted</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Compares that one vector against the event</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Produces a tokenised gallery and an email</a:t>
            </a:r>
            <a:endParaRPr lang="en-US" sz="1400" dirty="0"/>
          </a:p>
          <a:p>
            <a:pPr marL="342900" indent="-342900">
              <a:lnSpc>
                <a:spcPts val="1900"/>
              </a:lnSpc>
              <a:spcAft>
                <a:spcPts val="1000"/>
              </a:spcAft>
              <a:buSzPct val="100000"/>
              <a:buChar char="•"/>
            </a:pPr>
            <a:r>
              <a:rPr lang="en-US" sz="1400" dirty="0">
                <a:solidFill>
                  <a:srgbClr val="8A93B8"/>
                </a:solidFill>
                <a:latin typeface="Arial" pitchFamily="34" charset="0"/>
                <a:ea typeface="Arial" pitchFamily="34" charset="-122"/>
                <a:cs typeface="Arial" pitchFamily="34" charset="-120"/>
              </a:rPr>
              <a:t>Happens on demand, while someone waits</a:t>
            </a:r>
            <a:endParaRPr lang="en-US" sz="1400" dirty="0"/>
          </a:p>
        </p:txBody>
      </p:sp>
      <p:sp>
        <p:nvSpPr>
          <p:cNvPr id="12" name="Shape 10"/>
          <p:cNvSpPr/>
          <p:nvPr/>
        </p:nvSpPr>
        <p:spPr>
          <a:xfrm>
            <a:off x="566928" y="5440680"/>
            <a:ext cx="11064240" cy="1051560"/>
          </a:xfrm>
          <a:prstGeom prst="roundRect">
            <a:avLst>
              <a:gd name="adj" fmla="val 12174"/>
            </a:avLst>
          </a:prstGeom>
          <a:solidFill>
            <a:srgbClr val="141B3E"/>
          </a:solidFill>
          <a:ln/>
        </p:spPr>
      </p:sp>
      <p:sp>
        <p:nvSpPr>
          <p:cNvPr id="13" name="Text 11"/>
          <p:cNvSpPr/>
          <p:nvPr/>
        </p:nvSpPr>
        <p:spPr>
          <a:xfrm>
            <a:off x="914400" y="5532120"/>
            <a:ext cx="10332720" cy="86868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Same model, same metric, same threshold — two completely different user-facing features. That reuse is the payoff for having turned faces into numbers in the first place.</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THE INVARIANT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Every one of these searches is fenced to one event</a:t>
            </a:r>
            <a:endParaRPr lang="en-US" sz="3400" dirty="0"/>
          </a:p>
        </p:txBody>
      </p:sp>
      <p:sp>
        <p:nvSpPr>
          <p:cNvPr id="4" name="Shape 2"/>
          <p:cNvSpPr/>
          <p:nvPr/>
        </p:nvSpPr>
        <p:spPr>
          <a:xfrm>
            <a:off x="566928" y="1463040"/>
            <a:ext cx="11064240" cy="1188720"/>
          </a:xfrm>
          <a:prstGeom prst="roundRect">
            <a:avLst>
              <a:gd name="adj" fmla="val 10769"/>
            </a:avLst>
          </a:prstGeom>
          <a:solidFill>
            <a:srgbClr val="141B3E"/>
          </a:solidFill>
          <a:ln w="31750">
            <a:solidFill>
              <a:srgbClr val="3DD68C"/>
            </a:solidFill>
            <a:prstDash val="solid"/>
          </a:ln>
        </p:spPr>
      </p:sp>
      <p:sp>
        <p:nvSpPr>
          <p:cNvPr id="5" name="Text 3"/>
          <p:cNvSpPr/>
          <p:nvPr/>
        </p:nvSpPr>
        <p:spPr>
          <a:xfrm>
            <a:off x="914400" y="1572768"/>
            <a:ext cx="10332720" cy="96012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The event id is part of the query, not a filter applied to the results. A face from last month’s wedding is not removed from the answer — it was never a candidate for it.</a:t>
            </a:r>
            <a:endParaRPr lang="en-US" sz="1700" dirty="0"/>
          </a:p>
        </p:txBody>
      </p:sp>
      <p:sp>
        <p:nvSpPr>
          <p:cNvPr id="6" name="Shape 4"/>
          <p:cNvSpPr/>
          <p:nvPr/>
        </p:nvSpPr>
        <p:spPr>
          <a:xfrm>
            <a:off x="566928" y="2880360"/>
            <a:ext cx="3520440" cy="2743200"/>
          </a:xfrm>
          <a:prstGeom prst="roundRect">
            <a:avLst>
              <a:gd name="adj" fmla="val 4667"/>
            </a:avLst>
          </a:prstGeom>
          <a:solidFill>
            <a:srgbClr val="1A2350"/>
          </a:solidFill>
          <a:ln w="25400">
            <a:solidFill>
              <a:srgbClr val="FF7AA8"/>
            </a:solidFill>
            <a:prstDash val="solid"/>
          </a:ln>
        </p:spPr>
      </p:sp>
      <p:sp>
        <p:nvSpPr>
          <p:cNvPr id="7" name="Shape 5"/>
          <p:cNvSpPr/>
          <p:nvPr/>
        </p:nvSpPr>
        <p:spPr>
          <a:xfrm>
            <a:off x="841248" y="3108960"/>
            <a:ext cx="365760" cy="365760"/>
          </a:xfrm>
          <a:prstGeom prst="ellipse">
            <a:avLst/>
          </a:prstGeom>
          <a:solidFill>
            <a:srgbClr val="FF7AA8"/>
          </a:solidFill>
          <a:ln/>
        </p:spPr>
      </p:sp>
      <p:sp>
        <p:nvSpPr>
          <p:cNvPr id="8" name="Text 6"/>
          <p:cNvSpPr/>
          <p:nvPr/>
        </p:nvSpPr>
        <p:spPr>
          <a:xfrm>
            <a:off x="84124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841248" y="3611880"/>
            <a:ext cx="2971800" cy="685800"/>
          </a:xfrm>
          <a:prstGeom prst="rect">
            <a:avLst/>
          </a:prstGeom>
          <a:noFill/>
          <a:ln/>
        </p:spPr>
        <p:txBody>
          <a:bodyPr wrap="square" lIns="0" tIns="0" rIns="0" bIns="0" rtlCol="0" anchor="ctr"/>
          <a:lstStyle/>
          <a:p>
            <a:pPr indent="0" marL="0">
              <a:buNone/>
            </a:pPr>
            <a:r>
              <a:rPr lang="en-US" sz="1600" b="1" dirty="0">
                <a:solidFill>
                  <a:srgbClr val="FF7AA8"/>
                </a:solidFill>
                <a:latin typeface="Arial" pitchFamily="34" charset="0"/>
                <a:ea typeface="Arial" pitchFamily="34" charset="-122"/>
                <a:cs typeface="Arial" pitchFamily="34" charset="-120"/>
              </a:rPr>
              <a:t>Why it matters here specifically</a:t>
            </a:r>
            <a:endParaRPr lang="en-US" sz="1600" dirty="0"/>
          </a:p>
        </p:txBody>
      </p:sp>
      <p:sp>
        <p:nvSpPr>
          <p:cNvPr id="10" name="Text 8"/>
          <p:cNvSpPr/>
          <p:nvPr/>
        </p:nvSpPr>
        <p:spPr>
          <a:xfrm>
            <a:off x="84124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The same person really does attend two different events. Without the fence, one selfie would reach across both — and hand someone photos from a party they never went to.</a:t>
            </a:r>
            <a:endParaRPr lang="en-US" sz="1300" dirty="0"/>
          </a:p>
        </p:txBody>
      </p:sp>
      <p:sp>
        <p:nvSpPr>
          <p:cNvPr id="11" name="Shape 9"/>
          <p:cNvSpPr/>
          <p:nvPr/>
        </p:nvSpPr>
        <p:spPr>
          <a:xfrm>
            <a:off x="4270248" y="2880360"/>
            <a:ext cx="3520440" cy="2743200"/>
          </a:xfrm>
          <a:prstGeom prst="roundRect">
            <a:avLst>
              <a:gd name="adj" fmla="val 4667"/>
            </a:avLst>
          </a:prstGeom>
          <a:solidFill>
            <a:srgbClr val="1A2350"/>
          </a:solidFill>
          <a:ln w="25400">
            <a:solidFill>
              <a:srgbClr val="FFB020"/>
            </a:solidFill>
            <a:prstDash val="solid"/>
          </a:ln>
        </p:spPr>
      </p:sp>
      <p:sp>
        <p:nvSpPr>
          <p:cNvPr id="12" name="Shape 10"/>
          <p:cNvSpPr/>
          <p:nvPr/>
        </p:nvSpPr>
        <p:spPr>
          <a:xfrm>
            <a:off x="4544568" y="3108960"/>
            <a:ext cx="365760" cy="365760"/>
          </a:xfrm>
          <a:prstGeom prst="ellipse">
            <a:avLst/>
          </a:prstGeom>
          <a:solidFill>
            <a:srgbClr val="FFB020"/>
          </a:solidFill>
          <a:ln/>
        </p:spPr>
      </p:sp>
      <p:sp>
        <p:nvSpPr>
          <p:cNvPr id="13" name="Text 11"/>
          <p:cNvSpPr/>
          <p:nvPr/>
        </p:nvSpPr>
        <p:spPr>
          <a:xfrm>
            <a:off x="454456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4544568" y="3611880"/>
            <a:ext cx="2971800" cy="685800"/>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Why a filter is not enough</a:t>
            </a:r>
            <a:endParaRPr lang="en-US" sz="1600" dirty="0"/>
          </a:p>
        </p:txBody>
      </p:sp>
      <p:sp>
        <p:nvSpPr>
          <p:cNvPr id="15" name="Text 13"/>
          <p:cNvSpPr/>
          <p:nvPr/>
        </p:nvSpPr>
        <p:spPr>
          <a:xfrm>
            <a:off x="454456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filter is a step someone can forget during a refactor. A scoped query cannot silently lose its scope without the query itself changing.</a:t>
            </a:r>
            <a:endParaRPr lang="en-US" sz="1300" dirty="0"/>
          </a:p>
        </p:txBody>
      </p:sp>
      <p:sp>
        <p:nvSpPr>
          <p:cNvPr id="16" name="Shape 14"/>
          <p:cNvSpPr/>
          <p:nvPr/>
        </p:nvSpPr>
        <p:spPr>
          <a:xfrm>
            <a:off x="7973568" y="2880360"/>
            <a:ext cx="3520440" cy="2743200"/>
          </a:xfrm>
          <a:prstGeom prst="roundRect">
            <a:avLst>
              <a:gd name="adj" fmla="val 4667"/>
            </a:avLst>
          </a:prstGeom>
          <a:solidFill>
            <a:srgbClr val="1A2350"/>
          </a:solidFill>
          <a:ln w="25400">
            <a:solidFill>
              <a:srgbClr val="3DD68C"/>
            </a:solidFill>
            <a:prstDash val="solid"/>
          </a:ln>
        </p:spPr>
      </p:sp>
      <p:sp>
        <p:nvSpPr>
          <p:cNvPr id="17" name="Shape 15"/>
          <p:cNvSpPr/>
          <p:nvPr/>
        </p:nvSpPr>
        <p:spPr>
          <a:xfrm>
            <a:off x="8247888" y="3108960"/>
            <a:ext cx="365760" cy="365760"/>
          </a:xfrm>
          <a:prstGeom prst="ellipse">
            <a:avLst/>
          </a:prstGeom>
          <a:solidFill>
            <a:srgbClr val="3DD68C"/>
          </a:solidFill>
          <a:ln/>
        </p:spPr>
      </p:sp>
      <p:sp>
        <p:nvSpPr>
          <p:cNvPr id="18" name="Text 16"/>
          <p:cNvSpPr/>
          <p:nvPr/>
        </p:nvSpPr>
        <p:spPr>
          <a:xfrm>
            <a:off x="8247888" y="3108960"/>
            <a:ext cx="365760" cy="365760"/>
          </a:xfrm>
          <a:prstGeom prst="rect">
            <a:avLst/>
          </a:prstGeom>
          <a:noFill/>
          <a:ln/>
        </p:spPr>
        <p:txBody>
          <a:bodyPr wrap="square" lIns="0" tIns="0" rIns="0" bIns="0" rtlCol="0" anchor="ctr"/>
          <a:lstStyle/>
          <a:p>
            <a:pPr algn="ctr" indent="0" marL="0">
              <a:buNone/>
            </a:pPr>
            <a:r>
              <a:rPr lang="en-US" sz="1400" b="1" dirty="0">
                <a:solidFill>
                  <a:srgbClr val="11162E"/>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8247888" y="3611880"/>
            <a:ext cx="2971800" cy="685800"/>
          </a:xfrm>
          <a:prstGeom prst="rect">
            <a:avLst/>
          </a:prstGeom>
          <a:noFill/>
          <a:ln/>
        </p:spPr>
        <p:txBody>
          <a:bodyPr wrap="square" lIns="0" tIns="0" rIns="0" bIns="0" rtlCol="0" anchor="ctr"/>
          <a:lstStyle/>
          <a:p>
            <a:pPr indent="0" marL="0">
              <a:buNone/>
            </a:pPr>
            <a:r>
              <a:rPr lang="en-US" sz="1600" b="1" dirty="0">
                <a:solidFill>
                  <a:srgbClr val="3DD68C"/>
                </a:solidFill>
                <a:latin typeface="Arial" pitchFamily="34" charset="0"/>
                <a:ea typeface="Arial" pitchFamily="34" charset="-122"/>
                <a:cs typeface="Arial" pitchFamily="34" charset="-120"/>
              </a:rPr>
              <a:t>How we keep it true</a:t>
            </a:r>
            <a:endParaRPr lang="en-US" sz="1600" dirty="0"/>
          </a:p>
        </p:txBody>
      </p:sp>
      <p:sp>
        <p:nvSpPr>
          <p:cNvPr id="20" name="Text 18"/>
          <p:cNvSpPr/>
          <p:nvPr/>
        </p:nvSpPr>
        <p:spPr>
          <a:xfrm>
            <a:off x="8247888" y="4343400"/>
            <a:ext cx="2971800" cy="11887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test/face-isolation.spec.ts seeds two events with the same person and asserts nothing crosses. If anyone breaks it, the build goes red before a person does.</a:t>
            </a:r>
            <a:endParaRPr lang="en-US" sz="1300" dirty="0"/>
          </a:p>
        </p:txBody>
      </p:sp>
      <p:sp>
        <p:nvSpPr>
          <p:cNvPr id="21" name="Text 19"/>
          <p:cNvSpPr/>
          <p:nvPr/>
        </p:nvSpPr>
        <p:spPr>
          <a:xfrm>
            <a:off x="566928" y="5897880"/>
            <a:ext cx="11064240" cy="411480"/>
          </a:xfrm>
          <a:prstGeom prst="rect">
            <a:avLst/>
          </a:prstGeom>
          <a:noFill/>
          <a:ln/>
        </p:spPr>
        <p:txBody>
          <a:bodyPr wrap="square" lIns="0" tIns="0" rIns="0" bIns="0" rtlCol="0" anchor="ctr"/>
          <a:lstStyle/>
          <a:p>
            <a:pPr indent="0" marL="0">
              <a:buNone/>
            </a:pPr>
            <a:r>
              <a:rPr lang="en-US" sz="1600" b="1" i="1" dirty="0">
                <a:solidFill>
                  <a:srgbClr val="3DD68C"/>
                </a:solidFill>
                <a:latin typeface="Arial" pitchFamily="34" charset="0"/>
                <a:ea typeface="Arial" pitchFamily="34" charset="-122"/>
                <a:cs typeface="Arial" pitchFamily="34" charset="-120"/>
              </a:rPr>
              <a:t>Privacy rules belong in tests, not comments.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BE HONEST ABOUT THIS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512 numbers stop being enough</a:t>
            </a:r>
            <a:endParaRPr lang="en-US" sz="3400" dirty="0"/>
          </a:p>
        </p:txBody>
      </p:sp>
      <p:sp>
        <p:nvSpPr>
          <p:cNvPr id="4" name="Shape 2"/>
          <p:cNvSpPr/>
          <p:nvPr/>
        </p:nvSpPr>
        <p:spPr>
          <a:xfrm>
            <a:off x="566928" y="1508760"/>
            <a:ext cx="3520440" cy="1874520"/>
          </a:xfrm>
          <a:prstGeom prst="roundRect">
            <a:avLst>
              <a:gd name="adj" fmla="val 5854"/>
            </a:avLst>
          </a:prstGeom>
          <a:solidFill>
            <a:srgbClr val="1A2350"/>
          </a:solidFill>
          <a:ln w="19050">
            <a:solidFill>
              <a:srgbClr val="FF7AA8"/>
            </a:solidFill>
            <a:prstDash val="solid"/>
          </a:ln>
        </p:spPr>
      </p:sp>
      <p:sp>
        <p:nvSpPr>
          <p:cNvPr id="5" name="Text 3"/>
          <p:cNvSpPr/>
          <p:nvPr/>
        </p:nvSpPr>
        <p:spPr>
          <a:xfrm>
            <a:off x="841248" y="1737360"/>
            <a:ext cx="2971800" cy="365760"/>
          </a:xfrm>
          <a:prstGeom prst="rect">
            <a:avLst/>
          </a:prstGeom>
          <a:noFill/>
          <a:ln/>
        </p:spPr>
        <p:txBody>
          <a:bodyPr wrap="square" lIns="0" tIns="0" rIns="0" bIns="0" rtlCol="0" anchor="ctr"/>
          <a:lstStyle/>
          <a:p>
            <a:pPr indent="0" marL="0">
              <a:buNone/>
            </a:pPr>
            <a:r>
              <a:rPr lang="en-US" sz="1700" b="1" dirty="0">
                <a:solidFill>
                  <a:srgbClr val="FF7AA8"/>
                </a:solidFill>
                <a:latin typeface="Arial" pitchFamily="34" charset="0"/>
                <a:ea typeface="Arial" pitchFamily="34" charset="-122"/>
                <a:cs typeface="Arial" pitchFamily="34" charset="-120"/>
              </a:rPr>
              <a:t>Identical twins</a:t>
            </a:r>
            <a:endParaRPr lang="en-US" sz="1700" dirty="0"/>
          </a:p>
        </p:txBody>
      </p:sp>
      <p:sp>
        <p:nvSpPr>
          <p:cNvPr id="6" name="Text 4"/>
          <p:cNvSpPr/>
          <p:nvPr/>
        </p:nvSpPr>
        <p:spPr>
          <a:xfrm>
            <a:off x="84124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Genuinely close in the space. No threshold separates them cleanly.</a:t>
            </a:r>
            <a:endParaRPr lang="en-US" sz="1300" dirty="0"/>
          </a:p>
        </p:txBody>
      </p:sp>
      <p:sp>
        <p:nvSpPr>
          <p:cNvPr id="7" name="Shape 5"/>
          <p:cNvSpPr/>
          <p:nvPr/>
        </p:nvSpPr>
        <p:spPr>
          <a:xfrm>
            <a:off x="4270248" y="1508760"/>
            <a:ext cx="3520440" cy="1874520"/>
          </a:xfrm>
          <a:prstGeom prst="roundRect">
            <a:avLst>
              <a:gd name="adj" fmla="val 5854"/>
            </a:avLst>
          </a:prstGeom>
          <a:solidFill>
            <a:srgbClr val="1A2350"/>
          </a:solidFill>
          <a:ln w="19050">
            <a:solidFill>
              <a:srgbClr val="FFB020"/>
            </a:solidFill>
            <a:prstDash val="solid"/>
          </a:ln>
        </p:spPr>
      </p:sp>
      <p:sp>
        <p:nvSpPr>
          <p:cNvPr id="8" name="Text 6"/>
          <p:cNvSpPr/>
          <p:nvPr/>
        </p:nvSpPr>
        <p:spPr>
          <a:xfrm>
            <a:off x="4544568" y="1737360"/>
            <a:ext cx="297180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Faces too small</a:t>
            </a:r>
            <a:endParaRPr lang="en-US" sz="1700" dirty="0"/>
          </a:p>
        </p:txBody>
      </p:sp>
      <p:sp>
        <p:nvSpPr>
          <p:cNvPr id="9" name="Text 7"/>
          <p:cNvSpPr/>
          <p:nvPr/>
        </p:nvSpPr>
        <p:spPr>
          <a:xfrm>
            <a:off x="454456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face 20 pixels across carries almost no signal. It fails minScore, or worse, scrapes past it.</a:t>
            </a:r>
            <a:endParaRPr lang="en-US" sz="1300" dirty="0"/>
          </a:p>
        </p:txBody>
      </p:sp>
      <p:sp>
        <p:nvSpPr>
          <p:cNvPr id="10" name="Shape 8"/>
          <p:cNvSpPr/>
          <p:nvPr/>
        </p:nvSpPr>
        <p:spPr>
          <a:xfrm>
            <a:off x="7973568" y="1508760"/>
            <a:ext cx="3520440" cy="1874520"/>
          </a:xfrm>
          <a:prstGeom prst="roundRect">
            <a:avLst>
              <a:gd name="adj" fmla="val 5854"/>
            </a:avLst>
          </a:prstGeom>
          <a:solidFill>
            <a:srgbClr val="1A2350"/>
          </a:solidFill>
          <a:ln w="19050">
            <a:solidFill>
              <a:srgbClr val="FFB020"/>
            </a:solidFill>
            <a:prstDash val="solid"/>
          </a:ln>
        </p:spPr>
      </p:sp>
      <p:sp>
        <p:nvSpPr>
          <p:cNvPr id="11" name="Text 9"/>
          <p:cNvSpPr/>
          <p:nvPr/>
        </p:nvSpPr>
        <p:spPr>
          <a:xfrm>
            <a:off x="8247888" y="1737360"/>
            <a:ext cx="2971800" cy="365760"/>
          </a:xfrm>
          <a:prstGeom prst="rect">
            <a:avLst/>
          </a:prstGeom>
          <a:noFill/>
          <a:ln/>
        </p:spPr>
        <p:txBody>
          <a:bodyPr wrap="square" lIns="0" tIns="0" rIns="0" bIns="0" rtlCol="0" anchor="ctr"/>
          <a:lstStyle/>
          <a:p>
            <a:pPr indent="0" marL="0">
              <a:buNone/>
            </a:pPr>
            <a:r>
              <a:rPr lang="en-US" sz="1700" b="1" dirty="0">
                <a:solidFill>
                  <a:srgbClr val="FFB020"/>
                </a:solidFill>
                <a:latin typeface="Arial" pitchFamily="34" charset="0"/>
                <a:ea typeface="Arial" pitchFamily="34" charset="-122"/>
                <a:cs typeface="Arial" pitchFamily="34" charset="-120"/>
              </a:rPr>
              <a:t>Hard profiles</a:t>
            </a:r>
            <a:endParaRPr lang="en-US" sz="1700" dirty="0"/>
          </a:p>
        </p:txBody>
      </p:sp>
      <p:sp>
        <p:nvSpPr>
          <p:cNvPr id="12" name="Text 10"/>
          <p:cNvSpPr/>
          <p:nvPr/>
        </p:nvSpPr>
        <p:spPr>
          <a:xfrm>
            <a:off x="8247888" y="216712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Alignment needs landmarks. A face turned fully sideways has too few to straighten.</a:t>
            </a:r>
            <a:endParaRPr lang="en-US" sz="1300" dirty="0"/>
          </a:p>
        </p:txBody>
      </p:sp>
      <p:sp>
        <p:nvSpPr>
          <p:cNvPr id="13" name="Shape 11"/>
          <p:cNvSpPr/>
          <p:nvPr/>
        </p:nvSpPr>
        <p:spPr>
          <a:xfrm>
            <a:off x="566928" y="3611880"/>
            <a:ext cx="3520440" cy="1874520"/>
          </a:xfrm>
          <a:prstGeom prst="roundRect">
            <a:avLst>
              <a:gd name="adj" fmla="val 5854"/>
            </a:avLst>
          </a:prstGeom>
          <a:solidFill>
            <a:srgbClr val="1A2350"/>
          </a:solidFill>
          <a:ln w="19050">
            <a:solidFill>
              <a:srgbClr val="4C6FFF"/>
            </a:solidFill>
            <a:prstDash val="solid"/>
          </a:ln>
        </p:spPr>
      </p:sp>
      <p:sp>
        <p:nvSpPr>
          <p:cNvPr id="14" name="Text 12"/>
          <p:cNvSpPr/>
          <p:nvPr/>
        </p:nvSpPr>
        <p:spPr>
          <a:xfrm>
            <a:off x="841248" y="3840480"/>
            <a:ext cx="297180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Heavy occlusion</a:t>
            </a:r>
            <a:endParaRPr lang="en-US" sz="1700" dirty="0"/>
          </a:p>
        </p:txBody>
      </p:sp>
      <p:sp>
        <p:nvSpPr>
          <p:cNvPr id="15" name="Text 13"/>
          <p:cNvSpPr/>
          <p:nvPr/>
        </p:nvSpPr>
        <p:spPr>
          <a:xfrm>
            <a:off x="84124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Masks, big sunglasses, a hand across the face — each removes a chunk of what the model measures.</a:t>
            </a:r>
            <a:endParaRPr lang="en-US" sz="1300" dirty="0"/>
          </a:p>
        </p:txBody>
      </p:sp>
      <p:sp>
        <p:nvSpPr>
          <p:cNvPr id="16" name="Shape 14"/>
          <p:cNvSpPr/>
          <p:nvPr/>
        </p:nvSpPr>
        <p:spPr>
          <a:xfrm>
            <a:off x="4270248" y="3611880"/>
            <a:ext cx="3520440" cy="1874520"/>
          </a:xfrm>
          <a:prstGeom prst="roundRect">
            <a:avLst>
              <a:gd name="adj" fmla="val 5854"/>
            </a:avLst>
          </a:prstGeom>
          <a:solidFill>
            <a:srgbClr val="1A2350"/>
          </a:solidFill>
          <a:ln w="19050">
            <a:solidFill>
              <a:srgbClr val="4C6FFF"/>
            </a:solidFill>
            <a:prstDash val="solid"/>
          </a:ln>
        </p:spPr>
      </p:sp>
      <p:sp>
        <p:nvSpPr>
          <p:cNvPr id="17" name="Text 15"/>
          <p:cNvSpPr/>
          <p:nvPr/>
        </p:nvSpPr>
        <p:spPr>
          <a:xfrm>
            <a:off x="4544568" y="3840480"/>
            <a:ext cx="2971800" cy="365760"/>
          </a:xfrm>
          <a:prstGeom prst="rect">
            <a:avLst/>
          </a:prstGeom>
          <a:noFill/>
          <a:ln/>
        </p:spPr>
        <p:txBody>
          <a:bodyPr wrap="square" lIns="0" tIns="0" rIns="0" bIns="0" rtlCol="0" anchor="ctr"/>
          <a:lstStyle/>
          <a:p>
            <a:pPr indent="0" marL="0">
              <a:buNone/>
            </a:pPr>
            <a:r>
              <a:rPr lang="en-US" sz="1700" b="1" dirty="0">
                <a:solidFill>
                  <a:srgbClr val="4C6FFF"/>
                </a:solidFill>
                <a:latin typeface="Arial" pitchFamily="34" charset="0"/>
                <a:ea typeface="Arial" pitchFamily="34" charset="-122"/>
                <a:cs typeface="Arial" pitchFamily="34" charset="-120"/>
              </a:rPr>
              <a:t>Extreme lighting</a:t>
            </a:r>
            <a:endParaRPr lang="en-US" sz="1700" dirty="0"/>
          </a:p>
        </p:txBody>
      </p:sp>
      <p:sp>
        <p:nvSpPr>
          <p:cNvPr id="18" name="Text 16"/>
          <p:cNvSpPr/>
          <p:nvPr/>
        </p:nvSpPr>
        <p:spPr>
          <a:xfrm>
            <a:off x="454456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Backlit or blown-out faces drift. Normalisation helps; it does not fix it.</a:t>
            </a:r>
            <a:endParaRPr lang="en-US" sz="1300" dirty="0"/>
          </a:p>
        </p:txBody>
      </p:sp>
      <p:sp>
        <p:nvSpPr>
          <p:cNvPr id="19" name="Shape 17"/>
          <p:cNvSpPr/>
          <p:nvPr/>
        </p:nvSpPr>
        <p:spPr>
          <a:xfrm>
            <a:off x="7973568" y="3611880"/>
            <a:ext cx="3520440" cy="1874520"/>
          </a:xfrm>
          <a:prstGeom prst="roundRect">
            <a:avLst>
              <a:gd name="adj" fmla="val 5854"/>
            </a:avLst>
          </a:prstGeom>
          <a:solidFill>
            <a:srgbClr val="1A2350"/>
          </a:solidFill>
          <a:ln w="19050">
            <a:solidFill>
              <a:srgbClr val="A9BEFF"/>
            </a:solidFill>
            <a:prstDash val="solid"/>
          </a:ln>
        </p:spPr>
      </p:sp>
      <p:sp>
        <p:nvSpPr>
          <p:cNvPr id="20" name="Text 18"/>
          <p:cNvSpPr/>
          <p:nvPr/>
        </p:nvSpPr>
        <p:spPr>
          <a:xfrm>
            <a:off x="8247888" y="3840480"/>
            <a:ext cx="2971800" cy="365760"/>
          </a:xfrm>
          <a:prstGeom prst="rect">
            <a:avLst/>
          </a:prstGeom>
          <a:noFill/>
          <a:ln/>
        </p:spPr>
        <p:txBody>
          <a:bodyPr wrap="square" lIns="0" tIns="0" rIns="0" bIns="0" rtlCol="0" anchor="ctr"/>
          <a:lstStyle/>
          <a:p>
            <a:pPr indent="0" marL="0">
              <a:buNone/>
            </a:pPr>
            <a:r>
              <a:rPr lang="en-US" sz="1700" b="1" dirty="0">
                <a:solidFill>
                  <a:srgbClr val="A9BEFF"/>
                </a:solidFill>
                <a:latin typeface="Arial" pitchFamily="34" charset="0"/>
                <a:ea typeface="Arial" pitchFamily="34" charset="-122"/>
                <a:cs typeface="Arial" pitchFamily="34" charset="-120"/>
              </a:rPr>
              <a:t>Years apart</a:t>
            </a:r>
            <a:endParaRPr lang="en-US" sz="1700" dirty="0"/>
          </a:p>
        </p:txBody>
      </p:sp>
      <p:sp>
        <p:nvSpPr>
          <p:cNvPr id="21" name="Text 19"/>
          <p:cNvSpPr/>
          <p:nvPr/>
        </p:nvSpPr>
        <p:spPr>
          <a:xfrm>
            <a:off x="8247888" y="4270248"/>
            <a:ext cx="2971800" cy="105156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 child at 6 and at 12 will not land close. The model measures a face, not a person.</a:t>
            </a:r>
            <a:endParaRPr lang="en-US" sz="1300" dirty="0"/>
          </a:p>
        </p:txBody>
      </p:sp>
      <p:sp>
        <p:nvSpPr>
          <p:cNvPr id="22" name="Text 20"/>
          <p:cNvSpPr/>
          <p:nvPr/>
        </p:nvSpPr>
        <p:spPr>
          <a:xfrm>
            <a:off x="566928" y="5852160"/>
            <a:ext cx="11064240" cy="457200"/>
          </a:xfrm>
          <a:prstGeom prst="rect">
            <a:avLst/>
          </a:prstGeom>
          <a:noFill/>
          <a:ln/>
        </p:spPr>
        <p:txBody>
          <a:bodyPr wrap="square" lIns="0" tIns="0" rIns="0" bIns="0" rtlCol="0" anchor="ctr"/>
          <a:lstStyle/>
          <a:p>
            <a:pPr indent="0" marL="0">
              <a:buNone/>
            </a:pPr>
            <a:r>
              <a:rPr lang="en-US" sz="1500" i="1" dirty="0">
                <a:solidFill>
                  <a:srgbClr val="A9BEFF"/>
                </a:solidFill>
                <a:latin typeface="Arial" pitchFamily="34" charset="0"/>
                <a:ea typeface="Arial" pitchFamily="34" charset="-122"/>
                <a:cs typeface="Arial" pitchFamily="34" charset="-120"/>
              </a:rPr>
              <a:t>Which is why an organiser can merge, split and rename people by hand — and why a participant can ask to be erased.</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E1330"/>
        </a:solidFill>
      </p:bgPr>
    </p:bg>
    <p:spTree>
      <p:nvGrpSpPr>
        <p:cNvPr id="1" name=""/>
        <p:cNvGrpSpPr/>
        <p:nvPr/>
      </p:nvGrpSpPr>
      <p:grpSpPr>
        <a:xfrm>
          <a:off x="0" y="0"/>
          <a:ext cx="0" cy="0"/>
          <a:chOff x="0" y="0"/>
          <a:chExt cx="0" cy="0"/>
        </a:xfrm>
      </p:grpSpPr>
      <p:sp>
        <p:nvSpPr>
          <p:cNvPr id="2" name="Shape 0"/>
          <p:cNvSpPr/>
          <p:nvPr/>
        </p:nvSpPr>
        <p:spPr>
          <a:xfrm>
            <a:off x="566928" y="1783080"/>
            <a:ext cx="2468880" cy="457200"/>
          </a:xfrm>
          <a:prstGeom prst="roundRect">
            <a:avLst>
              <a:gd name="adj" fmla="val 44000"/>
            </a:avLst>
          </a:prstGeom>
          <a:solidFill>
            <a:srgbClr val="3DD68C"/>
          </a:solidFill>
          <a:ln/>
        </p:spPr>
      </p:sp>
      <p:sp>
        <p:nvSpPr>
          <p:cNvPr id="3" name="Text 1"/>
          <p:cNvSpPr/>
          <p:nvPr/>
        </p:nvSpPr>
        <p:spPr>
          <a:xfrm>
            <a:off x="566928" y="1783080"/>
            <a:ext cx="2468880" cy="457200"/>
          </a:xfrm>
          <a:prstGeom prst="rect">
            <a:avLst/>
          </a:prstGeom>
          <a:noFill/>
          <a:ln/>
        </p:spPr>
        <p:txBody>
          <a:bodyPr wrap="square" lIns="0" tIns="0" rIns="0" bIns="0" rtlCol="0" anchor="ctr"/>
          <a:lstStyle/>
          <a:p>
            <a:pPr algn="ctr" indent="0" marL="0">
              <a:buNone/>
            </a:pPr>
            <a:r>
              <a:rPr lang="en-US" sz="1200" b="1" dirty="0">
                <a:solidFill>
                  <a:srgbClr val="11162E"/>
                </a:solidFill>
                <a:latin typeface="Arial" pitchFamily="34" charset="0"/>
                <a:ea typeface="Arial" pitchFamily="34" charset="-122"/>
                <a:cs typeface="Arial" pitchFamily="34" charset="-120"/>
              </a:rPr>
              <a:t>ACT TWO</a:t>
            </a:r>
            <a:endParaRPr lang="en-US" sz="1200" dirty="0"/>
          </a:p>
        </p:txBody>
      </p:sp>
      <p:sp>
        <p:nvSpPr>
          <p:cNvPr id="4" name="Text 2"/>
          <p:cNvSpPr/>
          <p:nvPr/>
        </p:nvSpPr>
        <p:spPr>
          <a:xfrm>
            <a:off x="566928" y="2377440"/>
            <a:ext cx="10515600" cy="109728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Running it</a:t>
            </a:r>
            <a:endParaRPr lang="en-US" sz="5800" dirty="0"/>
          </a:p>
        </p:txBody>
      </p:sp>
      <p:sp>
        <p:nvSpPr>
          <p:cNvPr id="5" name="Text 3"/>
          <p:cNvSpPr/>
          <p:nvPr/>
        </p:nvSpPr>
        <p:spPr>
          <a:xfrm>
            <a:off x="566928" y="3520440"/>
            <a:ext cx="9875520" cy="640080"/>
          </a:xfrm>
          <a:prstGeom prst="rect">
            <a:avLst/>
          </a:prstGeom>
          <a:noFill/>
          <a:ln/>
        </p:spPr>
        <p:txBody>
          <a:bodyPr wrap="square" lIns="0" tIns="0" rIns="0" bIns="0" rtlCol="0" anchor="ctr"/>
          <a:lstStyle/>
          <a:p>
            <a:pPr indent="0" marL="0">
              <a:buNone/>
            </a:pPr>
            <a:r>
              <a:rPr lang="en-US" sz="1900" dirty="0">
                <a:solidFill>
                  <a:srgbClr val="A9BEFF"/>
                </a:solidFill>
                <a:latin typeface="Arial" pitchFamily="34" charset="0"/>
                <a:ea typeface="Arial" pitchFamily="34" charset="-122"/>
                <a:cs typeface="Arial" pitchFamily="34" charset="-120"/>
              </a:rPr>
              <a:t>Three models, all wanting a GPU, all doing nothing between events. Everything here follows from that.</a:t>
            </a:r>
            <a:endParaRPr lang="en-US" sz="1900" dirty="0"/>
          </a:p>
        </p:txBody>
      </p:sp>
      <p:sp>
        <p:nvSpPr>
          <p:cNvPr id="6" name="Shape 4"/>
          <p:cNvSpPr/>
          <p:nvPr/>
        </p:nvSpPr>
        <p:spPr>
          <a:xfrm>
            <a:off x="566928" y="4709160"/>
            <a:ext cx="2606040" cy="822960"/>
          </a:xfrm>
          <a:prstGeom prst="roundRect">
            <a:avLst>
              <a:gd name="adj" fmla="val 13333"/>
            </a:avLst>
          </a:prstGeom>
          <a:solidFill>
            <a:srgbClr val="1A2350"/>
          </a:solidFill>
          <a:ln w="19050">
            <a:solidFill>
              <a:srgbClr val="3DD68C"/>
            </a:solidFill>
            <a:prstDash val="solid"/>
          </a:ln>
        </p:spPr>
      </p:sp>
      <p:sp>
        <p:nvSpPr>
          <p:cNvPr id="7" name="Text 5"/>
          <p:cNvSpPr/>
          <p:nvPr/>
        </p:nvSpPr>
        <p:spPr>
          <a:xfrm>
            <a:off x="704088" y="4709160"/>
            <a:ext cx="2331720" cy="822960"/>
          </a:xfrm>
          <a:prstGeom prst="rect">
            <a:avLst/>
          </a:prstGeom>
          <a:noFill/>
          <a:ln/>
        </p:spPr>
        <p:txBody>
          <a:bodyPr wrap="square" lIns="0" tIns="0" rIns="0" bIns="0" rtlCol="0" anchor="ctr"/>
          <a:lstStyle/>
          <a:p>
            <a:pPr algn="ctr" indent="0" marL="0">
              <a:buNone/>
            </a:pPr>
            <a:r>
              <a:rPr lang="en-US" sz="1400" b="1" dirty="0">
                <a:solidFill>
                  <a:srgbClr val="3DD68C"/>
                </a:solidFill>
                <a:latin typeface="Arial" pitchFamily="34" charset="0"/>
                <a:ea typeface="Arial" pitchFamily="34" charset="-122"/>
                <a:cs typeface="Arial" pitchFamily="34" charset="-120"/>
              </a:rPr>
              <a:t>No REST API exists</a:t>
            </a:r>
            <a:endParaRPr lang="en-US" sz="1400" dirty="0"/>
          </a:p>
        </p:txBody>
      </p:sp>
      <p:sp>
        <p:nvSpPr>
          <p:cNvPr id="8" name="Shape 6"/>
          <p:cNvSpPr/>
          <p:nvPr/>
        </p:nvSpPr>
        <p:spPr>
          <a:xfrm>
            <a:off x="3355848" y="4709160"/>
            <a:ext cx="2606040" cy="822960"/>
          </a:xfrm>
          <a:prstGeom prst="roundRect">
            <a:avLst>
              <a:gd name="adj" fmla="val 13333"/>
            </a:avLst>
          </a:prstGeom>
          <a:solidFill>
            <a:srgbClr val="1A2350"/>
          </a:solidFill>
          <a:ln w="19050">
            <a:solidFill>
              <a:srgbClr val="3DD68C"/>
            </a:solidFill>
            <a:prstDash val="solid"/>
          </a:ln>
        </p:spPr>
      </p:sp>
      <p:sp>
        <p:nvSpPr>
          <p:cNvPr id="9" name="Text 7"/>
          <p:cNvSpPr/>
          <p:nvPr/>
        </p:nvSpPr>
        <p:spPr>
          <a:xfrm>
            <a:off x="3493008" y="4709160"/>
            <a:ext cx="2331720" cy="822960"/>
          </a:xfrm>
          <a:prstGeom prst="rect">
            <a:avLst/>
          </a:prstGeom>
          <a:noFill/>
          <a:ln/>
        </p:spPr>
        <p:txBody>
          <a:bodyPr wrap="square" lIns="0" tIns="0" rIns="0" bIns="0" rtlCol="0" anchor="ctr"/>
          <a:lstStyle/>
          <a:p>
            <a:pPr algn="ctr" indent="0" marL="0">
              <a:buNone/>
            </a:pPr>
            <a:r>
              <a:rPr lang="en-US" sz="1400" b="1" dirty="0">
                <a:solidFill>
                  <a:srgbClr val="3DD68C"/>
                </a:solidFill>
                <a:latin typeface="Arial" pitchFamily="34" charset="0"/>
                <a:ea typeface="Arial" pitchFamily="34" charset="-122"/>
                <a:cs typeface="Arial" pitchFamily="34" charset="-120"/>
              </a:rPr>
              <a:t>When to wake it</a:t>
            </a:r>
            <a:endParaRPr lang="en-US" sz="1400" dirty="0"/>
          </a:p>
        </p:txBody>
      </p:sp>
      <p:sp>
        <p:nvSpPr>
          <p:cNvPr id="10" name="Shape 8"/>
          <p:cNvSpPr/>
          <p:nvPr/>
        </p:nvSpPr>
        <p:spPr>
          <a:xfrm>
            <a:off x="6144768" y="4709160"/>
            <a:ext cx="2606040" cy="822960"/>
          </a:xfrm>
          <a:prstGeom prst="roundRect">
            <a:avLst>
              <a:gd name="adj" fmla="val 13333"/>
            </a:avLst>
          </a:prstGeom>
          <a:solidFill>
            <a:srgbClr val="1A2350"/>
          </a:solidFill>
          <a:ln w="19050">
            <a:solidFill>
              <a:srgbClr val="3DD68C"/>
            </a:solidFill>
            <a:prstDash val="solid"/>
          </a:ln>
        </p:spPr>
      </p:sp>
      <p:sp>
        <p:nvSpPr>
          <p:cNvPr id="11" name="Text 9"/>
          <p:cNvSpPr/>
          <p:nvPr/>
        </p:nvSpPr>
        <p:spPr>
          <a:xfrm>
            <a:off x="6281928" y="4709160"/>
            <a:ext cx="2331720" cy="822960"/>
          </a:xfrm>
          <a:prstGeom prst="rect">
            <a:avLst/>
          </a:prstGeom>
          <a:noFill/>
          <a:ln/>
        </p:spPr>
        <p:txBody>
          <a:bodyPr wrap="square" lIns="0" tIns="0" rIns="0" bIns="0" rtlCol="0" anchor="ctr"/>
          <a:lstStyle/>
          <a:p>
            <a:pPr algn="ctr" indent="0" marL="0">
              <a:buNone/>
            </a:pPr>
            <a:r>
              <a:rPr lang="en-US" sz="1400" b="1" dirty="0">
                <a:solidFill>
                  <a:srgbClr val="3DD68C"/>
                </a:solidFill>
                <a:latin typeface="Arial" pitchFamily="34" charset="0"/>
                <a:ea typeface="Arial" pitchFamily="34" charset="-122"/>
                <a:cs typeface="Arial" pitchFamily="34" charset="-120"/>
              </a:rPr>
              <a:t>When to sleep it</a:t>
            </a:r>
            <a:endParaRPr lang="en-US" sz="1400" dirty="0"/>
          </a:p>
        </p:txBody>
      </p:sp>
      <p:sp>
        <p:nvSpPr>
          <p:cNvPr id="12" name="Shape 10"/>
          <p:cNvSpPr/>
          <p:nvPr/>
        </p:nvSpPr>
        <p:spPr>
          <a:xfrm>
            <a:off x="8933688" y="4709160"/>
            <a:ext cx="2606040" cy="822960"/>
          </a:xfrm>
          <a:prstGeom prst="roundRect">
            <a:avLst>
              <a:gd name="adj" fmla="val 13333"/>
            </a:avLst>
          </a:prstGeom>
          <a:solidFill>
            <a:srgbClr val="1A2350"/>
          </a:solidFill>
          <a:ln w="19050">
            <a:solidFill>
              <a:srgbClr val="3DD68C"/>
            </a:solidFill>
            <a:prstDash val="solid"/>
          </a:ln>
        </p:spPr>
      </p:sp>
      <p:sp>
        <p:nvSpPr>
          <p:cNvPr id="13" name="Text 11"/>
          <p:cNvSpPr/>
          <p:nvPr/>
        </p:nvSpPr>
        <p:spPr>
          <a:xfrm>
            <a:off x="9070848" y="4709160"/>
            <a:ext cx="2331720" cy="822960"/>
          </a:xfrm>
          <a:prstGeom prst="rect">
            <a:avLst/>
          </a:prstGeom>
          <a:noFill/>
          <a:ln/>
        </p:spPr>
        <p:txBody>
          <a:bodyPr wrap="square" lIns="0" tIns="0" rIns="0" bIns="0" rtlCol="0" anchor="ctr"/>
          <a:lstStyle/>
          <a:p>
            <a:pPr algn="ctr" indent="0" marL="0">
              <a:buNone/>
            </a:pPr>
            <a:r>
              <a:rPr lang="en-US" sz="1400" b="1" dirty="0">
                <a:solidFill>
                  <a:srgbClr val="3DD68C"/>
                </a:solidFill>
                <a:latin typeface="Arial" pitchFamily="34" charset="0"/>
                <a:ea typeface="Arial" pitchFamily="34" charset="-122"/>
                <a:cs typeface="Arial" pitchFamily="34" charset="-120"/>
              </a:rPr>
              <a:t>When the stop fails</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ARCHITECTURE</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Two machines, and only one of them is expensive</a:t>
            </a:r>
            <a:endParaRPr lang="en-US" sz="2800" dirty="0"/>
          </a:p>
        </p:txBody>
      </p:sp>
      <p:pic>
        <p:nvPicPr>
          <p:cNvPr id="4" name="Image 0" descr="architectur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DEPLOYMENT</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Same image. Different environment variable.</a:t>
            </a:r>
            <a:endParaRPr lang="en-US" sz="3400" dirty="0"/>
          </a:p>
        </p:txBody>
      </p:sp>
      <p:sp>
        <p:nvSpPr>
          <p:cNvPr id="4" name="Shape 2"/>
          <p:cNvSpPr/>
          <p:nvPr/>
        </p:nvSpPr>
        <p:spPr>
          <a:xfrm>
            <a:off x="566928" y="1554480"/>
            <a:ext cx="5394960" cy="3291840"/>
          </a:xfrm>
          <a:prstGeom prst="roundRect">
            <a:avLst>
              <a:gd name="adj" fmla="val 3889"/>
            </a:avLst>
          </a:prstGeom>
          <a:solidFill>
            <a:srgbClr val="1A2350"/>
          </a:solidFill>
          <a:ln w="25400">
            <a:solidFill>
              <a:srgbClr val="4C6FFF"/>
            </a:solidFill>
            <a:prstDash val="solid"/>
          </a:ln>
        </p:spPr>
      </p:sp>
      <p:sp>
        <p:nvSpPr>
          <p:cNvPr id="5" name="Text 3"/>
          <p:cNvSpPr/>
          <p:nvPr/>
        </p:nvSpPr>
        <p:spPr>
          <a:xfrm>
            <a:off x="886968" y="1737360"/>
            <a:ext cx="4754880" cy="365760"/>
          </a:xfrm>
          <a:prstGeom prst="rect">
            <a:avLst/>
          </a:prstGeom>
          <a:noFill/>
          <a:ln/>
        </p:spPr>
        <p:txBody>
          <a:bodyPr wrap="square" lIns="0" tIns="0" rIns="0" bIns="0" rtlCol="0" anchor="ctr"/>
          <a:lstStyle/>
          <a:p>
            <a:pPr indent="0" marL="0">
              <a:buNone/>
            </a:pPr>
            <a:r>
              <a:rPr lang="en-US" sz="1900" b="1" dirty="0">
                <a:solidFill>
                  <a:srgbClr val="4C6FFF"/>
                </a:solidFill>
                <a:latin typeface="Arial" pitchFamily="34" charset="0"/>
                <a:ea typeface="Arial" pitchFamily="34" charset="-122"/>
                <a:cs typeface="Arial" pitchFamily="34" charset="-120"/>
              </a:rPr>
              <a:t>API host — Render</a:t>
            </a:r>
            <a:endParaRPr lang="en-US" sz="1900" dirty="0"/>
          </a:p>
        </p:txBody>
      </p:sp>
      <p:sp>
        <p:nvSpPr>
          <p:cNvPr id="6" name="Text 4"/>
          <p:cNvSpPr/>
          <p:nvPr/>
        </p:nvSpPr>
        <p:spPr>
          <a:xfrm>
            <a:off x="886968" y="2121408"/>
            <a:ext cx="4754880" cy="320040"/>
          </a:xfrm>
          <a:prstGeom prst="rect">
            <a:avLst/>
          </a:prstGeom>
          <a:noFill/>
          <a:ln/>
        </p:spPr>
        <p:txBody>
          <a:bodyPr wrap="square" lIns="0" tIns="0" rIns="0" bIns="0" rtlCol="0" anchor="ctr"/>
          <a:lstStyle/>
          <a:p>
            <a:pPr indent="0" marL="0">
              <a:buNone/>
            </a:pPr>
            <a:r>
              <a:rPr lang="en-US" sz="1300" dirty="0">
                <a:solidFill>
                  <a:srgbClr val="A9BEFF"/>
                </a:solidFill>
                <a:latin typeface="Courier New" pitchFamily="34" charset="0"/>
                <a:ea typeface="Courier New" pitchFamily="34" charset="-122"/>
                <a:cs typeface="Courier New" pitchFamily="34" charset="-120"/>
              </a:rPr>
              <a:t>EL_WORKERS_INCLUDE=api,ingest</a:t>
            </a:r>
            <a:endParaRPr lang="en-US" sz="1300" dirty="0"/>
          </a:p>
        </p:txBody>
      </p:sp>
      <p:sp>
        <p:nvSpPr>
          <p:cNvPr id="7" name="Text 5"/>
          <p:cNvSpPr/>
          <p:nvPr/>
        </p:nvSpPr>
        <p:spPr>
          <a:xfrm>
            <a:off x="932688" y="2606040"/>
            <a:ext cx="4663440" cy="20116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Serves every HTTP request</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Owns the cron schedules</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Runs face clustering (CPU is fine)</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Decides when the GPU should exist</a:t>
            </a:r>
            <a:endParaRPr lang="en-US" sz="1400" dirty="0"/>
          </a:p>
        </p:txBody>
      </p:sp>
      <p:sp>
        <p:nvSpPr>
          <p:cNvPr id="8" name="Shape 6"/>
          <p:cNvSpPr/>
          <p:nvPr/>
        </p:nvSpPr>
        <p:spPr>
          <a:xfrm>
            <a:off x="6236208" y="1554480"/>
            <a:ext cx="5394960" cy="3291840"/>
          </a:xfrm>
          <a:prstGeom prst="roundRect">
            <a:avLst>
              <a:gd name="adj" fmla="val 3889"/>
            </a:avLst>
          </a:prstGeom>
          <a:solidFill>
            <a:srgbClr val="1A2350"/>
          </a:solidFill>
          <a:ln w="25400">
            <a:solidFill>
              <a:srgbClr val="FFB020"/>
            </a:solidFill>
            <a:prstDash val="solid"/>
          </a:ln>
        </p:spPr>
      </p:sp>
      <p:sp>
        <p:nvSpPr>
          <p:cNvPr id="9" name="Text 7"/>
          <p:cNvSpPr/>
          <p:nvPr/>
        </p:nvSpPr>
        <p:spPr>
          <a:xfrm>
            <a:off x="6556248" y="1737360"/>
            <a:ext cx="4754880" cy="365760"/>
          </a:xfrm>
          <a:prstGeom prst="rect">
            <a:avLst/>
          </a:prstGeom>
          <a:noFill/>
          <a:ln/>
        </p:spPr>
        <p:txBody>
          <a:bodyPr wrap="square" lIns="0" tIns="0" rIns="0" bIns="0" rtlCol="0" anchor="ctr"/>
          <a:lstStyle/>
          <a:p>
            <a:pPr indent="0" marL="0">
              <a:buNone/>
            </a:pPr>
            <a:r>
              <a:rPr lang="en-US" sz="1900" b="1" dirty="0">
                <a:solidFill>
                  <a:srgbClr val="FFB020"/>
                </a:solidFill>
                <a:latin typeface="Arial" pitchFamily="34" charset="0"/>
                <a:ea typeface="Arial" pitchFamily="34" charset="-122"/>
                <a:cs typeface="Arial" pitchFamily="34" charset="-120"/>
              </a:rPr>
              <a:t>GPU host — JarvisLabs</a:t>
            </a:r>
            <a:endParaRPr lang="en-US" sz="1900" dirty="0"/>
          </a:p>
        </p:txBody>
      </p:sp>
      <p:sp>
        <p:nvSpPr>
          <p:cNvPr id="10" name="Text 8"/>
          <p:cNvSpPr/>
          <p:nvPr/>
        </p:nvSpPr>
        <p:spPr>
          <a:xfrm>
            <a:off x="6556248" y="2121408"/>
            <a:ext cx="4754880" cy="320040"/>
          </a:xfrm>
          <a:prstGeom prst="rect">
            <a:avLst/>
          </a:prstGeom>
          <a:noFill/>
          <a:ln/>
        </p:spPr>
        <p:txBody>
          <a:bodyPr wrap="square" lIns="0" tIns="0" rIns="0" bIns="0" rtlCol="0" anchor="ctr"/>
          <a:lstStyle/>
          <a:p>
            <a:pPr indent="0" marL="0">
              <a:buNone/>
            </a:pPr>
            <a:r>
              <a:rPr lang="en-US" sz="1300" dirty="0">
                <a:solidFill>
                  <a:srgbClr val="A9BEFF"/>
                </a:solidFill>
                <a:latin typeface="Courier New" pitchFamily="34" charset="0"/>
                <a:ea typeface="Courier New" pitchFamily="34" charset="-122"/>
                <a:cs typeface="Courier New" pitchFamily="34" charset="-120"/>
              </a:rPr>
              <a:t>EL_WORKERS_INCLUDE=media</a:t>
            </a:r>
            <a:endParaRPr lang="en-US" sz="1300" dirty="0"/>
          </a:p>
        </p:txBody>
      </p:sp>
      <p:sp>
        <p:nvSpPr>
          <p:cNvPr id="11" name="Text 9"/>
          <p:cNvSpPr/>
          <p:nvPr/>
        </p:nvSpPr>
        <p:spPr>
          <a:xfrm>
            <a:off x="6601968" y="2606040"/>
            <a:ext cx="4663440" cy="2011680"/>
          </a:xfrm>
          <a:prstGeom prst="rect">
            <a:avLst/>
          </a:prstGeom>
          <a:noFill/>
          <a:ln/>
        </p:spPr>
        <p:txBody>
          <a:bodyPr wrap="square" lIns="0" tIns="0" rIns="0" bIns="0" rtlCol="0" anchor="ctr"/>
          <a:lstStyle/>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All three models run here</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Thumbnails and video transcode</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Runs the ml sidecar next to it</a:t>
            </a:r>
            <a:endParaRPr lang="en-US" sz="1400" dirty="0"/>
          </a:p>
          <a:p>
            <a:pPr marL="342900" indent="-342900">
              <a:lnSpc>
                <a:spcPts val="1900"/>
              </a:lnSpc>
              <a:spcAft>
                <a:spcPts val="800"/>
              </a:spcAft>
              <a:buSzPct val="100000"/>
              <a:buChar char="•"/>
            </a:pPr>
            <a:r>
              <a:rPr lang="en-US" sz="1400" dirty="0">
                <a:solidFill>
                  <a:srgbClr val="8A93B8"/>
                </a:solidFill>
                <a:latin typeface="Arial" pitchFamily="34" charset="0"/>
                <a:ea typeface="Arial" pitchFamily="34" charset="-122"/>
                <a:cs typeface="Arial" pitchFamily="34" charset="-120"/>
              </a:rPr>
              <a:t>Exists only while there is work</a:t>
            </a:r>
            <a:endParaRPr lang="en-US" sz="1400" dirty="0"/>
          </a:p>
        </p:txBody>
      </p:sp>
      <p:sp>
        <p:nvSpPr>
          <p:cNvPr id="12" name="Shape 10"/>
          <p:cNvSpPr/>
          <p:nvPr/>
        </p:nvSpPr>
        <p:spPr>
          <a:xfrm>
            <a:off x="566928" y="5120640"/>
            <a:ext cx="11064240" cy="1097280"/>
          </a:xfrm>
          <a:prstGeom prst="roundRect">
            <a:avLst>
              <a:gd name="adj" fmla="val 11667"/>
            </a:avLst>
          </a:prstGeom>
          <a:solidFill>
            <a:srgbClr val="141B3E"/>
          </a:solidFill>
          <a:ln/>
        </p:spPr>
      </p:sp>
      <p:sp>
        <p:nvSpPr>
          <p:cNvPr id="13" name="Text 11"/>
          <p:cNvSpPr/>
          <p:nvPr/>
        </p:nvSpPr>
        <p:spPr>
          <a:xfrm>
            <a:off x="914400" y="5257800"/>
            <a:ext cx="10332720" cy="8229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Microservices do not require separate repositories. They require separate lifecycles — and here the queue, not the network call, is what separates them.</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PROCESS FLOW</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an uploaded photo to a stranger’s private gallery</a:t>
            </a:r>
            <a:endParaRPr lang="en-US" sz="2800" dirty="0"/>
          </a:p>
        </p:txBody>
      </p:sp>
      <p:pic>
        <p:nvPicPr>
          <p:cNvPr id="4" name="Image 0" descr="process-flow.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ZERO</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workload is bursty. The billing is not.</a:t>
            </a:r>
            <a:endParaRPr lang="en-US" sz="3400" dirty="0"/>
          </a:p>
        </p:txBody>
      </p:sp>
      <p:sp>
        <p:nvSpPr>
          <p:cNvPr id="4" name="Shape 2"/>
          <p:cNvSpPr/>
          <p:nvPr/>
        </p:nvSpPr>
        <p:spPr>
          <a:xfrm>
            <a:off x="566928" y="1554480"/>
            <a:ext cx="5394960" cy="2377440"/>
          </a:xfrm>
          <a:prstGeom prst="roundRect">
            <a:avLst>
              <a:gd name="adj" fmla="val 5385"/>
            </a:avLst>
          </a:prstGeom>
          <a:solidFill>
            <a:srgbClr val="1A2350"/>
          </a:solidFill>
          <a:ln w="25400">
            <a:solidFill>
              <a:srgbClr val="33407F"/>
            </a:solidFill>
            <a:prstDash val="solid"/>
          </a:ln>
        </p:spPr>
      </p:sp>
      <p:sp>
        <p:nvSpPr>
          <p:cNvPr id="5" name="Text 3"/>
          <p:cNvSpPr/>
          <p:nvPr/>
        </p:nvSpPr>
        <p:spPr>
          <a:xfrm>
            <a:off x="868680" y="1737360"/>
            <a:ext cx="4846320" cy="320040"/>
          </a:xfrm>
          <a:prstGeom prst="rect">
            <a:avLst/>
          </a:prstGeom>
          <a:noFill/>
          <a:ln/>
        </p:spPr>
        <p:txBody>
          <a:bodyPr wrap="square" lIns="0" tIns="0" rIns="0" bIns="0" rtlCol="0" anchor="ctr"/>
          <a:lstStyle/>
          <a:p>
            <a:pPr indent="0" marL="0">
              <a:buNone/>
            </a:pPr>
            <a:r>
              <a:rPr lang="en-US" sz="1600" b="1" dirty="0">
                <a:solidFill>
                  <a:srgbClr val="8A93B8"/>
                </a:solidFill>
                <a:latin typeface="Arial" pitchFamily="34" charset="0"/>
                <a:ea typeface="Arial" pitchFamily="34" charset="-122"/>
                <a:cs typeface="Arial" pitchFamily="34" charset="-120"/>
              </a:rPr>
              <a:t>What a GPU costs you</a:t>
            </a:r>
            <a:endParaRPr lang="en-US" sz="1600" dirty="0"/>
          </a:p>
        </p:txBody>
      </p:sp>
      <p:sp>
        <p:nvSpPr>
          <p:cNvPr id="6" name="Text 4"/>
          <p:cNvSpPr/>
          <p:nvPr/>
        </p:nvSpPr>
        <p:spPr>
          <a:xfrm>
            <a:off x="868680" y="2148840"/>
            <a:ext cx="484632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24 × 7</a:t>
            </a:r>
            <a:endParaRPr lang="en-US" sz="4800" dirty="0"/>
          </a:p>
        </p:txBody>
      </p:sp>
      <p:sp>
        <p:nvSpPr>
          <p:cNvPr id="7" name="Text 5"/>
          <p:cNvSpPr/>
          <p:nvPr/>
        </p:nvSpPr>
        <p:spPr>
          <a:xfrm>
            <a:off x="868680" y="3017520"/>
            <a:ext cx="4846320" cy="7315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Billed per second, whether or not a single photo was uploaded that day.</a:t>
            </a:r>
            <a:endParaRPr lang="en-US" sz="1400" dirty="0"/>
          </a:p>
        </p:txBody>
      </p:sp>
      <p:sp>
        <p:nvSpPr>
          <p:cNvPr id="8" name="Shape 6"/>
          <p:cNvSpPr/>
          <p:nvPr/>
        </p:nvSpPr>
        <p:spPr>
          <a:xfrm>
            <a:off x="6236208" y="1554480"/>
            <a:ext cx="5394960" cy="2377440"/>
          </a:xfrm>
          <a:prstGeom prst="roundRect">
            <a:avLst>
              <a:gd name="adj" fmla="val 5385"/>
            </a:avLst>
          </a:prstGeom>
          <a:solidFill>
            <a:srgbClr val="1A2350"/>
          </a:solidFill>
          <a:ln w="25400">
            <a:solidFill>
              <a:srgbClr val="FFB020"/>
            </a:solidFill>
            <a:prstDash val="solid"/>
          </a:ln>
        </p:spPr>
      </p:sp>
      <p:sp>
        <p:nvSpPr>
          <p:cNvPr id="9" name="Text 7"/>
          <p:cNvSpPr/>
          <p:nvPr/>
        </p:nvSpPr>
        <p:spPr>
          <a:xfrm>
            <a:off x="6537960" y="1737360"/>
            <a:ext cx="4846320" cy="320040"/>
          </a:xfrm>
          <a:prstGeom prst="rect">
            <a:avLst/>
          </a:prstGeom>
          <a:noFill/>
          <a:ln/>
        </p:spPr>
        <p:txBody>
          <a:bodyPr wrap="square" lIns="0" tIns="0" rIns="0" bIns="0" rtlCol="0" anchor="ctr"/>
          <a:lstStyle/>
          <a:p>
            <a:pPr indent="0" marL="0">
              <a:buNone/>
            </a:pPr>
            <a:r>
              <a:rPr lang="en-US" sz="1600" b="1" dirty="0">
                <a:solidFill>
                  <a:srgbClr val="FFB020"/>
                </a:solidFill>
                <a:latin typeface="Arial" pitchFamily="34" charset="0"/>
                <a:ea typeface="Arial" pitchFamily="34" charset="-122"/>
                <a:cs typeface="Arial" pitchFamily="34" charset="-120"/>
              </a:rPr>
              <a:t>What the work actually needs</a:t>
            </a:r>
            <a:endParaRPr lang="en-US" sz="1600" dirty="0"/>
          </a:p>
        </p:txBody>
      </p:sp>
      <p:sp>
        <p:nvSpPr>
          <p:cNvPr id="10" name="Text 8"/>
          <p:cNvSpPr/>
          <p:nvPr/>
        </p:nvSpPr>
        <p:spPr>
          <a:xfrm>
            <a:off x="6537960" y="2148840"/>
            <a:ext cx="4846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minutes a day</a:t>
            </a:r>
            <a:endParaRPr lang="en-US" sz="4000" dirty="0"/>
          </a:p>
        </p:txBody>
      </p:sp>
      <p:sp>
        <p:nvSpPr>
          <p:cNvPr id="11" name="Text 9"/>
          <p:cNvSpPr/>
          <p:nvPr/>
        </p:nvSpPr>
        <p:spPr>
          <a:xfrm>
            <a:off x="6537960" y="3017520"/>
            <a:ext cx="4846320" cy="7315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A fest dumps 4,000 photos in one evening, then nothing at all for two weeks.</a:t>
            </a:r>
            <a:endParaRPr lang="en-US" sz="1400" dirty="0"/>
          </a:p>
        </p:txBody>
      </p:sp>
      <p:sp>
        <p:nvSpPr>
          <p:cNvPr id="12" name="Shape 10"/>
          <p:cNvSpPr/>
          <p:nvPr/>
        </p:nvSpPr>
        <p:spPr>
          <a:xfrm>
            <a:off x="566928" y="4206240"/>
            <a:ext cx="11064240" cy="1554480"/>
          </a:xfrm>
          <a:prstGeom prst="roundRect">
            <a:avLst>
              <a:gd name="adj" fmla="val 8235"/>
            </a:avLst>
          </a:prstGeom>
          <a:solidFill>
            <a:srgbClr val="141B3E"/>
          </a:solidFill>
          <a:ln w="25400">
            <a:solidFill>
              <a:srgbClr val="3DD68C"/>
            </a:solidFill>
            <a:prstDash val="solid"/>
          </a:ln>
        </p:spPr>
      </p:sp>
      <p:sp>
        <p:nvSpPr>
          <p:cNvPr id="13" name="Text 11"/>
          <p:cNvSpPr/>
          <p:nvPr/>
        </p:nvSpPr>
        <p:spPr>
          <a:xfrm>
            <a:off x="914400" y="4389120"/>
            <a:ext cx="10332720" cy="411480"/>
          </a:xfrm>
          <a:prstGeom prst="rect">
            <a:avLst/>
          </a:prstGeom>
          <a:noFill/>
          <a:ln/>
        </p:spPr>
        <p:txBody>
          <a:bodyPr wrap="square" lIns="0" tIns="0" rIns="0" bIns="0" rtlCol="0" anchor="ctr"/>
          <a:lstStyle/>
          <a:p>
            <a:pPr indent="0" marL="0">
              <a:buNone/>
            </a:pPr>
            <a:r>
              <a:rPr lang="en-US" sz="2000" b="1" dirty="0">
                <a:solidFill>
                  <a:srgbClr val="3DD68C"/>
                </a:solidFill>
                <a:latin typeface="Arial" pitchFamily="34" charset="0"/>
                <a:ea typeface="Arial" pitchFamily="34" charset="-122"/>
                <a:cs typeface="Arial" pitchFamily="34" charset="-120"/>
              </a:rPr>
              <a:t>So: switch the machine on when there is work, and off when there is not.</a:t>
            </a:r>
            <a:endParaRPr lang="en-US" sz="2000" dirty="0"/>
          </a:p>
        </p:txBody>
      </p:sp>
      <p:sp>
        <p:nvSpPr>
          <p:cNvPr id="14" name="Text 12"/>
          <p:cNvSpPr/>
          <p:nvPr/>
        </p:nvSpPr>
        <p:spPr>
          <a:xfrm>
            <a:off x="914400" y="4846320"/>
            <a:ext cx="10332720" cy="73152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Easy to say. The next four slides are everything that goes wrong between saying it and it being safe to run unattended.</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1</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JarvisLabs ships no REST API</a:t>
            </a:r>
            <a:endParaRPr lang="en-US" sz="3400" dirty="0"/>
          </a:p>
        </p:txBody>
      </p:sp>
      <p:sp>
        <p:nvSpPr>
          <p:cNvPr id="4" name="Shape 2"/>
          <p:cNvSpPr/>
          <p:nvPr/>
        </p:nvSpPr>
        <p:spPr>
          <a:xfrm>
            <a:off x="566928" y="1508760"/>
            <a:ext cx="11064240" cy="1143000"/>
          </a:xfrm>
          <a:prstGeom prst="roundRect">
            <a:avLst>
              <a:gd name="adj" fmla="val 11200"/>
            </a:avLst>
          </a:prstGeom>
          <a:solidFill>
            <a:srgbClr val="141B3E"/>
          </a:solidFill>
          <a:ln w="25400">
            <a:solidFill>
              <a:srgbClr val="FFB020"/>
            </a:solidFill>
            <a:prstDash val="solid"/>
          </a:ln>
        </p:spPr>
      </p:sp>
      <p:sp>
        <p:nvSpPr>
          <p:cNvPr id="5" name="Text 3"/>
          <p:cNvSpPr/>
          <p:nvPr/>
        </p:nvSpPr>
        <p:spPr>
          <a:xfrm>
            <a:off x="914400" y="1600200"/>
            <a:ext cx="10332720" cy="960120"/>
          </a:xfrm>
          <a:prstGeom prst="rect">
            <a:avLst/>
          </a:prstGeom>
          <a:noFill/>
          <a:ln/>
        </p:spPr>
        <p:txBody>
          <a:bodyPr wrap="square" lIns="0" tIns="0" rIns="0" bIns="0" rtlCol="0" anchor="ctr"/>
          <a:lstStyle/>
          <a:p>
            <a:pPr indent="0" marL="0">
              <a:buNone/>
            </a:pPr>
            <a:r>
              <a:rPr lang="en-US" sz="1800" dirty="0">
                <a:solidFill>
                  <a:srgbClr val="FFFFFF"/>
                </a:solidFill>
                <a:latin typeface="Arial" pitchFamily="34" charset="0"/>
                <a:ea typeface="Arial" pitchFamily="34" charset="-122"/>
                <a:cs typeface="Arial" pitchFamily="34" charset="-120"/>
              </a:rPr>
              <a:t>There is a jl CLI and a Python SDK. That is it. So the Node backend controls a GPU by spawning a child process.</a:t>
            </a:r>
            <a:endParaRPr lang="en-US" sz="1800" dirty="0"/>
          </a:p>
        </p:txBody>
      </p:sp>
      <p:sp>
        <p:nvSpPr>
          <p:cNvPr id="6" name="Shape 4"/>
          <p:cNvSpPr/>
          <p:nvPr/>
        </p:nvSpPr>
        <p:spPr>
          <a:xfrm>
            <a:off x="566928" y="2834640"/>
            <a:ext cx="11064240" cy="932688"/>
          </a:xfrm>
          <a:prstGeom prst="roundRect">
            <a:avLst>
              <a:gd name="adj" fmla="val 9804"/>
            </a:avLst>
          </a:prstGeom>
          <a:solidFill>
            <a:srgbClr val="1A2350"/>
          </a:solidFill>
          <a:ln/>
        </p:spPr>
      </p:sp>
      <p:sp>
        <p:nvSpPr>
          <p:cNvPr id="7" name="Text 5"/>
          <p:cNvSpPr/>
          <p:nvPr/>
        </p:nvSpPr>
        <p:spPr>
          <a:xfrm>
            <a:off x="914400" y="294436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Auth through the environment</a:t>
            </a:r>
            <a:endParaRPr lang="en-US" sz="1600" dirty="0"/>
          </a:p>
        </p:txBody>
      </p:sp>
      <p:sp>
        <p:nvSpPr>
          <p:cNvPr id="8" name="Text 6"/>
          <p:cNvSpPr/>
          <p:nvPr/>
        </p:nvSpPr>
        <p:spPr>
          <a:xfrm>
            <a:off x="914400" y="327355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JL_API_KEY is read straight from env. No jl setup, no config file written — which is exactly why it works on a read-only container filesystem.</a:t>
            </a:r>
            <a:endParaRPr lang="en-US" sz="1300" dirty="0"/>
          </a:p>
        </p:txBody>
      </p:sp>
      <p:sp>
        <p:nvSpPr>
          <p:cNvPr id="9" name="Shape 7"/>
          <p:cNvSpPr/>
          <p:nvPr/>
        </p:nvSpPr>
        <p:spPr>
          <a:xfrm>
            <a:off x="566928" y="3886200"/>
            <a:ext cx="11064240" cy="932688"/>
          </a:xfrm>
          <a:prstGeom prst="roundRect">
            <a:avLst>
              <a:gd name="adj" fmla="val 9804"/>
            </a:avLst>
          </a:prstGeom>
          <a:solidFill>
            <a:srgbClr val="1A2350"/>
          </a:solidFill>
          <a:ln/>
        </p:spPr>
      </p:sp>
      <p:sp>
        <p:nvSpPr>
          <p:cNvPr id="10" name="Text 8"/>
          <p:cNvSpPr/>
          <p:nvPr/>
        </p:nvSpPr>
        <p:spPr>
          <a:xfrm>
            <a:off x="914400" y="399592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Machine-readable by force</a:t>
            </a:r>
            <a:endParaRPr lang="en-US" sz="1600" dirty="0"/>
          </a:p>
        </p:txBody>
      </p:sp>
      <p:sp>
        <p:nvSpPr>
          <p:cNvPr id="11" name="Text 9"/>
          <p:cNvSpPr/>
          <p:nvPr/>
        </p:nvSpPr>
        <p:spPr>
          <a:xfrm>
            <a:off x="914400" y="432511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--json on every call; --yes only on the verbs that prompt, because the read-only verbs reject it.</a:t>
            </a:r>
            <a:endParaRPr lang="en-US" sz="1300" dirty="0"/>
          </a:p>
        </p:txBody>
      </p:sp>
      <p:sp>
        <p:nvSpPr>
          <p:cNvPr id="12" name="Shape 10"/>
          <p:cNvSpPr/>
          <p:nvPr/>
        </p:nvSpPr>
        <p:spPr>
          <a:xfrm>
            <a:off x="566928" y="4937760"/>
            <a:ext cx="11064240" cy="932688"/>
          </a:xfrm>
          <a:prstGeom prst="roundRect">
            <a:avLst>
              <a:gd name="adj" fmla="val 9804"/>
            </a:avLst>
          </a:prstGeom>
          <a:solidFill>
            <a:srgbClr val="1A2350"/>
          </a:solidFill>
          <a:ln/>
        </p:spPr>
      </p:sp>
      <p:sp>
        <p:nvSpPr>
          <p:cNvPr id="13" name="Text 11"/>
          <p:cNvSpPr/>
          <p:nvPr/>
        </p:nvSpPr>
        <p:spPr>
          <a:xfrm>
            <a:off x="914400" y="5047488"/>
            <a:ext cx="10332720" cy="320040"/>
          </a:xfrm>
          <a:prstGeom prst="rect">
            <a:avLst/>
          </a:prstGeom>
          <a:noFill/>
          <a:ln/>
        </p:spPr>
        <p:txBody>
          <a:bodyPr wrap="square" lIns="0" tIns="0" rIns="0" bIns="0" rtlCol="0" anchor="ctr"/>
          <a:lstStyle/>
          <a:p>
            <a:pPr indent="0" marL="0">
              <a:buNone/>
            </a:pPr>
            <a:r>
              <a:rPr lang="en-US" sz="1600" b="1" dirty="0">
                <a:solidFill>
                  <a:srgbClr val="A9BEFF"/>
                </a:solidFill>
                <a:latin typeface="Arial" pitchFamily="34" charset="0"/>
                <a:ea typeface="Arial" pitchFamily="34" charset="-122"/>
                <a:cs typeface="Arial" pitchFamily="34" charset="-120"/>
              </a:rPr>
              <a:t>Installed into a venv</a:t>
            </a:r>
            <a:endParaRPr lang="en-US" sz="1600" dirty="0"/>
          </a:p>
        </p:txBody>
      </p:sp>
      <p:sp>
        <p:nvSpPr>
          <p:cNvPr id="14" name="Text 12"/>
          <p:cNvSpPr/>
          <p:nvPr/>
        </p:nvSpPr>
        <p:spPr>
          <a:xfrm>
            <a:off x="914400" y="5376672"/>
            <a:ext cx="10332720" cy="41148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Debian marks the system Python externally-managed (PEP 668), so a plain pip install is refused. The image puts it in /opt/jarvislabs and symlinks jl.</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 1, CONTINUED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ways driving a CLI bites you</a:t>
            </a:r>
            <a:endParaRPr lang="en-US" sz="3400" dirty="0"/>
          </a:p>
        </p:txBody>
      </p:sp>
      <p:sp>
        <p:nvSpPr>
          <p:cNvPr id="4" name="Shape 2"/>
          <p:cNvSpPr/>
          <p:nvPr/>
        </p:nvSpPr>
        <p:spPr>
          <a:xfrm>
            <a:off x="566928" y="1508760"/>
            <a:ext cx="11064240" cy="1298448"/>
          </a:xfrm>
          <a:prstGeom prst="roundRect">
            <a:avLst>
              <a:gd name="adj" fmla="val 8451"/>
            </a:avLst>
          </a:prstGeom>
          <a:solidFill>
            <a:srgbClr val="1A2350"/>
          </a:solidFill>
          <a:ln w="25400">
            <a:solidFill>
              <a:srgbClr val="FFB020"/>
            </a:solidFill>
            <a:prstDash val="solid"/>
          </a:ln>
        </p:spPr>
      </p:sp>
      <p:sp>
        <p:nvSpPr>
          <p:cNvPr id="5" name="Shape 3"/>
          <p:cNvSpPr/>
          <p:nvPr/>
        </p:nvSpPr>
        <p:spPr>
          <a:xfrm>
            <a:off x="841248" y="1947672"/>
            <a:ext cx="420624" cy="420624"/>
          </a:xfrm>
          <a:prstGeom prst="ellipse">
            <a:avLst/>
          </a:prstGeom>
          <a:solidFill>
            <a:srgbClr val="FFB020"/>
          </a:solidFill>
          <a:ln/>
        </p:spPr>
      </p:sp>
      <p:sp>
        <p:nvSpPr>
          <p:cNvPr id="6" name="Text 4"/>
          <p:cNvSpPr/>
          <p:nvPr/>
        </p:nvSpPr>
        <p:spPr>
          <a:xfrm>
            <a:off x="841248" y="194767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1508760" y="169164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Errors arrive on stdout, not the exit code</a:t>
            </a:r>
            <a:endParaRPr lang="en-US" sz="1700" dirty="0"/>
          </a:p>
        </p:txBody>
      </p:sp>
      <p:sp>
        <p:nvSpPr>
          <p:cNvPr id="8" name="Text 6"/>
          <p:cNvSpPr/>
          <p:nvPr/>
        </p:nvSpPr>
        <p:spPr>
          <a:xfrm>
            <a:off x="1508760" y="207568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jl reports failure as {"error": "..."} on stdout with a non-zero exit. Read the body — the exit code alone tells you nothing useful to show an operator.</a:t>
            </a:r>
            <a:endParaRPr lang="en-US" sz="1300" dirty="0"/>
          </a:p>
        </p:txBody>
      </p:sp>
      <p:sp>
        <p:nvSpPr>
          <p:cNvPr id="9" name="Shape 7"/>
          <p:cNvSpPr/>
          <p:nvPr/>
        </p:nvSpPr>
        <p:spPr>
          <a:xfrm>
            <a:off x="566928" y="2971800"/>
            <a:ext cx="11064240" cy="1298448"/>
          </a:xfrm>
          <a:prstGeom prst="roundRect">
            <a:avLst>
              <a:gd name="adj" fmla="val 8451"/>
            </a:avLst>
          </a:prstGeom>
          <a:solidFill>
            <a:srgbClr val="1A2350"/>
          </a:solidFill>
          <a:ln w="25400">
            <a:solidFill>
              <a:srgbClr val="4C6FFF"/>
            </a:solidFill>
            <a:prstDash val="solid"/>
          </a:ln>
        </p:spPr>
      </p:sp>
      <p:sp>
        <p:nvSpPr>
          <p:cNvPr id="10" name="Shape 8"/>
          <p:cNvSpPr/>
          <p:nvPr/>
        </p:nvSpPr>
        <p:spPr>
          <a:xfrm>
            <a:off x="841248" y="3410712"/>
            <a:ext cx="420624" cy="420624"/>
          </a:xfrm>
          <a:prstGeom prst="ellipse">
            <a:avLst/>
          </a:prstGeom>
          <a:solidFill>
            <a:srgbClr val="4C6FFF"/>
          </a:solidFill>
          <a:ln/>
        </p:spPr>
      </p:sp>
      <p:sp>
        <p:nvSpPr>
          <p:cNvPr id="11" name="Text 9"/>
          <p:cNvSpPr/>
          <p:nvPr/>
        </p:nvSpPr>
        <p:spPr>
          <a:xfrm>
            <a:off x="841248" y="341071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1508760" y="315468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Resume can hand back a different machine id</a:t>
            </a:r>
            <a:endParaRPr lang="en-US" sz="1700" dirty="0"/>
          </a:p>
        </p:txBody>
      </p:sp>
      <p:sp>
        <p:nvSpPr>
          <p:cNvPr id="13" name="Text 11"/>
          <p:cNvSpPr/>
          <p:nvPr/>
        </p:nvSpPr>
        <p:spPr>
          <a:xfrm>
            <a:off x="1508760" y="353872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Keep using the old id and you are targeting a machine that no longer exists. We log the reassignment and adopt the new id immediately.</a:t>
            </a:r>
            <a:endParaRPr lang="en-US" sz="1300" dirty="0"/>
          </a:p>
        </p:txBody>
      </p:sp>
      <p:sp>
        <p:nvSpPr>
          <p:cNvPr id="14" name="Shape 12"/>
          <p:cNvSpPr/>
          <p:nvPr/>
        </p:nvSpPr>
        <p:spPr>
          <a:xfrm>
            <a:off x="566928" y="4434840"/>
            <a:ext cx="11064240" cy="1298448"/>
          </a:xfrm>
          <a:prstGeom prst="roundRect">
            <a:avLst>
              <a:gd name="adj" fmla="val 8451"/>
            </a:avLst>
          </a:prstGeom>
          <a:solidFill>
            <a:srgbClr val="1A2350"/>
          </a:solidFill>
          <a:ln w="25400">
            <a:solidFill>
              <a:srgbClr val="3DD68C"/>
            </a:solidFill>
            <a:prstDash val="solid"/>
          </a:ln>
        </p:spPr>
      </p:sp>
      <p:sp>
        <p:nvSpPr>
          <p:cNvPr id="15" name="Shape 13"/>
          <p:cNvSpPr/>
          <p:nvPr/>
        </p:nvSpPr>
        <p:spPr>
          <a:xfrm>
            <a:off x="841248" y="4873752"/>
            <a:ext cx="420624" cy="420624"/>
          </a:xfrm>
          <a:prstGeom prst="ellipse">
            <a:avLst/>
          </a:prstGeom>
          <a:solidFill>
            <a:srgbClr val="3DD68C"/>
          </a:solidFill>
          <a:ln/>
        </p:spPr>
      </p:sp>
      <p:sp>
        <p:nvSpPr>
          <p:cNvPr id="16" name="Text 14"/>
          <p:cNvSpPr/>
          <p:nvPr/>
        </p:nvSpPr>
        <p:spPr>
          <a:xfrm>
            <a:off x="841248" y="4873752"/>
            <a:ext cx="420624" cy="420624"/>
          </a:xfrm>
          <a:prstGeom prst="rect">
            <a:avLst/>
          </a:prstGeom>
          <a:noFill/>
          <a:ln/>
        </p:spPr>
        <p:txBody>
          <a:bodyPr wrap="square" lIns="0" tIns="0" rIns="0" bIns="0" rtlCol="0" anchor="ctr"/>
          <a:lstStyle/>
          <a:p>
            <a:pPr algn="ctr" indent="0" marL="0">
              <a:buNone/>
            </a:pPr>
            <a:r>
              <a:rPr lang="en-US" sz="1600" b="1" dirty="0">
                <a:solidFill>
                  <a:srgbClr val="11162E"/>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1508760" y="4617720"/>
            <a:ext cx="978408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 missing binary must look like a message, not a crash</a:t>
            </a:r>
            <a:endParaRPr lang="en-US" sz="1700" dirty="0"/>
          </a:p>
        </p:txBody>
      </p:sp>
      <p:sp>
        <p:nvSpPr>
          <p:cNvPr id="18" name="Text 16"/>
          <p:cNvSpPr/>
          <p:nvPr/>
        </p:nvSpPr>
        <p:spPr>
          <a:xfrm>
            <a:off x="1508760" y="5001768"/>
            <a:ext cx="9784080" cy="594360"/>
          </a:xfrm>
          <a:prstGeom prst="rect">
            <a:avLst/>
          </a:prstGeom>
          <a:noFill/>
          <a:ln/>
        </p:spPr>
        <p:txBody>
          <a:bodyPr wrap="square" lIns="0" tIns="0" rIns="0" bIns="0" rtlCol="0" anchor="t"/>
          <a:lstStyle/>
          <a:p>
            <a:pPr indent="0" marL="0">
              <a:buNone/>
            </a:pPr>
            <a:r>
              <a:rPr lang="en-US" sz="1300" dirty="0">
                <a:solidFill>
                  <a:srgbClr val="8A93B8"/>
                </a:solidFill>
                <a:latin typeface="Arial" pitchFamily="34" charset="0"/>
                <a:ea typeface="Arial" pitchFamily="34" charset="-122"/>
                <a:cs typeface="Arial" pitchFamily="34" charset="-120"/>
              </a:rPr>
              <a:t>ENOENT becomes “the jl CLI is not installed on this host”. This runs on the API box; a JarvisLabs outage should surface on the admin panel, not as an unhandled rejection.</a:t>
            </a:r>
            <a:endParaRPr lang="en-US" sz="1300" dirty="0"/>
          </a:p>
        </p:txBody>
      </p:sp>
      <p:sp>
        <p:nvSpPr>
          <p:cNvPr id="19" name="Text 17"/>
          <p:cNvSpPr/>
          <p:nvPr/>
        </p:nvSpPr>
        <p:spPr>
          <a:xfrm>
            <a:off x="566928" y="5989320"/>
            <a:ext cx="11064240" cy="457200"/>
          </a:xfrm>
          <a:prstGeom prst="rect">
            <a:avLst/>
          </a:prstGeom>
          <a:noFill/>
          <a:ln/>
        </p:spPr>
        <p:txBody>
          <a:bodyPr wrap="square" lIns="0" tIns="0" rIns="0" bIns="0" rtlCol="0" anchor="ctr"/>
          <a:lstStyle/>
          <a:p>
            <a:pPr indent="0" marL="0">
              <a:buNone/>
            </a:pPr>
            <a:r>
              <a:rPr lang="en-US" sz="1500" b="1" i="1" dirty="0">
                <a:solidFill>
                  <a:srgbClr val="FFB020"/>
                </a:solidFill>
                <a:latin typeface="Arial" pitchFamily="34" charset="0"/>
                <a:ea typeface="Arial" pitchFamily="34" charset="-122"/>
                <a:cs typeface="Arial" pitchFamily="34" charset="-120"/>
              </a:rPr>
              <a:t>“No API” does not mean “cannot automate”. It means your integration layer is a subprocess — and subprocesses need defensive handling.</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PROBLEMS 2 &amp; 3</a:t>
            </a:r>
            <a:endParaRPr lang="en-US" sz="1300" dirty="0"/>
          </a:p>
        </p:txBody>
      </p:sp>
      <p:sp>
        <p:nvSpPr>
          <p:cNvPr id="3" name="Text 1"/>
          <p:cNvSpPr/>
          <p:nvPr/>
        </p:nvSpPr>
        <p:spPr>
          <a:xfrm>
            <a:off x="566928" y="384048"/>
            <a:ext cx="1106424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When to wake it, and when to let it sleep</a:t>
            </a:r>
            <a:endParaRPr lang="en-US" sz="2800" dirty="0"/>
          </a:p>
        </p:txBody>
      </p:sp>
      <p:pic>
        <p:nvPicPr>
          <p:cNvPr id="4" name="Image 0" descr="gpu-lifecycle.png">    </p:cNvPr>
          <p:cNvPicPr>
            <a:picLocks noChangeAspect="1"/>
          </p:cNvPicPr>
          <p:nvPr/>
        </p:nvPicPr>
        <p:blipFill>
          <a:blip r:embed="rId1"/>
          <a:stretch>
            <a:fillRect/>
          </a:stretch>
        </p:blipFill>
        <p:spPr>
          <a:xfrm>
            <a:off x="658368" y="1170432"/>
            <a:ext cx="10881360" cy="54864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THE ACTUAL SETTINGS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Four numbers decide everything</a:t>
            </a:r>
            <a:endParaRPr lang="en-US" sz="3400" dirty="0"/>
          </a:p>
        </p:txBody>
      </p:sp>
      <p:sp>
        <p:nvSpPr>
          <p:cNvPr id="4" name="Shape 2"/>
          <p:cNvSpPr/>
          <p:nvPr/>
        </p:nvSpPr>
        <p:spPr>
          <a:xfrm>
            <a:off x="566928" y="1508760"/>
            <a:ext cx="11064240" cy="822960"/>
          </a:xfrm>
          <a:prstGeom prst="roundRect">
            <a:avLst>
              <a:gd name="adj" fmla="val 11111"/>
            </a:avLst>
          </a:prstGeom>
          <a:solidFill>
            <a:srgbClr val="1A2350"/>
          </a:solidFill>
          <a:ln/>
        </p:spPr>
      </p:sp>
      <p:sp>
        <p:nvSpPr>
          <p:cNvPr id="5" name="Text 3"/>
          <p:cNvSpPr/>
          <p:nvPr/>
        </p:nvSpPr>
        <p:spPr>
          <a:xfrm>
            <a:off x="914400" y="1508760"/>
            <a:ext cx="3840480" cy="822960"/>
          </a:xfrm>
          <a:prstGeom prst="rect">
            <a:avLst/>
          </a:prstGeom>
          <a:noFill/>
          <a:ln/>
        </p:spPr>
        <p:txBody>
          <a:bodyPr wrap="square" lIns="0" tIns="0" rIns="0" bIns="0" rtlCol="0" anchor="ctr"/>
          <a:lstStyle/>
          <a:p>
            <a:pPr indent="0" marL="0">
              <a:buNone/>
            </a:pPr>
            <a:r>
              <a:rPr lang="en-US" sz="1500" b="1" dirty="0">
                <a:solidFill>
                  <a:srgbClr val="FFB020"/>
                </a:solidFill>
                <a:latin typeface="Courier New" pitchFamily="34" charset="0"/>
                <a:ea typeface="Courier New" pitchFamily="34" charset="-122"/>
                <a:cs typeface="Courier New" pitchFamily="34" charset="-120"/>
              </a:rPr>
              <a:t>pendingThreshold</a:t>
            </a:r>
            <a:endParaRPr lang="en-US" sz="1500" dirty="0"/>
          </a:p>
        </p:txBody>
      </p:sp>
      <p:sp>
        <p:nvSpPr>
          <p:cNvPr id="6" name="Text 4"/>
          <p:cNvSpPr/>
          <p:nvPr/>
        </p:nvSpPr>
        <p:spPr>
          <a:xfrm>
            <a:off x="4846320" y="1508760"/>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25</a:t>
            </a:r>
            <a:endParaRPr lang="en-US" sz="2400" dirty="0"/>
          </a:p>
        </p:txBody>
      </p:sp>
      <p:sp>
        <p:nvSpPr>
          <p:cNvPr id="7" name="Text 5"/>
          <p:cNvSpPr/>
          <p:nvPr/>
        </p:nvSpPr>
        <p:spPr>
          <a:xfrm>
            <a:off x="5943600" y="1508760"/>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Wake once this many jobs are queued across the GPU queues.</a:t>
            </a:r>
            <a:endParaRPr lang="en-US" sz="1400" dirty="0"/>
          </a:p>
        </p:txBody>
      </p:sp>
      <p:sp>
        <p:nvSpPr>
          <p:cNvPr id="8" name="Shape 6"/>
          <p:cNvSpPr/>
          <p:nvPr/>
        </p:nvSpPr>
        <p:spPr>
          <a:xfrm>
            <a:off x="566928" y="2441448"/>
            <a:ext cx="11064240" cy="822960"/>
          </a:xfrm>
          <a:prstGeom prst="roundRect">
            <a:avLst>
              <a:gd name="adj" fmla="val 11111"/>
            </a:avLst>
          </a:prstGeom>
          <a:solidFill>
            <a:srgbClr val="1A2350"/>
          </a:solidFill>
          <a:ln/>
        </p:spPr>
      </p:sp>
      <p:sp>
        <p:nvSpPr>
          <p:cNvPr id="9" name="Text 7"/>
          <p:cNvSpPr/>
          <p:nvPr/>
        </p:nvSpPr>
        <p:spPr>
          <a:xfrm>
            <a:off x="914400" y="2441448"/>
            <a:ext cx="3840480" cy="822960"/>
          </a:xfrm>
          <a:prstGeom prst="rect">
            <a:avLst/>
          </a:prstGeom>
          <a:noFill/>
          <a:ln/>
        </p:spPr>
        <p:txBody>
          <a:bodyPr wrap="square" lIns="0" tIns="0" rIns="0" bIns="0" rtlCol="0" anchor="ctr"/>
          <a:lstStyle/>
          <a:p>
            <a:pPr indent="0" marL="0">
              <a:buNone/>
            </a:pPr>
            <a:r>
              <a:rPr lang="en-US" sz="1500" b="1" dirty="0">
                <a:solidFill>
                  <a:srgbClr val="FFB020"/>
                </a:solidFill>
                <a:latin typeface="Courier New" pitchFamily="34" charset="0"/>
                <a:ea typeface="Courier New" pitchFamily="34" charset="-122"/>
                <a:cs typeface="Courier New" pitchFamily="34" charset="-120"/>
              </a:rPr>
              <a:t>maxPendingAgeMinutes</a:t>
            </a:r>
            <a:endParaRPr lang="en-US" sz="1500" dirty="0"/>
          </a:p>
        </p:txBody>
      </p:sp>
      <p:sp>
        <p:nvSpPr>
          <p:cNvPr id="10" name="Text 8"/>
          <p:cNvSpPr/>
          <p:nvPr/>
        </p:nvSpPr>
        <p:spPr>
          <a:xfrm>
            <a:off x="4846320" y="2441448"/>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120</a:t>
            </a:r>
            <a:endParaRPr lang="en-US" sz="2400" dirty="0"/>
          </a:p>
        </p:txBody>
      </p:sp>
      <p:sp>
        <p:nvSpPr>
          <p:cNvPr id="11" name="Text 9"/>
          <p:cNvSpPr/>
          <p:nvPr/>
        </p:nvSpPr>
        <p:spPr>
          <a:xfrm>
            <a:off x="5943600" y="2441448"/>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…or once the oldest waiting job has sat this long.</a:t>
            </a:r>
            <a:endParaRPr lang="en-US" sz="1400" dirty="0"/>
          </a:p>
        </p:txBody>
      </p:sp>
      <p:sp>
        <p:nvSpPr>
          <p:cNvPr id="12" name="Shape 10"/>
          <p:cNvSpPr/>
          <p:nvPr/>
        </p:nvSpPr>
        <p:spPr>
          <a:xfrm>
            <a:off x="566928" y="3374136"/>
            <a:ext cx="11064240" cy="822960"/>
          </a:xfrm>
          <a:prstGeom prst="roundRect">
            <a:avLst>
              <a:gd name="adj" fmla="val 11111"/>
            </a:avLst>
          </a:prstGeom>
          <a:solidFill>
            <a:srgbClr val="1A2350"/>
          </a:solidFill>
          <a:ln/>
        </p:spPr>
      </p:sp>
      <p:sp>
        <p:nvSpPr>
          <p:cNvPr id="13" name="Text 11"/>
          <p:cNvSpPr/>
          <p:nvPr/>
        </p:nvSpPr>
        <p:spPr>
          <a:xfrm>
            <a:off x="914400" y="3374136"/>
            <a:ext cx="3840480" cy="822960"/>
          </a:xfrm>
          <a:prstGeom prst="rect">
            <a:avLst/>
          </a:prstGeom>
          <a:noFill/>
          <a:ln/>
        </p:spPr>
        <p:txBody>
          <a:bodyPr wrap="square" lIns="0" tIns="0" rIns="0" bIns="0" rtlCol="0" anchor="ctr"/>
          <a:lstStyle/>
          <a:p>
            <a:pPr indent="0" marL="0">
              <a:buNone/>
            </a:pPr>
            <a:r>
              <a:rPr lang="en-US" sz="1500" b="1" dirty="0">
                <a:solidFill>
                  <a:srgbClr val="4C6FFF"/>
                </a:solidFill>
                <a:latin typeface="Courier New" pitchFamily="34" charset="0"/>
                <a:ea typeface="Courier New" pitchFamily="34" charset="-122"/>
                <a:cs typeface="Courier New" pitchFamily="34" charset="-120"/>
              </a:rPr>
              <a:t>idleShutdownMinutes</a:t>
            </a:r>
            <a:endParaRPr lang="en-US" sz="1500" dirty="0"/>
          </a:p>
        </p:txBody>
      </p:sp>
      <p:sp>
        <p:nvSpPr>
          <p:cNvPr id="14" name="Text 12"/>
          <p:cNvSpPr/>
          <p:nvPr/>
        </p:nvSpPr>
        <p:spPr>
          <a:xfrm>
            <a:off x="4846320" y="3374136"/>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10</a:t>
            </a:r>
            <a:endParaRPr lang="en-US" sz="2400" dirty="0"/>
          </a:p>
        </p:txBody>
      </p:sp>
      <p:sp>
        <p:nvSpPr>
          <p:cNvPr id="15" name="Text 13"/>
          <p:cNvSpPr/>
          <p:nvPr/>
        </p:nvSpPr>
        <p:spPr>
          <a:xfrm>
            <a:off x="5943600" y="3374136"/>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Stop this long after the queues go quiet.</a:t>
            </a:r>
            <a:endParaRPr lang="en-US" sz="1400" dirty="0"/>
          </a:p>
        </p:txBody>
      </p:sp>
      <p:sp>
        <p:nvSpPr>
          <p:cNvPr id="16" name="Shape 14"/>
          <p:cNvSpPr/>
          <p:nvPr/>
        </p:nvSpPr>
        <p:spPr>
          <a:xfrm>
            <a:off x="566928" y="4306824"/>
            <a:ext cx="11064240" cy="822960"/>
          </a:xfrm>
          <a:prstGeom prst="roundRect">
            <a:avLst>
              <a:gd name="adj" fmla="val 11111"/>
            </a:avLst>
          </a:prstGeom>
          <a:solidFill>
            <a:srgbClr val="1A2350"/>
          </a:solidFill>
          <a:ln/>
        </p:spPr>
      </p:sp>
      <p:sp>
        <p:nvSpPr>
          <p:cNvPr id="17" name="Text 15"/>
          <p:cNvSpPr/>
          <p:nvPr/>
        </p:nvSpPr>
        <p:spPr>
          <a:xfrm>
            <a:off x="914400" y="4306824"/>
            <a:ext cx="3840480" cy="822960"/>
          </a:xfrm>
          <a:prstGeom prst="rect">
            <a:avLst/>
          </a:prstGeom>
          <a:noFill/>
          <a:ln/>
        </p:spPr>
        <p:txBody>
          <a:bodyPr wrap="square" lIns="0" tIns="0" rIns="0" bIns="0" rtlCol="0" anchor="ctr"/>
          <a:lstStyle/>
          <a:p>
            <a:pPr indent="0" marL="0">
              <a:buNone/>
            </a:pPr>
            <a:r>
              <a:rPr lang="en-US" sz="1500" b="1" dirty="0">
                <a:solidFill>
                  <a:srgbClr val="4C6FFF"/>
                </a:solidFill>
                <a:latin typeface="Courier New" pitchFamily="34" charset="0"/>
                <a:ea typeface="Courier New" pitchFamily="34" charset="-122"/>
                <a:cs typeface="Courier New" pitchFamily="34" charset="-120"/>
              </a:rPr>
              <a:t>startTimeoutMinutes</a:t>
            </a:r>
            <a:endParaRPr lang="en-US" sz="1500" dirty="0"/>
          </a:p>
        </p:txBody>
      </p:sp>
      <p:sp>
        <p:nvSpPr>
          <p:cNvPr id="18" name="Text 16"/>
          <p:cNvSpPr/>
          <p:nvPr/>
        </p:nvSpPr>
        <p:spPr>
          <a:xfrm>
            <a:off x="4846320" y="4306824"/>
            <a:ext cx="91440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20</a:t>
            </a:r>
            <a:endParaRPr lang="en-US" sz="2400" dirty="0"/>
          </a:p>
        </p:txBody>
      </p:sp>
      <p:sp>
        <p:nvSpPr>
          <p:cNvPr id="19" name="Text 17"/>
          <p:cNvSpPr/>
          <p:nvPr/>
        </p:nvSpPr>
        <p:spPr>
          <a:xfrm>
            <a:off x="5943600" y="4306824"/>
            <a:ext cx="5394960" cy="8229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Give up and stop if the box never reports in.</a:t>
            </a:r>
            <a:endParaRPr lang="en-US" sz="1400" dirty="0"/>
          </a:p>
        </p:txBody>
      </p:sp>
      <p:sp>
        <p:nvSpPr>
          <p:cNvPr id="20" name="Shape 18"/>
          <p:cNvSpPr/>
          <p:nvPr/>
        </p:nvSpPr>
        <p:spPr>
          <a:xfrm>
            <a:off x="566928" y="5349240"/>
            <a:ext cx="11064240" cy="1097280"/>
          </a:xfrm>
          <a:prstGeom prst="roundRect">
            <a:avLst>
              <a:gd name="adj" fmla="val 11667"/>
            </a:avLst>
          </a:prstGeom>
          <a:solidFill>
            <a:srgbClr val="141B3E"/>
          </a:solidFill>
          <a:ln w="25400">
            <a:solidFill>
              <a:srgbClr val="3DD68C"/>
            </a:solidFill>
            <a:prstDash val="solid"/>
          </a:ln>
        </p:spPr>
      </p:sp>
      <p:sp>
        <p:nvSpPr>
          <p:cNvPr id="21" name="Text 19"/>
          <p:cNvSpPr/>
          <p:nvPr/>
        </p:nvSpPr>
        <p:spPr>
          <a:xfrm>
            <a:off x="914400" y="5486400"/>
            <a:ext cx="10332720" cy="82296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Why there are two wake conditions: a threshold on its own starves a single job forever. The age rule is what rescues the one photo that arrived on a quiet Tuesday.</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PROBLEM 4</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if the stop call simply fails?</a:t>
            </a:r>
            <a:endParaRPr lang="en-US" sz="3400" dirty="0"/>
          </a:p>
        </p:txBody>
      </p:sp>
      <p:sp>
        <p:nvSpPr>
          <p:cNvPr id="4" name="Shape 2"/>
          <p:cNvSpPr/>
          <p:nvPr/>
        </p:nvSpPr>
        <p:spPr>
          <a:xfrm>
            <a:off x="566928" y="1508760"/>
            <a:ext cx="5394960" cy="2514600"/>
          </a:xfrm>
          <a:prstGeom prst="roundRect">
            <a:avLst>
              <a:gd name="adj" fmla="val 5091"/>
            </a:avLst>
          </a:prstGeom>
          <a:solidFill>
            <a:srgbClr val="1A2350"/>
          </a:solidFill>
          <a:ln w="25400">
            <a:solidFill>
              <a:srgbClr val="FFB020"/>
            </a:solidFill>
            <a:prstDash val="solid"/>
          </a:ln>
        </p:spPr>
      </p:sp>
      <p:sp>
        <p:nvSpPr>
          <p:cNvPr id="5" name="Text 3"/>
          <p:cNvSpPr/>
          <p:nvPr/>
        </p:nvSpPr>
        <p:spPr>
          <a:xfrm>
            <a:off x="886968" y="1691640"/>
            <a:ext cx="475488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Fast path</a:t>
            </a:r>
            <a:endParaRPr lang="en-US" sz="1500" dirty="0"/>
          </a:p>
        </p:txBody>
      </p:sp>
      <p:sp>
        <p:nvSpPr>
          <p:cNvPr id="6" name="Text 4"/>
          <p:cNvSpPr/>
          <p:nvPr/>
        </p:nvSpPr>
        <p:spPr>
          <a:xfrm>
            <a:off x="886968" y="2057400"/>
            <a:ext cx="475488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API runs jl pause.</a:t>
            </a:r>
            <a:endParaRPr lang="en-US" sz="1900" dirty="0"/>
          </a:p>
        </p:txBody>
      </p:sp>
      <p:sp>
        <p:nvSpPr>
          <p:cNvPr id="7" name="Text 5"/>
          <p:cNvSpPr/>
          <p:nvPr/>
        </p:nvSpPr>
        <p:spPr>
          <a:xfrm>
            <a:off x="886968" y="2651760"/>
            <a:ext cx="4754880" cy="11887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Quick, normal, and what happens 99% of the time.</a:t>
            </a:r>
            <a:endParaRPr lang="en-US" sz="1400" dirty="0"/>
          </a:p>
        </p:txBody>
      </p:sp>
      <p:sp>
        <p:nvSpPr>
          <p:cNvPr id="8" name="Shape 6"/>
          <p:cNvSpPr/>
          <p:nvPr/>
        </p:nvSpPr>
        <p:spPr>
          <a:xfrm>
            <a:off x="6236208" y="1508760"/>
            <a:ext cx="5394960" cy="2514600"/>
          </a:xfrm>
          <a:prstGeom prst="roundRect">
            <a:avLst>
              <a:gd name="adj" fmla="val 5091"/>
            </a:avLst>
          </a:prstGeom>
          <a:solidFill>
            <a:srgbClr val="1A2350"/>
          </a:solidFill>
          <a:ln w="25400">
            <a:solidFill>
              <a:srgbClr val="3DD68C"/>
            </a:solidFill>
            <a:prstDash val="solid"/>
          </a:ln>
        </p:spPr>
      </p:sp>
      <p:sp>
        <p:nvSpPr>
          <p:cNvPr id="9" name="Text 7"/>
          <p:cNvSpPr/>
          <p:nvPr/>
        </p:nvSpPr>
        <p:spPr>
          <a:xfrm>
            <a:off x="6556248" y="1691640"/>
            <a:ext cx="4754880" cy="320040"/>
          </a:xfrm>
          <a:prstGeom prst="rect">
            <a:avLst/>
          </a:prstGeom>
          <a:noFill/>
          <a:ln/>
        </p:spPr>
        <p:txBody>
          <a:bodyPr wrap="square" lIns="0" tIns="0" rIns="0" bIns="0" rtlCol="0" anchor="ctr"/>
          <a:lstStyle/>
          <a:p>
            <a:pPr indent="0" marL="0">
              <a:buNone/>
            </a:pPr>
            <a:r>
              <a:rPr lang="en-US" sz="1500" b="1" dirty="0">
                <a:solidFill>
                  <a:srgbClr val="3DD68C"/>
                </a:solidFill>
                <a:latin typeface="Arial" pitchFamily="34" charset="0"/>
                <a:ea typeface="Arial" pitchFamily="34" charset="-122"/>
                <a:cs typeface="Arial" pitchFamily="34" charset="-120"/>
              </a:rPr>
              <a:t>Backstop</a:t>
            </a:r>
            <a:endParaRPr lang="en-US" sz="1500" dirty="0"/>
          </a:p>
        </p:txBody>
      </p:sp>
      <p:sp>
        <p:nvSpPr>
          <p:cNvPr id="10" name="Text 8"/>
          <p:cNvSpPr/>
          <p:nvPr/>
        </p:nvSpPr>
        <p:spPr>
          <a:xfrm>
            <a:off x="6556248" y="2057400"/>
            <a:ext cx="4754880" cy="50292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The box polls us and kills itself.</a:t>
            </a:r>
            <a:endParaRPr lang="en-US" sz="1900" dirty="0"/>
          </a:p>
        </p:txBody>
      </p:sp>
      <p:sp>
        <p:nvSpPr>
          <p:cNvPr id="11" name="Text 9"/>
          <p:cNvSpPr/>
          <p:nvPr/>
        </p:nvSpPr>
        <p:spPr>
          <a:xfrm>
            <a:off x="6556248" y="2651760"/>
            <a:ext cx="4754880" cy="118872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GET /api/webhooks/gpu/heartbeat → { keepAlive, reason, pending }. If the API says stop — or is simply unreachable — the box shuts down on its own.</a:t>
            </a:r>
            <a:endParaRPr lang="en-US" sz="1400" dirty="0"/>
          </a:p>
        </p:txBody>
      </p:sp>
      <p:sp>
        <p:nvSpPr>
          <p:cNvPr id="12" name="Shape 10"/>
          <p:cNvSpPr/>
          <p:nvPr/>
        </p:nvSpPr>
        <p:spPr>
          <a:xfrm>
            <a:off x="566928" y="4297680"/>
            <a:ext cx="11064240" cy="1828800"/>
          </a:xfrm>
          <a:prstGeom prst="roundRect">
            <a:avLst>
              <a:gd name="adj" fmla="val 7000"/>
            </a:avLst>
          </a:prstGeom>
          <a:solidFill>
            <a:srgbClr val="141B3E"/>
          </a:solidFill>
          <a:ln w="31750">
            <a:solidFill>
              <a:srgbClr val="3DD68C"/>
            </a:solidFill>
            <a:prstDash val="solid"/>
          </a:ln>
        </p:spPr>
      </p:sp>
      <p:sp>
        <p:nvSpPr>
          <p:cNvPr id="13" name="Text 11"/>
          <p:cNvSpPr/>
          <p:nvPr/>
        </p:nvSpPr>
        <p:spPr>
          <a:xfrm>
            <a:off x="914400" y="4480560"/>
            <a:ext cx="10332720" cy="457200"/>
          </a:xfrm>
          <a:prstGeom prst="rect">
            <a:avLst/>
          </a:prstGeom>
          <a:noFill/>
          <a:ln/>
        </p:spPr>
        <p:txBody>
          <a:bodyPr wrap="square" lIns="0" tIns="0" rIns="0" bIns="0" rtlCol="0" anchor="ctr"/>
          <a:lstStyle/>
          <a:p>
            <a:pPr indent="0" marL="0">
              <a:buNone/>
            </a:pPr>
            <a:r>
              <a:rPr lang="en-US" sz="2600" b="1" dirty="0">
                <a:solidFill>
                  <a:srgbClr val="3DD68C"/>
                </a:solidFill>
                <a:latin typeface="Cambria" pitchFamily="34" charset="0"/>
                <a:ea typeface="Cambria" pitchFamily="34" charset="-122"/>
                <a:cs typeface="Cambria" pitchFamily="34" charset="-120"/>
              </a:rPr>
              <a:t>The expensive resource fails closed.</a:t>
            </a:r>
            <a:endParaRPr lang="en-US" sz="2600" dirty="0"/>
          </a:p>
        </p:txBody>
      </p:sp>
      <p:sp>
        <p:nvSpPr>
          <p:cNvPr id="14" name="Text 12"/>
          <p:cNvSpPr/>
          <p:nvPr/>
        </p:nvSpPr>
        <p:spPr>
          <a:xfrm>
            <a:off x="914400" y="4983480"/>
            <a:ext cx="10332720" cy="1005840"/>
          </a:xfrm>
          <a:prstGeom prst="rect">
            <a:avLst/>
          </a:prstGeom>
          <a:noFill/>
          <a:ln/>
        </p:spPr>
        <p:txBody>
          <a:bodyPr wrap="square" lIns="0" tIns="0" rIns="0" bIns="0" rtlCol="0" anchor="ctr"/>
          <a:lstStyle/>
          <a:p>
            <a:pPr indent="0" marL="0">
              <a:buNone/>
            </a:pPr>
            <a:r>
              <a:rPr lang="en-US" sz="1600" dirty="0">
                <a:solidFill>
                  <a:srgbClr val="FFFFFF"/>
                </a:solidFill>
                <a:latin typeface="Arial" pitchFamily="34" charset="0"/>
                <a:ea typeface="Arial" pitchFamily="34" charset="-122"/>
                <a:cs typeface="Arial" pitchFamily="34" charset="-120"/>
              </a:rPr>
              <a:t>An outage, a bad deploy, or a bug costs you an idle machine for a few minutes — not a weekend of GPU billing. And because the box polls us rather than us pushing to it, the VM needs no inbound network access at all.</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FFB020"/>
                </a:solidFill>
                <a:latin typeface="Arial" pitchFamily="34" charset="0"/>
                <a:ea typeface="Arial" pitchFamily="34" charset="-122"/>
                <a:cs typeface="Arial" pitchFamily="34" charset="-120"/>
              </a:rPr>
              <a:t>THE BUG THAT PAYS FOR ITSELF</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One orphaned job can pin a GPU up forever</a:t>
            </a:r>
            <a:endParaRPr lang="en-US" sz="3400" dirty="0"/>
          </a:p>
        </p:txBody>
      </p:sp>
      <p:sp>
        <p:nvSpPr>
          <p:cNvPr id="4" name="Shape 2"/>
          <p:cNvSpPr/>
          <p:nvPr/>
        </p:nvSpPr>
        <p:spPr>
          <a:xfrm>
            <a:off x="566928" y="1508760"/>
            <a:ext cx="11064240" cy="932688"/>
          </a:xfrm>
          <a:prstGeom prst="roundRect">
            <a:avLst>
              <a:gd name="adj" fmla="val 9804"/>
            </a:avLst>
          </a:prstGeom>
          <a:solidFill>
            <a:srgbClr val="1A2350"/>
          </a:solidFill>
          <a:ln/>
        </p:spPr>
      </p:sp>
      <p:sp>
        <p:nvSpPr>
          <p:cNvPr id="5" name="Text 3"/>
          <p:cNvSpPr/>
          <p:nvPr/>
        </p:nvSpPr>
        <p:spPr>
          <a:xfrm>
            <a:off x="914400" y="150876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6" name="Text 4"/>
          <p:cNvSpPr/>
          <p:nvPr/>
        </p:nvSpPr>
        <p:spPr>
          <a:xfrm>
            <a:off x="1371600" y="161848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The box is paused mid-batch</a:t>
            </a:r>
            <a:endParaRPr lang="en-US" sz="1700" dirty="0"/>
          </a:p>
        </p:txBody>
      </p:sp>
      <p:sp>
        <p:nvSpPr>
          <p:cNvPr id="7" name="Text 5"/>
          <p:cNvSpPr/>
          <p:nvPr/>
        </p:nvSpPr>
        <p:spPr>
          <a:xfrm>
            <a:off x="1371600" y="194767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By design — that is the whole point of pausing.</a:t>
            </a:r>
            <a:endParaRPr lang="en-US" sz="1300" dirty="0"/>
          </a:p>
        </p:txBody>
      </p:sp>
      <p:sp>
        <p:nvSpPr>
          <p:cNvPr id="8" name="Shape 6"/>
          <p:cNvSpPr/>
          <p:nvPr/>
        </p:nvSpPr>
        <p:spPr>
          <a:xfrm>
            <a:off x="566928" y="2560320"/>
            <a:ext cx="11064240" cy="932688"/>
          </a:xfrm>
          <a:prstGeom prst="roundRect">
            <a:avLst>
              <a:gd name="adj" fmla="val 9804"/>
            </a:avLst>
          </a:prstGeom>
          <a:solidFill>
            <a:srgbClr val="1A2350"/>
          </a:solidFill>
          <a:ln/>
        </p:spPr>
      </p:sp>
      <p:sp>
        <p:nvSpPr>
          <p:cNvPr id="9" name="Text 7"/>
          <p:cNvSpPr/>
          <p:nvPr/>
        </p:nvSpPr>
        <p:spPr>
          <a:xfrm>
            <a:off x="914400" y="256032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10" name="Text 8"/>
          <p:cNvSpPr/>
          <p:nvPr/>
        </p:nvSpPr>
        <p:spPr>
          <a:xfrm>
            <a:off x="1371600" y="267004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 job is left “active” in Redis</a:t>
            </a:r>
            <a:endParaRPr lang="en-US" sz="1700" dirty="0"/>
          </a:p>
        </p:txBody>
      </p:sp>
      <p:sp>
        <p:nvSpPr>
          <p:cNvPr id="11" name="Text 9"/>
          <p:cNvSpPr/>
          <p:nvPr/>
        </p:nvSpPr>
        <p:spPr>
          <a:xfrm>
            <a:off x="1371600" y="299923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Nobody is alive to finish it or fail it. It never clears on its own.</a:t>
            </a:r>
            <a:endParaRPr lang="en-US" sz="1300" dirty="0"/>
          </a:p>
        </p:txBody>
      </p:sp>
      <p:sp>
        <p:nvSpPr>
          <p:cNvPr id="12" name="Shape 10"/>
          <p:cNvSpPr/>
          <p:nvPr/>
        </p:nvSpPr>
        <p:spPr>
          <a:xfrm>
            <a:off x="566928" y="3611880"/>
            <a:ext cx="11064240" cy="932688"/>
          </a:xfrm>
          <a:prstGeom prst="roundRect">
            <a:avLst>
              <a:gd name="adj" fmla="val 9804"/>
            </a:avLst>
          </a:prstGeom>
          <a:solidFill>
            <a:srgbClr val="1A2350"/>
          </a:solidFill>
          <a:ln/>
        </p:spPr>
      </p:sp>
      <p:sp>
        <p:nvSpPr>
          <p:cNvPr id="13" name="Text 11"/>
          <p:cNvSpPr/>
          <p:nvPr/>
        </p:nvSpPr>
        <p:spPr>
          <a:xfrm>
            <a:off x="914400" y="3611880"/>
            <a:ext cx="365760" cy="932688"/>
          </a:xfrm>
          <a:prstGeom prst="rect">
            <a:avLst/>
          </a:prstGeom>
          <a:noFill/>
          <a:ln/>
        </p:spPr>
        <p:txBody>
          <a:bodyPr wrap="square" lIns="0" tIns="0" rIns="0" bIns="0" rtlCol="0" anchor="ctr"/>
          <a:lstStyle/>
          <a:p>
            <a:pPr indent="0" marL="0">
              <a:buNone/>
            </a:pPr>
            <a:r>
              <a:rPr lang="en-US" sz="1200" dirty="0">
                <a:solidFill>
                  <a:srgbClr val="FFB020"/>
                </a:solidFill>
                <a:latin typeface="Arial" pitchFamily="34" charset="0"/>
                <a:ea typeface="Arial" pitchFamily="34" charset="-122"/>
                <a:cs typeface="Arial" pitchFamily="34" charset="-120"/>
              </a:rPr>
              <a:t>▶</a:t>
            </a:r>
            <a:endParaRPr lang="en-US" sz="1200" dirty="0"/>
          </a:p>
        </p:txBody>
      </p:sp>
      <p:sp>
        <p:nvSpPr>
          <p:cNvPr id="14" name="Text 12"/>
          <p:cNvSpPr/>
          <p:nvPr/>
        </p:nvSpPr>
        <p:spPr>
          <a:xfrm>
            <a:off x="1371600" y="3721608"/>
            <a:ext cx="987552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active &gt; 0 keeps the box alive</a:t>
            </a:r>
            <a:endParaRPr lang="en-US" sz="1700" dirty="0"/>
          </a:p>
        </p:txBody>
      </p:sp>
      <p:sp>
        <p:nvSpPr>
          <p:cNvPr id="15" name="Text 13"/>
          <p:cNvSpPr/>
          <p:nvPr/>
        </p:nvSpPr>
        <p:spPr>
          <a:xfrm>
            <a:off x="1371600" y="4050792"/>
            <a:ext cx="9875520" cy="384048"/>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And that is exactly the runaway bill the autoshutdown existed to prevent.</a:t>
            </a:r>
            <a:endParaRPr lang="en-US" sz="1300" dirty="0"/>
          </a:p>
        </p:txBody>
      </p:sp>
      <p:sp>
        <p:nvSpPr>
          <p:cNvPr id="16" name="Shape 14"/>
          <p:cNvSpPr/>
          <p:nvPr/>
        </p:nvSpPr>
        <p:spPr>
          <a:xfrm>
            <a:off x="566928" y="4754880"/>
            <a:ext cx="11064240" cy="1463040"/>
          </a:xfrm>
          <a:prstGeom prst="roundRect">
            <a:avLst>
              <a:gd name="adj" fmla="val 8750"/>
            </a:avLst>
          </a:prstGeom>
          <a:solidFill>
            <a:srgbClr val="141B3E"/>
          </a:solidFill>
          <a:ln w="25400">
            <a:solidFill>
              <a:srgbClr val="3DD68C"/>
            </a:solidFill>
            <a:prstDash val="solid"/>
          </a:ln>
        </p:spPr>
      </p:sp>
      <p:sp>
        <p:nvSpPr>
          <p:cNvPr id="17" name="Text 15"/>
          <p:cNvSpPr/>
          <p:nvPr/>
        </p:nvSpPr>
        <p:spPr>
          <a:xfrm>
            <a:off x="914400" y="4919472"/>
            <a:ext cx="10332720" cy="411480"/>
          </a:xfrm>
          <a:prstGeom prst="rect">
            <a:avLst/>
          </a:prstGeom>
          <a:noFill/>
          <a:ln/>
        </p:spPr>
        <p:txBody>
          <a:bodyPr wrap="square" lIns="0" tIns="0" rIns="0" bIns="0" rtlCol="0" anchor="ctr"/>
          <a:lstStyle/>
          <a:p>
            <a:pPr indent="0" marL="0">
              <a:buNone/>
            </a:pPr>
            <a:r>
              <a:rPr lang="en-US" sz="1900" b="1" dirty="0">
                <a:solidFill>
                  <a:srgbClr val="3DD68C"/>
                </a:solidFill>
                <a:latin typeface="Arial" pitchFamily="34" charset="0"/>
                <a:ea typeface="Arial" pitchFamily="34" charset="-122"/>
                <a:cs typeface="Arial" pitchFamily="34" charset="-120"/>
              </a:rPr>
              <a:t>The fix: anything active for more than 30 minutes is an orphan, not work.</a:t>
            </a:r>
            <a:endParaRPr lang="en-US" sz="1900" dirty="0"/>
          </a:p>
        </p:txBody>
      </p:sp>
      <p:sp>
        <p:nvSpPr>
          <p:cNvPr id="18" name="Text 16"/>
          <p:cNvSpPr/>
          <p:nvPr/>
        </p:nvSpPr>
        <p:spPr>
          <a:xfrm>
            <a:off x="914400" y="5349240"/>
            <a:ext cx="10332720" cy="73152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Generous on purpose. A long video transcode legitimately holds a job for many minutes, and cutting the box off mid-encode wastes the work already done. Thirty minutes is past any real job here and still caps the damage.</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THE PART NOBODY EXPECTS</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GPU’s sleep schedule changed the copy on the page</a:t>
            </a:r>
            <a:endParaRPr lang="en-US" sz="3400" dirty="0"/>
          </a:p>
        </p:txBody>
      </p:sp>
      <p:sp>
        <p:nvSpPr>
          <p:cNvPr id="4" name="Shape 2"/>
          <p:cNvSpPr/>
          <p:nvPr/>
        </p:nvSpPr>
        <p:spPr>
          <a:xfrm>
            <a:off x="566928" y="1554480"/>
            <a:ext cx="5394960" cy="2651760"/>
          </a:xfrm>
          <a:prstGeom prst="roundRect">
            <a:avLst>
              <a:gd name="adj" fmla="val 4828"/>
            </a:avLst>
          </a:prstGeom>
          <a:solidFill>
            <a:srgbClr val="1A2350"/>
          </a:solidFill>
          <a:ln w="25400">
            <a:solidFill>
              <a:srgbClr val="3DD68C"/>
            </a:solidFill>
            <a:prstDash val="solid"/>
          </a:ln>
        </p:spPr>
      </p:sp>
      <p:sp>
        <p:nvSpPr>
          <p:cNvPr id="5" name="Shape 3"/>
          <p:cNvSpPr/>
          <p:nvPr/>
        </p:nvSpPr>
        <p:spPr>
          <a:xfrm>
            <a:off x="886968" y="1783080"/>
            <a:ext cx="1051560" cy="347472"/>
          </a:xfrm>
          <a:prstGeom prst="roundRect">
            <a:avLst>
              <a:gd name="adj" fmla="val 44737"/>
            </a:avLst>
          </a:prstGeom>
          <a:solidFill>
            <a:srgbClr val="3DD68C"/>
          </a:solidFill>
          <a:ln/>
        </p:spPr>
      </p:sp>
      <p:sp>
        <p:nvSpPr>
          <p:cNvPr id="6" name="Text 4"/>
          <p:cNvSpPr/>
          <p:nvPr/>
        </p:nvSpPr>
        <p:spPr>
          <a:xfrm>
            <a:off x="886968" y="1783080"/>
            <a:ext cx="1051560" cy="347472"/>
          </a:xfrm>
          <a:prstGeom prst="rect">
            <a:avLst/>
          </a:prstGeom>
          <a:noFill/>
          <a:ln/>
        </p:spPr>
        <p:txBody>
          <a:bodyPr wrap="square" lIns="0" tIns="0" rIns="0" bIns="0" rtlCol="0" anchor="ctr"/>
          <a:lstStyle/>
          <a:p>
            <a:pPr algn="ctr" indent="0" marL="0">
              <a:buNone/>
            </a:pPr>
            <a:r>
              <a:rPr lang="en-US" sz="1200" b="1" dirty="0">
                <a:solidFill>
                  <a:srgbClr val="11162E"/>
                </a:solidFill>
                <a:latin typeface="Courier New" pitchFamily="34" charset="0"/>
                <a:ea typeface="Courier New" pitchFamily="34" charset="-122"/>
                <a:cs typeface="Courier New" pitchFamily="34" charset="-120"/>
              </a:rPr>
              <a:t>live</a:t>
            </a:r>
            <a:endParaRPr lang="en-US" sz="1200" dirty="0"/>
          </a:p>
        </p:txBody>
      </p:sp>
      <p:sp>
        <p:nvSpPr>
          <p:cNvPr id="7" name="Text 5"/>
          <p:cNvSpPr/>
          <p:nvPr/>
        </p:nvSpPr>
        <p:spPr>
          <a:xfrm>
            <a:off x="886968" y="2286000"/>
            <a:ext cx="47548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Box awake and keeping up</a:t>
            </a:r>
            <a:endParaRPr lang="en-US" sz="1800" dirty="0"/>
          </a:p>
        </p:txBody>
      </p:sp>
      <p:sp>
        <p:nvSpPr>
          <p:cNvPr id="8" name="Text 6"/>
          <p:cNvSpPr/>
          <p:nvPr/>
        </p:nvSpPr>
        <p:spPr>
          <a:xfrm>
            <a:off x="886968" y="2788920"/>
            <a:ext cx="475488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A spinner, “you are number 4 in the queue”, and a rough estimate. It flips to the result if it finishes while they watch.</a:t>
            </a:r>
            <a:endParaRPr lang="en-US" sz="1400" dirty="0"/>
          </a:p>
        </p:txBody>
      </p:sp>
      <p:sp>
        <p:nvSpPr>
          <p:cNvPr id="9" name="Shape 7"/>
          <p:cNvSpPr/>
          <p:nvPr/>
        </p:nvSpPr>
        <p:spPr>
          <a:xfrm>
            <a:off x="6236208" y="1554480"/>
            <a:ext cx="5394960" cy="2651760"/>
          </a:xfrm>
          <a:prstGeom prst="roundRect">
            <a:avLst>
              <a:gd name="adj" fmla="val 4828"/>
            </a:avLst>
          </a:prstGeom>
          <a:solidFill>
            <a:srgbClr val="1A2350"/>
          </a:solidFill>
          <a:ln w="25400">
            <a:solidFill>
              <a:srgbClr val="FFB020"/>
            </a:solidFill>
            <a:prstDash val="solid"/>
          </a:ln>
        </p:spPr>
      </p:sp>
      <p:sp>
        <p:nvSpPr>
          <p:cNvPr id="10" name="Shape 8"/>
          <p:cNvSpPr/>
          <p:nvPr/>
        </p:nvSpPr>
        <p:spPr>
          <a:xfrm>
            <a:off x="6556248" y="1783080"/>
            <a:ext cx="1051560" cy="347472"/>
          </a:xfrm>
          <a:prstGeom prst="roundRect">
            <a:avLst>
              <a:gd name="adj" fmla="val 44737"/>
            </a:avLst>
          </a:prstGeom>
          <a:solidFill>
            <a:srgbClr val="FFB020"/>
          </a:solidFill>
          <a:ln/>
        </p:spPr>
      </p:sp>
      <p:sp>
        <p:nvSpPr>
          <p:cNvPr id="11" name="Text 9"/>
          <p:cNvSpPr/>
          <p:nvPr/>
        </p:nvSpPr>
        <p:spPr>
          <a:xfrm>
            <a:off x="6556248" y="1783080"/>
            <a:ext cx="1051560" cy="347472"/>
          </a:xfrm>
          <a:prstGeom prst="rect">
            <a:avLst/>
          </a:prstGeom>
          <a:noFill/>
          <a:ln/>
        </p:spPr>
        <p:txBody>
          <a:bodyPr wrap="square" lIns="0" tIns="0" rIns="0" bIns="0" rtlCol="0" anchor="ctr"/>
          <a:lstStyle/>
          <a:p>
            <a:pPr algn="ctr" indent="0" marL="0">
              <a:buNone/>
            </a:pPr>
            <a:r>
              <a:rPr lang="en-US" sz="1200" b="1" dirty="0">
                <a:solidFill>
                  <a:srgbClr val="11162E"/>
                </a:solidFill>
                <a:latin typeface="Courier New" pitchFamily="34" charset="0"/>
                <a:ea typeface="Courier New" pitchFamily="34" charset="-122"/>
                <a:cs typeface="Courier New" pitchFamily="34" charset="-120"/>
              </a:rPr>
              <a:t>deferred</a:t>
            </a:r>
            <a:endParaRPr lang="en-US" sz="1200" dirty="0"/>
          </a:p>
        </p:txBody>
      </p:sp>
      <p:sp>
        <p:nvSpPr>
          <p:cNvPr id="12" name="Text 10"/>
          <p:cNvSpPr/>
          <p:nvPr/>
        </p:nvSpPr>
        <p:spPr>
          <a:xfrm>
            <a:off x="6556248" y="2286000"/>
            <a:ext cx="4754880" cy="45720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Box asleep, or badly backed up</a:t>
            </a:r>
            <a:endParaRPr lang="en-US" sz="1800" dirty="0"/>
          </a:p>
        </p:txBody>
      </p:sp>
      <p:sp>
        <p:nvSpPr>
          <p:cNvPr id="13" name="Text 11"/>
          <p:cNvSpPr/>
          <p:nvPr/>
        </p:nvSpPr>
        <p:spPr>
          <a:xfrm>
            <a:off x="6556248" y="2788920"/>
            <a:ext cx="4754880" cy="1280160"/>
          </a:xfrm>
          <a:prstGeom prst="rect">
            <a:avLst/>
          </a:prstGeom>
          <a:noFill/>
          <a:ln/>
        </p:spPr>
        <p:txBody>
          <a:bodyPr wrap="square" lIns="0" tIns="0" rIns="0" bIns="0" rtlCol="0" anchor="ctr"/>
          <a:lstStyle/>
          <a:p>
            <a:pPr indent="0" marL="0">
              <a:buNone/>
            </a:pPr>
            <a:r>
              <a:rPr lang="en-US" sz="1400" dirty="0">
                <a:solidFill>
                  <a:srgbClr val="8A93B8"/>
                </a:solidFill>
                <a:latin typeface="Arial" pitchFamily="34" charset="0"/>
                <a:ea typeface="Arial" pitchFamily="34" charset="-122"/>
                <a:cs typeface="Arial" pitchFamily="34" charset="-120"/>
              </a:rPr>
              <a:t>“Thanks — we will email you when your photos are ready.” No fake progress bar, no promise we cannot keep.</a:t>
            </a:r>
            <a:endParaRPr lang="en-US" sz="1400" dirty="0"/>
          </a:p>
        </p:txBody>
      </p:sp>
      <p:sp>
        <p:nvSpPr>
          <p:cNvPr id="14" name="Shape 12"/>
          <p:cNvSpPr/>
          <p:nvPr/>
        </p:nvSpPr>
        <p:spPr>
          <a:xfrm>
            <a:off x="566928" y="4480560"/>
            <a:ext cx="11064240" cy="1691640"/>
          </a:xfrm>
          <a:prstGeom prst="roundRect">
            <a:avLst>
              <a:gd name="adj" fmla="val 7568"/>
            </a:avLst>
          </a:prstGeom>
          <a:solidFill>
            <a:srgbClr val="141B3E"/>
          </a:solidFill>
          <a:ln/>
        </p:spPr>
      </p:sp>
      <p:sp>
        <p:nvSpPr>
          <p:cNvPr id="15" name="Text 13"/>
          <p:cNvSpPr/>
          <p:nvPr/>
        </p:nvSpPr>
        <p:spPr>
          <a:xfrm>
            <a:off x="914400" y="4617720"/>
            <a:ext cx="10332720" cy="91440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The cutoff is total GPU queue depth, not the selfie queue’s own depth. The selfie queue can be nearly empty while an import has thousands of faces queued ahead of it on the same GPU — total depth is the only honest signal for whether an estimate means anything.</a:t>
            </a:r>
            <a:endParaRPr lang="en-US" sz="1500" dirty="0"/>
          </a:p>
        </p:txBody>
      </p:sp>
      <p:sp>
        <p:nvSpPr>
          <p:cNvPr id="16" name="Text 14"/>
          <p:cNvSpPr/>
          <p:nvPr/>
        </p:nvSpPr>
        <p:spPr>
          <a:xfrm>
            <a:off x="914400" y="5577840"/>
            <a:ext cx="10332720" cy="457200"/>
          </a:xfrm>
          <a:prstGeom prst="rect">
            <a:avLst/>
          </a:prstGeom>
          <a:noFill/>
          <a:ln/>
        </p:spPr>
        <p:txBody>
          <a:bodyPr wrap="square" lIns="0" tIns="0" rIns="0" bIns="0" rtlCol="0" anchor="ctr"/>
          <a:lstStyle/>
          <a:p>
            <a:pPr indent="0" marL="0">
              <a:buNone/>
            </a:pPr>
            <a:r>
              <a:rPr lang="en-US" sz="1500" b="1" i="1" dirty="0">
                <a:solidFill>
                  <a:srgbClr val="A9BEFF"/>
                </a:solidFill>
                <a:latin typeface="Arial" pitchFamily="34" charset="0"/>
                <a:ea typeface="Arial" pitchFamily="34" charset="-122"/>
                <a:cs typeface="Arial" pitchFamily="34" charset="-120"/>
              </a:rPr>
              <a:t>Cost optimisation was not a setting bolted on at the end. It changed the queue design, the deploy topology, and the words on the page.</a:t>
            </a:r>
            <a:endParaRPr lang="en-US" sz="15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3DD68C"/>
                </a:solidFill>
                <a:latin typeface="Arial" pitchFamily="34" charset="0"/>
                <a:ea typeface="Arial" pitchFamily="34" charset="-122"/>
                <a:cs typeface="Arial" pitchFamily="34" charset="-120"/>
              </a:rPr>
              <a:t>MEASURED, NOT CLAIMED</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we can actually prove</a:t>
            </a:r>
            <a:endParaRPr lang="en-US" sz="3400" dirty="0"/>
          </a:p>
        </p:txBody>
      </p:sp>
      <p:sp>
        <p:nvSpPr>
          <p:cNvPr id="4" name="Shape 2"/>
          <p:cNvSpPr/>
          <p:nvPr/>
        </p:nvSpPr>
        <p:spPr>
          <a:xfrm>
            <a:off x="566928" y="1554480"/>
            <a:ext cx="3520440" cy="2011680"/>
          </a:xfrm>
          <a:prstGeom prst="roundRect">
            <a:avLst>
              <a:gd name="adj" fmla="val 6364"/>
            </a:avLst>
          </a:prstGeom>
          <a:solidFill>
            <a:srgbClr val="1A2350"/>
          </a:solidFill>
          <a:ln/>
        </p:spPr>
      </p:sp>
      <p:sp>
        <p:nvSpPr>
          <p:cNvPr id="5" name="Text 3"/>
          <p:cNvSpPr/>
          <p:nvPr/>
        </p:nvSpPr>
        <p:spPr>
          <a:xfrm>
            <a:off x="566928" y="1691640"/>
            <a:ext cx="3520440" cy="914400"/>
          </a:xfrm>
          <a:prstGeom prst="rect">
            <a:avLst/>
          </a:prstGeom>
          <a:noFill/>
          <a:ln/>
        </p:spPr>
        <p:txBody>
          <a:bodyPr wrap="square" lIns="0" tIns="0" rIns="0" bIns="0" rtlCol="0" anchor="ctr"/>
          <a:lstStyle/>
          <a:p>
            <a:pPr algn="ctr" indent="0" marL="0">
              <a:buNone/>
            </a:pPr>
            <a:r>
              <a:rPr lang="en-US" sz="4600" b="1" dirty="0">
                <a:solidFill>
                  <a:srgbClr val="3DD68C"/>
                </a:solidFill>
                <a:latin typeface="Cambria" pitchFamily="34" charset="0"/>
                <a:ea typeface="Cambria" pitchFamily="34" charset="-122"/>
                <a:cs typeface="Cambria" pitchFamily="34" charset="-120"/>
              </a:rPr>
              <a:t>13.7s</a:t>
            </a:r>
            <a:endParaRPr lang="en-US" sz="4600" dirty="0"/>
          </a:p>
        </p:txBody>
      </p:sp>
      <p:sp>
        <p:nvSpPr>
          <p:cNvPr id="6" name="Text 4"/>
          <p:cNvSpPr/>
          <p:nvPr/>
        </p:nvSpPr>
        <p:spPr>
          <a:xfrm>
            <a:off x="84124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to rematch 10,000 faces across 500 participants</a:t>
            </a:r>
            <a:endParaRPr lang="en-US" sz="1300" dirty="0"/>
          </a:p>
        </p:txBody>
      </p:sp>
      <p:sp>
        <p:nvSpPr>
          <p:cNvPr id="7" name="Shape 5"/>
          <p:cNvSpPr/>
          <p:nvPr/>
        </p:nvSpPr>
        <p:spPr>
          <a:xfrm>
            <a:off x="4270248" y="1554480"/>
            <a:ext cx="3520440" cy="2011680"/>
          </a:xfrm>
          <a:prstGeom prst="roundRect">
            <a:avLst>
              <a:gd name="adj" fmla="val 6364"/>
            </a:avLst>
          </a:prstGeom>
          <a:solidFill>
            <a:srgbClr val="1A2350"/>
          </a:solidFill>
          <a:ln/>
        </p:spPr>
      </p:sp>
      <p:sp>
        <p:nvSpPr>
          <p:cNvPr id="8" name="Text 6"/>
          <p:cNvSpPr/>
          <p:nvPr/>
        </p:nvSpPr>
        <p:spPr>
          <a:xfrm>
            <a:off x="4270248" y="1691640"/>
            <a:ext cx="3520440" cy="914400"/>
          </a:xfrm>
          <a:prstGeom prst="rect">
            <a:avLst/>
          </a:prstGeom>
          <a:noFill/>
          <a:ln/>
        </p:spPr>
        <p:txBody>
          <a:bodyPr wrap="square" lIns="0" tIns="0" rIns="0" bIns="0" rtlCol="0" anchor="ctr"/>
          <a:lstStyle/>
          <a:p>
            <a:pPr algn="ctr" indent="0" marL="0">
              <a:buNone/>
            </a:pPr>
            <a:r>
              <a:rPr lang="en-US" sz="4600" b="1" dirty="0">
                <a:solidFill>
                  <a:srgbClr val="3DD68C"/>
                </a:solidFill>
                <a:latin typeface="Cambria" pitchFamily="34" charset="0"/>
                <a:ea typeface="Cambria" pitchFamily="34" charset="-122"/>
                <a:cs typeface="Cambria" pitchFamily="34" charset="-120"/>
              </a:rPr>
              <a:t>0</a:t>
            </a:r>
            <a:endParaRPr lang="en-US" sz="4600" dirty="0"/>
          </a:p>
        </p:txBody>
      </p:sp>
      <p:sp>
        <p:nvSpPr>
          <p:cNvPr id="9" name="Text 7"/>
          <p:cNvSpPr/>
          <p:nvPr/>
        </p:nvSpPr>
        <p:spPr>
          <a:xfrm>
            <a:off x="454456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duplicate persons, and zero cross-identity matches</a:t>
            </a:r>
            <a:endParaRPr lang="en-US" sz="1300" dirty="0"/>
          </a:p>
        </p:txBody>
      </p:sp>
      <p:sp>
        <p:nvSpPr>
          <p:cNvPr id="10" name="Shape 8"/>
          <p:cNvSpPr/>
          <p:nvPr/>
        </p:nvSpPr>
        <p:spPr>
          <a:xfrm>
            <a:off x="7973568" y="1554480"/>
            <a:ext cx="3520440" cy="2011680"/>
          </a:xfrm>
          <a:prstGeom prst="roundRect">
            <a:avLst>
              <a:gd name="adj" fmla="val 6364"/>
            </a:avLst>
          </a:prstGeom>
          <a:solidFill>
            <a:srgbClr val="1A2350"/>
          </a:solidFill>
          <a:ln/>
        </p:spPr>
      </p:sp>
      <p:sp>
        <p:nvSpPr>
          <p:cNvPr id="11" name="Text 9"/>
          <p:cNvSpPr/>
          <p:nvPr/>
        </p:nvSpPr>
        <p:spPr>
          <a:xfrm>
            <a:off x="7973568" y="1691640"/>
            <a:ext cx="3520440" cy="914400"/>
          </a:xfrm>
          <a:prstGeom prst="rect">
            <a:avLst/>
          </a:prstGeom>
          <a:noFill/>
          <a:ln/>
        </p:spPr>
        <p:txBody>
          <a:bodyPr wrap="square" lIns="0" tIns="0" rIns="0" bIns="0" rtlCol="0" anchor="ctr"/>
          <a:lstStyle/>
          <a:p>
            <a:pPr algn="ctr" indent="0" marL="0">
              <a:buNone/>
            </a:pPr>
            <a:r>
              <a:rPr lang="en-US" sz="4600" b="1" dirty="0">
                <a:solidFill>
                  <a:srgbClr val="4C6FFF"/>
                </a:solidFill>
                <a:latin typeface="Cambria" pitchFamily="34" charset="0"/>
                <a:ea typeface="Cambria" pitchFamily="34" charset="-122"/>
                <a:cs typeface="Cambria" pitchFamily="34" charset="-120"/>
              </a:rPr>
              <a:t>79 / 11</a:t>
            </a:r>
            <a:endParaRPr lang="en-US" sz="4600" dirty="0"/>
          </a:p>
        </p:txBody>
      </p:sp>
      <p:sp>
        <p:nvSpPr>
          <p:cNvPr id="12" name="Text 10"/>
          <p:cNvSpPr/>
          <p:nvPr/>
        </p:nvSpPr>
        <p:spPr>
          <a:xfrm>
            <a:off x="8247888" y="2651760"/>
            <a:ext cx="2971800" cy="777240"/>
          </a:xfrm>
          <a:prstGeom prst="rect">
            <a:avLst/>
          </a:prstGeom>
          <a:noFill/>
          <a:ln/>
        </p:spPr>
        <p:txBody>
          <a:bodyPr wrap="square" lIns="0" tIns="0" rIns="0" bIns="0" rtlCol="0" anchor="ctr"/>
          <a:lstStyle/>
          <a:p>
            <a:pPr algn="ctr" indent="0" marL="0">
              <a:buNone/>
            </a:pPr>
            <a:r>
              <a:rPr lang="en-US" sz="1300" dirty="0">
                <a:solidFill>
                  <a:srgbClr val="8A93B8"/>
                </a:solidFill>
                <a:latin typeface="Arial" pitchFamily="34" charset="0"/>
                <a:ea typeface="Arial" pitchFamily="34" charset="-122"/>
                <a:cs typeface="Arial" pitchFamily="34" charset="-120"/>
              </a:rPr>
              <a:t>faces found and sensible clusters, on real photos</a:t>
            </a:r>
            <a:endParaRPr lang="en-US" sz="1300" dirty="0"/>
          </a:p>
        </p:txBody>
      </p:sp>
      <p:sp>
        <p:nvSpPr>
          <p:cNvPr id="13" name="Shape 11"/>
          <p:cNvSpPr/>
          <p:nvPr/>
        </p:nvSpPr>
        <p:spPr>
          <a:xfrm>
            <a:off x="566928" y="3886200"/>
            <a:ext cx="5394960" cy="2194560"/>
          </a:xfrm>
          <a:prstGeom prst="roundRect">
            <a:avLst>
              <a:gd name="adj" fmla="val 5833"/>
            </a:avLst>
          </a:prstGeom>
          <a:solidFill>
            <a:srgbClr val="141B3E"/>
          </a:solidFill>
          <a:ln w="25400">
            <a:solidFill>
              <a:srgbClr val="33407F"/>
            </a:solidFill>
            <a:prstDash val="solid"/>
          </a:ln>
        </p:spPr>
      </p:sp>
      <p:sp>
        <p:nvSpPr>
          <p:cNvPr id="14" name="Text 12"/>
          <p:cNvSpPr/>
          <p:nvPr/>
        </p:nvSpPr>
        <p:spPr>
          <a:xfrm>
            <a:off x="868680" y="4069080"/>
            <a:ext cx="4846320" cy="320040"/>
          </a:xfrm>
          <a:prstGeom prst="rect">
            <a:avLst/>
          </a:prstGeom>
          <a:noFill/>
          <a:ln/>
        </p:spPr>
        <p:txBody>
          <a:bodyPr wrap="square" lIns="0" tIns="0" rIns="0" bIns="0" rtlCol="0" anchor="ctr"/>
          <a:lstStyle/>
          <a:p>
            <a:pPr indent="0" marL="0">
              <a:buNone/>
            </a:pPr>
            <a:r>
              <a:rPr lang="en-US" sz="1500" b="1" dirty="0">
                <a:solidFill>
                  <a:srgbClr val="A9BEFF"/>
                </a:solidFill>
                <a:latin typeface="Arial" pitchFamily="34" charset="0"/>
                <a:ea typeface="Arial" pitchFamily="34" charset="-122"/>
                <a:cs typeface="Arial" pitchFamily="34" charset="-120"/>
              </a:rPr>
              <a:t>And the GPU?</a:t>
            </a:r>
            <a:endParaRPr lang="en-US" sz="1500" dirty="0"/>
          </a:p>
        </p:txBody>
      </p:sp>
      <p:sp>
        <p:nvSpPr>
          <p:cNvPr id="15" name="Text 13"/>
          <p:cNvSpPr/>
          <p:nvPr/>
        </p:nvSpPr>
        <p:spPr>
          <a:xfrm>
            <a:off x="868680" y="4434840"/>
            <a:ext cx="4846320" cy="1463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Up during ingest bursts, paused the rest of the time, with the pause visible on the admin panel alongside what the provider itself reports — because the two disagreeing is the expensive case.</a:t>
            </a:r>
            <a:endParaRPr lang="en-US" sz="1400" dirty="0"/>
          </a:p>
        </p:txBody>
      </p:sp>
      <p:sp>
        <p:nvSpPr>
          <p:cNvPr id="16" name="Shape 14"/>
          <p:cNvSpPr/>
          <p:nvPr/>
        </p:nvSpPr>
        <p:spPr>
          <a:xfrm>
            <a:off x="6236208" y="3886200"/>
            <a:ext cx="5394960" cy="2194560"/>
          </a:xfrm>
          <a:prstGeom prst="roundRect">
            <a:avLst>
              <a:gd name="adj" fmla="val 5833"/>
            </a:avLst>
          </a:prstGeom>
          <a:solidFill>
            <a:srgbClr val="141B3E"/>
          </a:solidFill>
          <a:ln w="25400">
            <a:solidFill>
              <a:srgbClr val="FFB020"/>
            </a:solidFill>
            <a:prstDash val="solid"/>
          </a:ln>
        </p:spPr>
      </p:sp>
      <p:sp>
        <p:nvSpPr>
          <p:cNvPr id="17" name="Text 15"/>
          <p:cNvSpPr/>
          <p:nvPr/>
        </p:nvSpPr>
        <p:spPr>
          <a:xfrm>
            <a:off x="6537960" y="4069080"/>
            <a:ext cx="4846320" cy="32004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What is honestly not done</a:t>
            </a:r>
            <a:endParaRPr lang="en-US" sz="1500" dirty="0"/>
          </a:p>
        </p:txBody>
      </p:sp>
      <p:sp>
        <p:nvSpPr>
          <p:cNvPr id="18" name="Text 16"/>
          <p:cNvSpPr/>
          <p:nvPr/>
        </p:nvSpPr>
        <p:spPr>
          <a:xfrm>
            <a:off x="6537960" y="4434840"/>
            <a:ext cx="4846320" cy="1463040"/>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Live OAuth for the cloud imports is still unverified, and the multi-VM deploy has never been run on real VMs — only in compose. Browser-level UI testing is still API-level only.</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219456"/>
            <a:ext cx="11064240" cy="274320"/>
          </a:xfrm>
          <a:prstGeom prst="rect">
            <a:avLst/>
          </a:prstGeom>
          <a:noFill/>
          <a:ln/>
        </p:spPr>
        <p:txBody>
          <a:bodyPr wrap="square" lIns="0" tIns="0" rIns="0" bIns="0" rtlCol="0" anchor="ctr"/>
          <a:lstStyle/>
          <a:p>
            <a:pPr indent="0" marL="0">
              <a:buNone/>
            </a:pPr>
            <a:r>
              <a:rPr lang="en-US" sz="1300" b="1" spc="150" kern="0" dirty="0">
                <a:solidFill>
                  <a:srgbClr val="8A93B8"/>
                </a:solidFill>
                <a:latin typeface="Arial" pitchFamily="34" charset="0"/>
                <a:ea typeface="Arial" pitchFamily="34" charset="-122"/>
                <a:cs typeface="Arial" pitchFamily="34" charset="-120"/>
              </a:rPr>
              <a:t>TAKE THESE HOME</a:t>
            </a:r>
            <a:endParaRPr lang="en-US" sz="1300" dirty="0"/>
          </a:p>
        </p:txBody>
      </p:sp>
      <p:sp>
        <p:nvSpPr>
          <p:cNvPr id="3" name="Text 1"/>
          <p:cNvSpPr/>
          <p:nvPr/>
        </p:nvSpPr>
        <p:spPr>
          <a:xfrm>
            <a:off x="566928" y="384048"/>
            <a:ext cx="1106424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Six rules that outlive this project</a:t>
            </a:r>
            <a:endParaRPr lang="en-US" sz="3400" dirty="0"/>
          </a:p>
        </p:txBody>
      </p:sp>
      <p:sp>
        <p:nvSpPr>
          <p:cNvPr id="4" name="Shape 2"/>
          <p:cNvSpPr/>
          <p:nvPr/>
        </p:nvSpPr>
        <p:spPr>
          <a:xfrm>
            <a:off x="566928" y="1463040"/>
            <a:ext cx="11064240" cy="713232"/>
          </a:xfrm>
          <a:prstGeom prst="roundRect">
            <a:avLst>
              <a:gd name="adj" fmla="val 12821"/>
            </a:avLst>
          </a:prstGeom>
          <a:solidFill>
            <a:srgbClr val="1A2350"/>
          </a:solidFill>
          <a:ln/>
        </p:spPr>
      </p:sp>
      <p:sp>
        <p:nvSpPr>
          <p:cNvPr id="5" name="Shape 3"/>
          <p:cNvSpPr/>
          <p:nvPr/>
        </p:nvSpPr>
        <p:spPr>
          <a:xfrm>
            <a:off x="822960" y="1618488"/>
            <a:ext cx="402336" cy="402336"/>
          </a:xfrm>
          <a:prstGeom prst="ellipse">
            <a:avLst/>
          </a:prstGeom>
          <a:solidFill>
            <a:srgbClr val="FFB020"/>
          </a:solidFill>
          <a:ln/>
        </p:spPr>
      </p:sp>
      <p:sp>
        <p:nvSpPr>
          <p:cNvPr id="6" name="Text 4"/>
          <p:cNvSpPr/>
          <p:nvPr/>
        </p:nvSpPr>
        <p:spPr>
          <a:xfrm>
            <a:off x="822960" y="161848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63040" y="146304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Use the pretrained model. The interesting engineering is almost never inside it.</a:t>
            </a:r>
            <a:endParaRPr lang="en-US" sz="1500" dirty="0"/>
          </a:p>
        </p:txBody>
      </p:sp>
      <p:sp>
        <p:nvSpPr>
          <p:cNvPr id="8" name="Shape 6"/>
          <p:cNvSpPr/>
          <p:nvPr/>
        </p:nvSpPr>
        <p:spPr>
          <a:xfrm>
            <a:off x="566928" y="2286000"/>
            <a:ext cx="11064240" cy="713232"/>
          </a:xfrm>
          <a:prstGeom prst="roundRect">
            <a:avLst>
              <a:gd name="adj" fmla="val 12821"/>
            </a:avLst>
          </a:prstGeom>
          <a:solidFill>
            <a:srgbClr val="1A2350"/>
          </a:solidFill>
          <a:ln/>
        </p:spPr>
      </p:sp>
      <p:sp>
        <p:nvSpPr>
          <p:cNvPr id="9" name="Shape 7"/>
          <p:cNvSpPr/>
          <p:nvPr/>
        </p:nvSpPr>
        <p:spPr>
          <a:xfrm>
            <a:off x="822960" y="2441448"/>
            <a:ext cx="402336" cy="402336"/>
          </a:xfrm>
          <a:prstGeom prst="ellipse">
            <a:avLst/>
          </a:prstGeom>
          <a:solidFill>
            <a:srgbClr val="A9BEFF"/>
          </a:solidFill>
          <a:ln/>
        </p:spPr>
      </p:sp>
      <p:sp>
        <p:nvSpPr>
          <p:cNvPr id="10" name="Text 8"/>
          <p:cNvSpPr/>
          <p:nvPr/>
        </p:nvSpPr>
        <p:spPr>
          <a:xfrm>
            <a:off x="822960" y="244144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63040" y="228600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Remove variation before the model — alignment buys you capacity you would otherwise waste.</a:t>
            </a:r>
            <a:endParaRPr lang="en-US" sz="1500" dirty="0"/>
          </a:p>
        </p:txBody>
      </p:sp>
      <p:sp>
        <p:nvSpPr>
          <p:cNvPr id="12" name="Shape 10"/>
          <p:cNvSpPr/>
          <p:nvPr/>
        </p:nvSpPr>
        <p:spPr>
          <a:xfrm>
            <a:off x="566928" y="3108960"/>
            <a:ext cx="11064240" cy="713232"/>
          </a:xfrm>
          <a:prstGeom prst="roundRect">
            <a:avLst>
              <a:gd name="adj" fmla="val 12821"/>
            </a:avLst>
          </a:prstGeom>
          <a:solidFill>
            <a:srgbClr val="1A2350"/>
          </a:solidFill>
          <a:ln/>
        </p:spPr>
      </p:sp>
      <p:sp>
        <p:nvSpPr>
          <p:cNvPr id="13" name="Shape 11"/>
          <p:cNvSpPr/>
          <p:nvPr/>
        </p:nvSpPr>
        <p:spPr>
          <a:xfrm>
            <a:off x="822960" y="3264408"/>
            <a:ext cx="402336" cy="402336"/>
          </a:xfrm>
          <a:prstGeom prst="ellipse">
            <a:avLst/>
          </a:prstGeom>
          <a:solidFill>
            <a:srgbClr val="FF7AA8"/>
          </a:solidFill>
          <a:ln/>
        </p:spPr>
      </p:sp>
      <p:sp>
        <p:nvSpPr>
          <p:cNvPr id="14" name="Text 12"/>
          <p:cNvSpPr/>
          <p:nvPr/>
        </p:nvSpPr>
        <p:spPr>
          <a:xfrm>
            <a:off x="822960" y="326440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63040" y="310896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When two failure modes cost different amounts, let the cheaper failure set your default.</a:t>
            </a:r>
            <a:endParaRPr lang="en-US" sz="1500" dirty="0"/>
          </a:p>
        </p:txBody>
      </p:sp>
      <p:sp>
        <p:nvSpPr>
          <p:cNvPr id="16" name="Shape 14"/>
          <p:cNvSpPr/>
          <p:nvPr/>
        </p:nvSpPr>
        <p:spPr>
          <a:xfrm>
            <a:off x="566928" y="3931920"/>
            <a:ext cx="11064240" cy="713232"/>
          </a:xfrm>
          <a:prstGeom prst="roundRect">
            <a:avLst>
              <a:gd name="adj" fmla="val 12821"/>
            </a:avLst>
          </a:prstGeom>
          <a:solidFill>
            <a:srgbClr val="1A2350"/>
          </a:solidFill>
          <a:ln/>
        </p:spPr>
      </p:sp>
      <p:sp>
        <p:nvSpPr>
          <p:cNvPr id="17" name="Shape 15"/>
          <p:cNvSpPr/>
          <p:nvPr/>
        </p:nvSpPr>
        <p:spPr>
          <a:xfrm>
            <a:off x="822960" y="4087368"/>
            <a:ext cx="402336" cy="402336"/>
          </a:xfrm>
          <a:prstGeom prst="ellipse">
            <a:avLst/>
          </a:prstGeom>
          <a:solidFill>
            <a:srgbClr val="4C6FFF"/>
          </a:solidFill>
          <a:ln/>
        </p:spPr>
      </p:sp>
      <p:sp>
        <p:nvSpPr>
          <p:cNvPr id="18" name="Text 16"/>
          <p:cNvSpPr/>
          <p:nvPr/>
        </p:nvSpPr>
        <p:spPr>
          <a:xfrm>
            <a:off x="822960" y="408736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63040" y="393192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Queues are what let you turn expensive things off.</a:t>
            </a:r>
            <a:endParaRPr lang="en-US" sz="1500" dirty="0"/>
          </a:p>
        </p:txBody>
      </p:sp>
      <p:sp>
        <p:nvSpPr>
          <p:cNvPr id="20" name="Shape 18"/>
          <p:cNvSpPr/>
          <p:nvPr/>
        </p:nvSpPr>
        <p:spPr>
          <a:xfrm>
            <a:off x="566928" y="4754880"/>
            <a:ext cx="11064240" cy="713232"/>
          </a:xfrm>
          <a:prstGeom prst="roundRect">
            <a:avLst>
              <a:gd name="adj" fmla="val 12821"/>
            </a:avLst>
          </a:prstGeom>
          <a:solidFill>
            <a:srgbClr val="1A2350"/>
          </a:solidFill>
          <a:ln/>
        </p:spPr>
      </p:sp>
      <p:sp>
        <p:nvSpPr>
          <p:cNvPr id="21" name="Shape 19"/>
          <p:cNvSpPr/>
          <p:nvPr/>
        </p:nvSpPr>
        <p:spPr>
          <a:xfrm>
            <a:off x="822960" y="4910328"/>
            <a:ext cx="402336" cy="402336"/>
          </a:xfrm>
          <a:prstGeom prst="ellipse">
            <a:avLst/>
          </a:prstGeom>
          <a:solidFill>
            <a:srgbClr val="3DD68C"/>
          </a:solidFill>
          <a:ln/>
        </p:spPr>
      </p:sp>
      <p:sp>
        <p:nvSpPr>
          <p:cNvPr id="22" name="Text 20"/>
          <p:cNvSpPr/>
          <p:nvPr/>
        </p:nvSpPr>
        <p:spPr>
          <a:xfrm>
            <a:off x="822960" y="491032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5</a:t>
            </a:r>
            <a:endParaRPr lang="en-US" sz="1500" dirty="0"/>
          </a:p>
        </p:txBody>
      </p:sp>
      <p:sp>
        <p:nvSpPr>
          <p:cNvPr id="23" name="Text 21"/>
          <p:cNvSpPr/>
          <p:nvPr/>
        </p:nvSpPr>
        <p:spPr>
          <a:xfrm>
            <a:off x="1463040" y="475488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Make the expensive resource fail closed, and let it kill itself rather than trusting someone else to.</a:t>
            </a:r>
            <a:endParaRPr lang="en-US" sz="1500" dirty="0"/>
          </a:p>
        </p:txBody>
      </p:sp>
      <p:sp>
        <p:nvSpPr>
          <p:cNvPr id="24" name="Shape 22"/>
          <p:cNvSpPr/>
          <p:nvPr/>
        </p:nvSpPr>
        <p:spPr>
          <a:xfrm>
            <a:off x="566928" y="5577840"/>
            <a:ext cx="11064240" cy="713232"/>
          </a:xfrm>
          <a:prstGeom prst="roundRect">
            <a:avLst>
              <a:gd name="adj" fmla="val 12821"/>
            </a:avLst>
          </a:prstGeom>
          <a:solidFill>
            <a:srgbClr val="1A2350"/>
          </a:solidFill>
          <a:ln/>
        </p:spPr>
      </p:sp>
      <p:sp>
        <p:nvSpPr>
          <p:cNvPr id="25" name="Shape 23"/>
          <p:cNvSpPr/>
          <p:nvPr/>
        </p:nvSpPr>
        <p:spPr>
          <a:xfrm>
            <a:off x="822960" y="5733288"/>
            <a:ext cx="402336" cy="402336"/>
          </a:xfrm>
          <a:prstGeom prst="ellipse">
            <a:avLst/>
          </a:prstGeom>
          <a:solidFill>
            <a:srgbClr val="FFB020"/>
          </a:solidFill>
          <a:ln/>
        </p:spPr>
      </p:sp>
      <p:sp>
        <p:nvSpPr>
          <p:cNvPr id="26" name="Text 24"/>
          <p:cNvSpPr/>
          <p:nvPr/>
        </p:nvSpPr>
        <p:spPr>
          <a:xfrm>
            <a:off x="822960" y="5733288"/>
            <a:ext cx="402336" cy="402336"/>
          </a:xfrm>
          <a:prstGeom prst="rect">
            <a:avLst/>
          </a:prstGeom>
          <a:noFill/>
          <a:ln/>
        </p:spPr>
        <p:txBody>
          <a:bodyPr wrap="square" lIns="0" tIns="0" rIns="0" bIns="0" rtlCol="0" anchor="ctr"/>
          <a:lstStyle/>
          <a:p>
            <a:pPr algn="ctr" indent="0" marL="0">
              <a:buNone/>
            </a:pPr>
            <a:r>
              <a:rPr lang="en-US" sz="1500" b="1" dirty="0">
                <a:solidFill>
                  <a:srgbClr val="11162E"/>
                </a:solidFill>
                <a:latin typeface="Arial" pitchFamily="34" charset="0"/>
                <a:ea typeface="Arial" pitchFamily="34" charset="-122"/>
                <a:cs typeface="Arial" pitchFamily="34" charset="-120"/>
              </a:rPr>
              <a:t>6</a:t>
            </a:r>
            <a:endParaRPr lang="en-US" sz="1500" dirty="0"/>
          </a:p>
        </p:txBody>
      </p:sp>
      <p:sp>
        <p:nvSpPr>
          <p:cNvPr id="27" name="Text 25"/>
          <p:cNvSpPr/>
          <p:nvPr/>
        </p:nvSpPr>
        <p:spPr>
          <a:xfrm>
            <a:off x="1463040" y="5577840"/>
            <a:ext cx="9966960" cy="713232"/>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Privacy rules belong in tests, not comments.</a:t>
            </a:r>
            <a:endParaRPr lang="en-US" sz="1500" dirty="0"/>
          </a:p>
        </p:txBody>
      </p:sp>
      <p:sp>
        <p:nvSpPr>
          <p:cNvPr id="28" name="Text 26"/>
          <p:cNvSpPr/>
          <p:nvPr/>
        </p:nvSpPr>
        <p:spPr>
          <a:xfrm>
            <a:off x="566928" y="6400800"/>
            <a:ext cx="11064240" cy="365760"/>
          </a:xfrm>
          <a:prstGeom prst="rect">
            <a:avLst/>
          </a:prstGeom>
          <a:noFill/>
          <a:ln/>
        </p:spPr>
        <p:txBody>
          <a:bodyPr wrap="square" lIns="0" tIns="0" rIns="0" bIns="0" rtlCol="0" anchor="ctr"/>
          <a:lstStyle/>
          <a:p>
            <a:pPr indent="0" marL="0">
              <a:buNone/>
            </a:pPr>
            <a:r>
              <a:rPr lang="en-US" sz="1400" i="1" dirty="0">
                <a:solidFill>
                  <a:srgbClr val="8A93B8"/>
                </a:solidFill>
                <a:latin typeface="Arial" pitchFamily="34" charset="0"/>
                <a:ea typeface="Arial" pitchFamily="34" charset="-122"/>
                <a:cs typeface="Arial" pitchFamily="34" charset="-120"/>
              </a:rPr>
              <a:t>Only two of these are about machine learning. The rest are about running something you cannot afford to leave switched on.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E1330"/>
        </a:solidFill>
      </p:bgPr>
    </p:bg>
    <p:spTree>
      <p:nvGrpSpPr>
        <p:cNvPr id="1" name=""/>
        <p:cNvGrpSpPr/>
        <p:nvPr/>
      </p:nvGrpSpPr>
      <p:grpSpPr>
        <a:xfrm>
          <a:off x="0" y="0"/>
          <a:ext cx="0" cy="0"/>
          <a:chOff x="0" y="0"/>
          <a:chExt cx="0" cy="0"/>
        </a:xfrm>
      </p:grpSpPr>
      <p:sp>
        <p:nvSpPr>
          <p:cNvPr id="2" name="Text 0"/>
          <p:cNvSpPr/>
          <p:nvPr/>
        </p:nvSpPr>
        <p:spPr>
          <a:xfrm>
            <a:off x="566928" y="1188720"/>
            <a:ext cx="105156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Questions</a:t>
            </a:r>
            <a:endParaRPr lang="en-US" sz="5400" dirty="0"/>
          </a:p>
        </p:txBody>
      </p:sp>
      <p:sp>
        <p:nvSpPr>
          <p:cNvPr id="3" name="Text 1"/>
          <p:cNvSpPr/>
          <p:nvPr/>
        </p:nvSpPr>
        <p:spPr>
          <a:xfrm>
            <a:off x="566928" y="2286000"/>
            <a:ext cx="10515600" cy="411480"/>
          </a:xfrm>
          <a:prstGeom prst="rect">
            <a:avLst/>
          </a:prstGeom>
          <a:noFill/>
          <a:ln/>
        </p:spPr>
        <p:txBody>
          <a:bodyPr wrap="square" lIns="0" tIns="0" rIns="0" bIns="0" rtlCol="0" anchor="ctr"/>
          <a:lstStyle/>
          <a:p>
            <a:pPr indent="0" marL="0">
              <a:buNone/>
            </a:pPr>
            <a:r>
              <a:rPr lang="en-US" sz="1700" dirty="0">
                <a:solidFill>
                  <a:srgbClr val="A9BEFF"/>
                </a:solidFill>
                <a:latin typeface="Arial" pitchFamily="34" charset="0"/>
                <a:ea typeface="Arial" pitchFamily="34" charset="-122"/>
                <a:cs typeface="Arial" pitchFamily="34" charset="-120"/>
              </a:rPr>
              <a:t>The ones that always come up:</a:t>
            </a:r>
            <a:endParaRPr lang="en-US" sz="1700" dirty="0"/>
          </a:p>
        </p:txBody>
      </p:sp>
      <p:sp>
        <p:nvSpPr>
          <p:cNvPr id="4" name="Shape 2"/>
          <p:cNvSpPr/>
          <p:nvPr/>
        </p:nvSpPr>
        <p:spPr>
          <a:xfrm>
            <a:off x="566928" y="2788920"/>
            <a:ext cx="5394960" cy="841248"/>
          </a:xfrm>
          <a:prstGeom prst="roundRect">
            <a:avLst>
              <a:gd name="adj" fmla="val 13043"/>
            </a:avLst>
          </a:prstGeom>
          <a:solidFill>
            <a:srgbClr val="1A2350"/>
          </a:solidFill>
          <a:ln w="19050">
            <a:solidFill>
              <a:srgbClr val="33407F"/>
            </a:solidFill>
            <a:prstDash val="solid"/>
          </a:ln>
        </p:spPr>
      </p:sp>
      <p:sp>
        <p:nvSpPr>
          <p:cNvPr id="5" name="Text 3"/>
          <p:cNvSpPr/>
          <p:nvPr/>
        </p:nvSpPr>
        <p:spPr>
          <a:xfrm>
            <a:off x="886968" y="278892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Did you train any of the models yourself?</a:t>
            </a:r>
            <a:endParaRPr lang="en-US" sz="1400" dirty="0"/>
          </a:p>
        </p:txBody>
      </p:sp>
      <p:sp>
        <p:nvSpPr>
          <p:cNvPr id="6" name="Shape 4"/>
          <p:cNvSpPr/>
          <p:nvPr/>
        </p:nvSpPr>
        <p:spPr>
          <a:xfrm>
            <a:off x="6236208" y="2788920"/>
            <a:ext cx="5394960" cy="841248"/>
          </a:xfrm>
          <a:prstGeom prst="roundRect">
            <a:avLst>
              <a:gd name="adj" fmla="val 13043"/>
            </a:avLst>
          </a:prstGeom>
          <a:solidFill>
            <a:srgbClr val="1A2350"/>
          </a:solidFill>
          <a:ln w="19050">
            <a:solidFill>
              <a:srgbClr val="33407F"/>
            </a:solidFill>
            <a:prstDash val="solid"/>
          </a:ln>
        </p:spPr>
      </p:sp>
      <p:sp>
        <p:nvSpPr>
          <p:cNvPr id="7" name="Text 5"/>
          <p:cNvSpPr/>
          <p:nvPr/>
        </p:nvSpPr>
        <p:spPr>
          <a:xfrm>
            <a:off x="6556248" y="278892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Can you get the face back from the 512 numbers?</a:t>
            </a:r>
            <a:endParaRPr lang="en-US" sz="1400" dirty="0"/>
          </a:p>
        </p:txBody>
      </p:sp>
      <p:sp>
        <p:nvSpPr>
          <p:cNvPr id="8" name="Shape 6"/>
          <p:cNvSpPr/>
          <p:nvPr/>
        </p:nvSpPr>
        <p:spPr>
          <a:xfrm>
            <a:off x="566928" y="3794760"/>
            <a:ext cx="5394960" cy="841248"/>
          </a:xfrm>
          <a:prstGeom prst="roundRect">
            <a:avLst>
              <a:gd name="adj" fmla="val 13043"/>
            </a:avLst>
          </a:prstGeom>
          <a:solidFill>
            <a:srgbClr val="1A2350"/>
          </a:solidFill>
          <a:ln w="19050">
            <a:solidFill>
              <a:srgbClr val="33407F"/>
            </a:solidFill>
            <a:prstDash val="solid"/>
          </a:ln>
        </p:spPr>
      </p:sp>
      <p:sp>
        <p:nvSpPr>
          <p:cNvPr id="9" name="Text 7"/>
          <p:cNvSpPr/>
          <p:nvPr/>
        </p:nvSpPr>
        <p:spPr>
          <a:xfrm>
            <a:off x="886968" y="379476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What happens with identical twins?</a:t>
            </a:r>
            <a:endParaRPr lang="en-US" sz="1400" dirty="0"/>
          </a:p>
        </p:txBody>
      </p:sp>
      <p:sp>
        <p:nvSpPr>
          <p:cNvPr id="10" name="Shape 8"/>
          <p:cNvSpPr/>
          <p:nvPr/>
        </p:nvSpPr>
        <p:spPr>
          <a:xfrm>
            <a:off x="6236208" y="3794760"/>
            <a:ext cx="5394960" cy="841248"/>
          </a:xfrm>
          <a:prstGeom prst="roundRect">
            <a:avLst>
              <a:gd name="adj" fmla="val 13043"/>
            </a:avLst>
          </a:prstGeom>
          <a:solidFill>
            <a:srgbClr val="1A2350"/>
          </a:solidFill>
          <a:ln w="19050">
            <a:solidFill>
              <a:srgbClr val="33407F"/>
            </a:solidFill>
            <a:prstDash val="solid"/>
          </a:ln>
        </p:spPr>
      </p:sp>
      <p:sp>
        <p:nvSpPr>
          <p:cNvPr id="11" name="Text 9"/>
          <p:cNvSpPr/>
          <p:nvPr/>
        </p:nvSpPr>
        <p:spPr>
          <a:xfrm>
            <a:off x="6556248" y="379476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Why 0.5 — where did that number come from?</a:t>
            </a:r>
            <a:endParaRPr lang="en-US" sz="1400" dirty="0"/>
          </a:p>
        </p:txBody>
      </p:sp>
      <p:sp>
        <p:nvSpPr>
          <p:cNvPr id="12" name="Shape 10"/>
          <p:cNvSpPr/>
          <p:nvPr/>
        </p:nvSpPr>
        <p:spPr>
          <a:xfrm>
            <a:off x="566928" y="4800600"/>
            <a:ext cx="5394960" cy="841248"/>
          </a:xfrm>
          <a:prstGeom prst="roundRect">
            <a:avLst>
              <a:gd name="adj" fmla="val 13043"/>
            </a:avLst>
          </a:prstGeom>
          <a:solidFill>
            <a:srgbClr val="1A2350"/>
          </a:solidFill>
          <a:ln w="19050">
            <a:solidFill>
              <a:srgbClr val="33407F"/>
            </a:solidFill>
            <a:prstDash val="solid"/>
          </a:ln>
        </p:spPr>
      </p:sp>
      <p:sp>
        <p:nvSpPr>
          <p:cNvPr id="13" name="Text 11"/>
          <p:cNvSpPr/>
          <p:nvPr/>
        </p:nvSpPr>
        <p:spPr>
          <a:xfrm>
            <a:off x="886968" y="480060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Why not just run inference on CPU?</a:t>
            </a:r>
            <a:endParaRPr lang="en-US" sz="1400" dirty="0"/>
          </a:p>
        </p:txBody>
      </p:sp>
      <p:sp>
        <p:nvSpPr>
          <p:cNvPr id="14" name="Shape 12"/>
          <p:cNvSpPr/>
          <p:nvPr/>
        </p:nvSpPr>
        <p:spPr>
          <a:xfrm>
            <a:off x="6236208" y="4800600"/>
            <a:ext cx="5394960" cy="841248"/>
          </a:xfrm>
          <a:prstGeom prst="roundRect">
            <a:avLst>
              <a:gd name="adj" fmla="val 13043"/>
            </a:avLst>
          </a:prstGeom>
          <a:solidFill>
            <a:srgbClr val="1A2350"/>
          </a:solidFill>
          <a:ln w="19050">
            <a:solidFill>
              <a:srgbClr val="33407F"/>
            </a:solidFill>
            <a:prstDash val="solid"/>
          </a:ln>
        </p:spPr>
      </p:sp>
      <p:sp>
        <p:nvSpPr>
          <p:cNvPr id="15" name="Text 13"/>
          <p:cNvSpPr/>
          <p:nvPr/>
        </p:nvSpPr>
        <p:spPr>
          <a:xfrm>
            <a:off x="6556248" y="4800600"/>
            <a:ext cx="4754880" cy="841248"/>
          </a:xfrm>
          <a:prstGeom prst="rect">
            <a:avLst/>
          </a:prstGeom>
          <a:noFill/>
          <a:ln/>
        </p:spPr>
        <p:txBody>
          <a:bodyPr wrap="square" lIns="0" tIns="0" rIns="0" bIns="0" rtlCol="0" anchor="ctr"/>
          <a:lstStyle/>
          <a:p>
            <a:pPr indent="0" marL="0">
              <a:buNone/>
            </a:pPr>
            <a:r>
              <a:rPr lang="en-US" sz="1400" dirty="0">
                <a:solidFill>
                  <a:srgbClr val="FFFFFF"/>
                </a:solidFill>
                <a:latin typeface="Arial" pitchFamily="34" charset="0"/>
                <a:ea typeface="Arial" pitchFamily="34" charset="-122"/>
                <a:cs typeface="Arial" pitchFamily="34" charset="-120"/>
              </a:rPr>
              <a:t>Why not serverless GPU instead of pausing a machine?</a:t>
            </a:r>
            <a:endParaRPr lang="en-US" sz="1400" dirty="0"/>
          </a:p>
        </p:txBody>
      </p:sp>
      <p:sp>
        <p:nvSpPr>
          <p:cNvPr id="16" name="Text 14"/>
          <p:cNvSpPr/>
          <p:nvPr/>
        </p:nvSpPr>
        <p:spPr>
          <a:xfrm>
            <a:off x="566928" y="5897880"/>
            <a:ext cx="11064240" cy="731520"/>
          </a:xfrm>
          <a:prstGeom prst="rect">
            <a:avLst/>
          </a:prstGeom>
          <a:noFill/>
          <a:ln/>
        </p:spPr>
        <p:txBody>
          <a:bodyPr wrap="square" lIns="0" tIns="0" rIns="0" bIns="0" rtlCol="0" anchor="ctr"/>
          <a:lstStyle/>
          <a:p>
            <a:pPr indent="0" marL="0">
              <a:buNone/>
            </a:pPr>
            <a:r>
              <a:rPr lang="en-US" sz="1300" dirty="0">
                <a:solidFill>
                  <a:srgbClr val="8A93B8"/>
                </a:solidFill>
                <a:latin typeface="Arial" pitchFamily="34" charset="0"/>
                <a:ea typeface="Arial" pitchFamily="34" charset="-122"/>
                <a:cs typeface="Arial" pitchFamily="34" charset="-120"/>
              </a:rPr>
              <a:t>Short answers: no, all three are pretrained · not faithfully, but we treat embeddings as personal data anyway · twins defeat it · 0.5 is Immich’s default and we kept it because the safer failure is splitting, not merging.</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EventLens — face recognition, and the GPU that only exists when it is needed</dc:title>
  <dc:subject>PptxGenJS Presentation</dc:subject>
  <dc:creator>EventLens</dc:creator>
  <cp:lastModifiedBy>EventLens</cp:lastModifiedBy>
  <cp:revision>1</cp:revision>
  <dcterms:created xsi:type="dcterms:W3CDTF">2026-07-23T14:46:59Z</dcterms:created>
  <dcterms:modified xsi:type="dcterms:W3CDTF">2026-07-23T14:46:59Z</dcterms:modified>
</cp:coreProperties>
</file>