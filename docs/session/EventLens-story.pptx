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1251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open with architecture. Open with the night. Tell them there is a person in this story and her name is Meera, and everything you build today is for 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constraints as character traits, not requirements. People remember characters.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they find their own photos today. Someone will say "the WhatsApp group". That is your competitor, and it is beating you.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beats: the problem is unwillingness, not difficulty. Then state the promise plainly and move to the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stack warm before the call. Keep a fallback recording ready — a cold ML sidecar will embarrass you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is an engineering project that uses models, not a research project that builds them. That is a legitimate and extremely common position — do not be sheepish about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cards left to right. Dwell on the 0.62 face in the first panel — the model is allowed to be unsure, and we throw those away before they cost us anything.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Plant the cost problem here so the JarvisLabs chapters feel inevitable rather than bolted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is the heart of the ML explanation. Slow down.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Then put your finger on step 4 and say: after this, the photograph is never opened again. Everything else in this deck is arithmetic on those numbers.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what "classify this photo" would even mean for a picture with thirty people in it. Let the answer be awkward before you rescue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Genuinely ask them to tilt. It gets a laugh and it makes the point in one second.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audience mental model gets set. Get the next slide right.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lead with the correction. Confirm, then sharpen. The three corrections are the ones that actually change code.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2D picture is a lie of convenience — in 512 dimensions there is vastly more room, which is exactly why the clusters stay apart. Then dwell on the dark panel: the two mistakes are not equal.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"aha" in the deck. Set it up as a mystery: at no point does anything in this system decide there are eleven people at this party.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YES branch and the NO branch aloud. Then say: run that for every face and people fall out of the bottom. Nobody counted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assume the selfie flow re-runs clustering. It does not. Say so explicitly.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present recognition as solved. This slide buys you more credibility than any accuracy number would.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"so just turn it off when it is idle — what could go wrong?" Collect answers. Then walk the ones they miss. That participation is what makes the next three slides land.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arrows in this order: the API puts a job in Redis; the GPU worker pulls it; the GPU worker calls back with a heartbeat; the API shells out to jl. The arrow directions ARE the lesson.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a rupee figure you have not verified. Talk about the SHAPE — bursty versus flat — and it is unarguable.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transferable slide in the whole session. Every one of them will shell out to something eventually.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real Admin → GPU worker panel alongside this chapter if the stack is up.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clockwise, then point at the dashed line: that is the case where the box never wakes up and we stop paying for a machine that never arrived.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ninety seconds. This is a bug they will write, and showing the fix before they write it is the whole point of teaching.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operational idea from the whole session, make it this 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"cost bugs" are really state bugs. The bill is just the place where you finally notice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The next spread is the whole story on one page — use it as the recap.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once quickly end to end. Then walk it again touching only the gold cards and say: that is the machine's entire life. Everything else was free.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operational chapters here. It is the line worth remembering, and it ties the two halves of the story together.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what is unfinished buys more credibility than any number on the left. Do not skip the right-hand card.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them out, then pause. This is the slide the recording gets rewatched for.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Meera, not on the architecture. Then open the floor. Offer to stay on the call for anyone who wants to see the code.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731520" y="1234440"/>
            <a:ext cx="10515600" cy="320040"/>
          </a:xfrm>
          <a:prstGeom prst="rect">
            <a:avLst/>
          </a:prstGeom>
          <a:noFill/>
          <a:ln/>
        </p:spPr>
        <p:txBody>
          <a:bodyPr wrap="square" lIns="0" tIns="0" rIns="0" bIns="0" rtlCol="0" anchor="ctr"/>
          <a:lstStyle/>
          <a:p>
            <a:pPr marL="0" indent="0">
              <a:buNone/>
            </a:pPr>
            <a:r>
              <a:rPr lang="en-US" sz="1300" b="1" kern="0" spc="220" dirty="0">
                <a:solidFill>
                  <a:srgbClr val="F2A93B"/>
                </a:solidFill>
                <a:latin typeface="Calibri" pitchFamily="34" charset="0"/>
                <a:ea typeface="Calibri" pitchFamily="34" charset="-122"/>
                <a:cs typeface="Calibri" pitchFamily="34" charset="-120"/>
              </a:rPr>
              <a:t>A TRUE STORY ABOUT 4,000 PHOTOGRAPHS</a:t>
            </a:r>
            <a:endParaRPr lang="en-US" sz="1300" dirty="0"/>
          </a:p>
        </p:txBody>
      </p:sp>
      <p:sp>
        <p:nvSpPr>
          <p:cNvPr id="3" name="Text 1"/>
          <p:cNvSpPr/>
          <p:nvPr/>
        </p:nvSpPr>
        <p:spPr>
          <a:xfrm>
            <a:off x="731520" y="1737360"/>
            <a:ext cx="10515600" cy="2103120"/>
          </a:xfrm>
          <a:prstGeom prst="rect">
            <a:avLst/>
          </a:prstGeom>
          <a:noFill/>
          <a:ln/>
        </p:spPr>
        <p:txBody>
          <a:bodyPr wrap="square" lIns="0" tIns="0" rIns="0" bIns="0" rtlCol="0" anchor="ctr"/>
          <a:lstStyle/>
          <a:p>
            <a:pPr marL="0" indent="0">
              <a:lnSpc>
                <a:spcPts val="5800"/>
              </a:lnSpc>
              <a:buNone/>
            </a:pPr>
            <a:r>
              <a:rPr lang="en-US" sz="5000" b="1" dirty="0">
                <a:solidFill>
                  <a:srgbClr val="FFFFFF"/>
                </a:solidFill>
                <a:latin typeface="Century Schoolbook" pitchFamily="34" charset="0"/>
                <a:ea typeface="Century Schoolbook" pitchFamily="34" charset="-122"/>
                <a:cs typeface="Century Schoolbook" pitchFamily="34" charset="-120"/>
              </a:rPr>
              <a:t>The night everyone</a:t>
            </a:r>
            <a:endParaRPr lang="en-US" sz="5000" dirty="0"/>
          </a:p>
          <a:p>
            <a:pPr marL="0" indent="0">
              <a:lnSpc>
                <a:spcPts val="5800"/>
              </a:lnSpc>
              <a:buNone/>
            </a:pPr>
            <a:r>
              <a:rPr lang="en-US" sz="5000" b="1" dirty="0">
                <a:solidFill>
                  <a:srgbClr val="FFFFFF"/>
                </a:solidFill>
                <a:latin typeface="Century Schoolbook" pitchFamily="34" charset="0"/>
                <a:ea typeface="Century Schoolbook" pitchFamily="34" charset="-122"/>
                <a:cs typeface="Century Schoolbook" pitchFamily="34" charset="-120"/>
              </a:rPr>
              <a:t>took everyone else’s picture</a:t>
            </a:r>
            <a:endParaRPr lang="en-US" sz="5000" dirty="0"/>
          </a:p>
        </p:txBody>
      </p:sp>
      <p:sp>
        <p:nvSpPr>
          <p:cNvPr id="4" name="Text 2"/>
          <p:cNvSpPr/>
          <p:nvPr/>
        </p:nvSpPr>
        <p:spPr>
          <a:xfrm>
            <a:off x="731520" y="3931920"/>
            <a:ext cx="9601200" cy="457200"/>
          </a:xfrm>
          <a:prstGeom prst="rect">
            <a:avLst/>
          </a:prstGeom>
          <a:noFill/>
          <a:ln/>
        </p:spPr>
        <p:txBody>
          <a:bodyPr wrap="square" lIns="0" tIns="0" rIns="0" bIns="0" rtlCol="0" anchor="ctr"/>
          <a:lstStyle/>
          <a:p>
            <a:pPr marL="0" indent="0">
              <a:buNone/>
            </a:pPr>
            <a:r>
              <a:rPr lang="en-US" sz="2100" i="1" dirty="0">
                <a:solidFill>
                  <a:srgbClr val="C9BBD6"/>
                </a:solidFill>
                <a:latin typeface="Calibri" pitchFamily="34" charset="0"/>
                <a:ea typeface="Calibri" pitchFamily="34" charset="-122"/>
                <a:cs typeface="Calibri" pitchFamily="34" charset="-120"/>
              </a:rPr>
              <a:t>…and how one selfie found the twelve that had Meera in them.</a:t>
            </a:r>
            <a:endParaRPr lang="en-US" sz="2100" dirty="0"/>
          </a:p>
        </p:txBody>
      </p:sp>
      <p:sp>
        <p:nvSpPr>
          <p:cNvPr id="5" name="Shape 3"/>
          <p:cNvSpPr/>
          <p:nvPr/>
        </p:nvSpPr>
        <p:spPr>
          <a:xfrm>
            <a:off x="731520" y="5029200"/>
            <a:ext cx="1947672" cy="566928"/>
          </a:xfrm>
          <a:prstGeom prst="roundRect">
            <a:avLst>
              <a:gd name="adj" fmla="val 50000"/>
            </a:avLst>
          </a:prstGeom>
          <a:solidFill>
            <a:srgbClr val="3D2B54"/>
          </a:solidFill>
          <a:ln/>
        </p:spPr>
      </p:sp>
      <p:sp>
        <p:nvSpPr>
          <p:cNvPr id="6" name="Shape 4"/>
          <p:cNvSpPr/>
          <p:nvPr/>
        </p:nvSpPr>
        <p:spPr>
          <a:xfrm>
            <a:off x="969264" y="5212080"/>
            <a:ext cx="201168" cy="201168"/>
          </a:xfrm>
          <a:prstGeom prst="ellipse">
            <a:avLst/>
          </a:prstGeom>
          <a:solidFill>
            <a:srgbClr val="E2574C"/>
          </a:solidFill>
          <a:ln/>
        </p:spPr>
      </p:sp>
      <p:sp>
        <p:nvSpPr>
          <p:cNvPr id="7" name="Text 5"/>
          <p:cNvSpPr/>
          <p:nvPr/>
        </p:nvSpPr>
        <p:spPr>
          <a:xfrm>
            <a:off x="1261872" y="5029200"/>
            <a:ext cx="1307592"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Three models</a:t>
            </a:r>
            <a:endParaRPr lang="en-US" sz="1500" dirty="0"/>
          </a:p>
        </p:txBody>
      </p:sp>
      <p:sp>
        <p:nvSpPr>
          <p:cNvPr id="8" name="Shape 6"/>
          <p:cNvSpPr/>
          <p:nvPr/>
        </p:nvSpPr>
        <p:spPr>
          <a:xfrm>
            <a:off x="2935224" y="5029200"/>
            <a:ext cx="1632204" cy="566928"/>
          </a:xfrm>
          <a:prstGeom prst="roundRect">
            <a:avLst>
              <a:gd name="adj" fmla="val 50000"/>
            </a:avLst>
          </a:prstGeom>
          <a:solidFill>
            <a:srgbClr val="3D2B54"/>
          </a:solidFill>
          <a:ln/>
        </p:spPr>
      </p:sp>
      <p:sp>
        <p:nvSpPr>
          <p:cNvPr id="9" name="Shape 7"/>
          <p:cNvSpPr/>
          <p:nvPr/>
        </p:nvSpPr>
        <p:spPr>
          <a:xfrm>
            <a:off x="3172968" y="5212080"/>
            <a:ext cx="201168" cy="201168"/>
          </a:xfrm>
          <a:prstGeom prst="ellipse">
            <a:avLst/>
          </a:prstGeom>
          <a:solidFill>
            <a:srgbClr val="F2A93B"/>
          </a:solidFill>
          <a:ln/>
        </p:spPr>
      </p:sp>
      <p:sp>
        <p:nvSpPr>
          <p:cNvPr id="10" name="Text 8"/>
          <p:cNvSpPr/>
          <p:nvPr/>
        </p:nvSpPr>
        <p:spPr>
          <a:xfrm>
            <a:off x="3465576" y="5029200"/>
            <a:ext cx="9921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queue</a:t>
            </a:r>
            <a:endParaRPr lang="en-US" sz="1500" dirty="0"/>
          </a:p>
        </p:txBody>
      </p:sp>
      <p:sp>
        <p:nvSpPr>
          <p:cNvPr id="11" name="Shape 9"/>
          <p:cNvSpPr/>
          <p:nvPr/>
        </p:nvSpPr>
        <p:spPr>
          <a:xfrm>
            <a:off x="4823460" y="5029200"/>
            <a:ext cx="2999232" cy="566928"/>
          </a:xfrm>
          <a:prstGeom prst="roundRect">
            <a:avLst>
              <a:gd name="adj" fmla="val 50000"/>
            </a:avLst>
          </a:prstGeom>
          <a:solidFill>
            <a:srgbClr val="3D2B54"/>
          </a:solidFill>
          <a:ln/>
        </p:spPr>
      </p:sp>
      <p:sp>
        <p:nvSpPr>
          <p:cNvPr id="12" name="Shape 10"/>
          <p:cNvSpPr/>
          <p:nvPr/>
        </p:nvSpPr>
        <p:spPr>
          <a:xfrm>
            <a:off x="5061204" y="5212080"/>
            <a:ext cx="201168" cy="201168"/>
          </a:xfrm>
          <a:prstGeom prst="ellipse">
            <a:avLst/>
          </a:prstGeom>
          <a:solidFill>
            <a:srgbClr val="2E7D77"/>
          </a:solidFill>
          <a:ln/>
        </p:spPr>
      </p:sp>
      <p:sp>
        <p:nvSpPr>
          <p:cNvPr id="13" name="Text 11"/>
          <p:cNvSpPr/>
          <p:nvPr/>
        </p:nvSpPr>
        <p:spPr>
          <a:xfrm>
            <a:off x="5353812" y="5029200"/>
            <a:ext cx="2359152"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One GPU, mostly asleep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BEFORE WE BEGIN · THE CAST</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Three characters, and only one of them is a person</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800" dirty="0">
                <a:solidFill>
                  <a:srgbClr val="7C6B84"/>
                </a:solidFill>
                <a:latin typeface="Calibri" pitchFamily="34" charset="0"/>
                <a:ea typeface="Calibri" pitchFamily="34" charset="-122"/>
                <a:cs typeface="Calibri" pitchFamily="34" charset="-120"/>
              </a:rPr>
              <a:t>Everything in this session is one of these three doing something for one of the others.</a:t>
            </a:r>
            <a:endParaRPr lang="en-US" sz="1800" dirty="0"/>
          </a:p>
        </p:txBody>
      </p:sp>
      <p:sp>
        <p:nvSpPr>
          <p:cNvPr id="5" name="Shape 3"/>
          <p:cNvSpPr/>
          <p:nvPr/>
        </p:nvSpPr>
        <p:spPr>
          <a:xfrm>
            <a:off x="640080" y="2148840"/>
            <a:ext cx="3453384" cy="2926080"/>
          </a:xfrm>
          <a:prstGeom prst="roundRect">
            <a:avLst>
              <a:gd name="adj" fmla="val 5000"/>
            </a:avLst>
          </a:prstGeom>
          <a:solidFill>
            <a:srgbClr val="FFFFFF"/>
          </a:solidFill>
          <a:ln/>
        </p:spPr>
      </p:sp>
      <p:sp>
        <p:nvSpPr>
          <p:cNvPr id="6" name="Shape 4"/>
          <p:cNvSpPr/>
          <p:nvPr/>
        </p:nvSpPr>
        <p:spPr>
          <a:xfrm>
            <a:off x="950976" y="2459736"/>
            <a:ext cx="310896" cy="310896"/>
          </a:xfrm>
          <a:prstGeom prst="ellipse">
            <a:avLst/>
          </a:prstGeom>
          <a:solidFill>
            <a:srgbClr val="E2574C"/>
          </a:solidFill>
          <a:ln/>
        </p:spPr>
      </p:sp>
      <p:sp>
        <p:nvSpPr>
          <p:cNvPr id="7" name="Text 5"/>
          <p:cNvSpPr/>
          <p:nvPr/>
        </p:nvSpPr>
        <p:spPr>
          <a:xfrm>
            <a:off x="950976" y="2898648"/>
            <a:ext cx="2831592"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organiser</a:t>
            </a:r>
            <a:endParaRPr lang="en-US" sz="1900" dirty="0"/>
          </a:p>
        </p:txBody>
      </p:sp>
      <p:sp>
        <p:nvSpPr>
          <p:cNvPr id="8" name="Text 6"/>
          <p:cNvSpPr/>
          <p:nvPr/>
        </p:nvSpPr>
        <p:spPr>
          <a:xfrm>
            <a:off x="950976" y="3474720"/>
            <a:ext cx="2831592" cy="13258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Ran the fest. Has 4,000 photos, a laptop, and no interest in becoming a photo librarian. She uploads and then wants to be finished.</a:t>
            </a:r>
            <a:endParaRPr lang="en-US" sz="1500" dirty="0"/>
          </a:p>
        </p:txBody>
      </p:sp>
      <p:sp>
        <p:nvSpPr>
          <p:cNvPr id="9" name="Shape 7"/>
          <p:cNvSpPr/>
          <p:nvPr/>
        </p:nvSpPr>
        <p:spPr>
          <a:xfrm>
            <a:off x="4367784" y="2148840"/>
            <a:ext cx="3453384" cy="2926080"/>
          </a:xfrm>
          <a:prstGeom prst="roundRect">
            <a:avLst>
              <a:gd name="adj" fmla="val 5000"/>
            </a:avLst>
          </a:prstGeom>
          <a:solidFill>
            <a:srgbClr val="FFFFFF"/>
          </a:solidFill>
          <a:ln/>
        </p:spPr>
      </p:sp>
      <p:sp>
        <p:nvSpPr>
          <p:cNvPr id="10" name="Shape 8"/>
          <p:cNvSpPr/>
          <p:nvPr/>
        </p:nvSpPr>
        <p:spPr>
          <a:xfrm>
            <a:off x="4678680" y="2459736"/>
            <a:ext cx="310896" cy="310896"/>
          </a:xfrm>
          <a:prstGeom prst="ellipse">
            <a:avLst/>
          </a:prstGeom>
          <a:solidFill>
            <a:srgbClr val="2E7D77"/>
          </a:solidFill>
          <a:ln/>
        </p:spPr>
      </p:sp>
      <p:sp>
        <p:nvSpPr>
          <p:cNvPr id="11" name="Text 9"/>
          <p:cNvSpPr/>
          <p:nvPr/>
        </p:nvSpPr>
        <p:spPr>
          <a:xfrm>
            <a:off x="4678680" y="2898648"/>
            <a:ext cx="2831592"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Meera</a:t>
            </a:r>
            <a:endParaRPr lang="en-US" sz="1900" dirty="0"/>
          </a:p>
        </p:txBody>
      </p:sp>
      <p:sp>
        <p:nvSpPr>
          <p:cNvPr id="12" name="Text 10"/>
          <p:cNvSpPr/>
          <p:nvPr/>
        </p:nvSpPr>
        <p:spPr>
          <a:xfrm>
            <a:off x="4678680" y="3474720"/>
            <a:ext cx="2831592" cy="13258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Was there. Is in about twelve of the photos. Has no account, will never make one, and will give you exactly one selfie and thirty seconds of patience.</a:t>
            </a:r>
            <a:endParaRPr lang="en-US" sz="1500" dirty="0"/>
          </a:p>
        </p:txBody>
      </p:sp>
      <p:sp>
        <p:nvSpPr>
          <p:cNvPr id="13" name="Shape 11"/>
          <p:cNvSpPr/>
          <p:nvPr/>
        </p:nvSpPr>
        <p:spPr>
          <a:xfrm>
            <a:off x="8095488" y="2148840"/>
            <a:ext cx="3453384" cy="2926080"/>
          </a:xfrm>
          <a:prstGeom prst="roundRect">
            <a:avLst>
              <a:gd name="adj" fmla="val 5000"/>
            </a:avLst>
          </a:prstGeom>
          <a:solidFill>
            <a:srgbClr val="FFFFFF"/>
          </a:solidFill>
          <a:ln/>
        </p:spPr>
      </p:sp>
      <p:sp>
        <p:nvSpPr>
          <p:cNvPr id="14" name="Shape 12"/>
          <p:cNvSpPr/>
          <p:nvPr/>
        </p:nvSpPr>
        <p:spPr>
          <a:xfrm>
            <a:off x="8406384" y="2459736"/>
            <a:ext cx="310896" cy="310896"/>
          </a:xfrm>
          <a:prstGeom prst="ellipse">
            <a:avLst/>
          </a:prstGeom>
          <a:solidFill>
            <a:srgbClr val="F2A93B"/>
          </a:solidFill>
          <a:ln/>
        </p:spPr>
      </p:sp>
      <p:sp>
        <p:nvSpPr>
          <p:cNvPr id="15" name="Text 13"/>
          <p:cNvSpPr/>
          <p:nvPr/>
        </p:nvSpPr>
        <p:spPr>
          <a:xfrm>
            <a:off x="8406384" y="2898648"/>
            <a:ext cx="2831592"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machine</a:t>
            </a:r>
            <a:endParaRPr lang="en-US" sz="1900" dirty="0"/>
          </a:p>
        </p:txBody>
      </p:sp>
      <p:sp>
        <p:nvSpPr>
          <p:cNvPr id="16" name="Text 14"/>
          <p:cNvSpPr/>
          <p:nvPr/>
        </p:nvSpPr>
        <p:spPr>
          <a:xfrm>
            <a:off x="8406384" y="3474720"/>
            <a:ext cx="2831592" cy="13258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Rented by the second. Extremely good at looking at faces. Terrible at knowing when to stop. Left alone, it will happily bill you for a fortnight of doing nothing.</a:t>
            </a:r>
            <a:endParaRPr lang="en-US" sz="1500" dirty="0"/>
          </a:p>
        </p:txBody>
      </p:sp>
      <p:sp>
        <p:nvSpPr>
          <p:cNvPr id="17" name="Shape 15"/>
          <p:cNvSpPr/>
          <p:nvPr/>
        </p:nvSpPr>
        <p:spPr>
          <a:xfrm>
            <a:off x="640080" y="5346832"/>
            <a:ext cx="10908792" cy="1097280"/>
          </a:xfrm>
          <a:prstGeom prst="roundRect">
            <a:avLst>
              <a:gd name="adj" fmla="val 13333"/>
            </a:avLst>
          </a:prstGeom>
          <a:solidFill>
            <a:srgbClr val="2A1B3D"/>
          </a:solidFill>
          <a:ln/>
        </p:spPr>
      </p:sp>
      <p:sp>
        <p:nvSpPr>
          <p:cNvPr id="18" name="Text 16"/>
          <p:cNvSpPr/>
          <p:nvPr/>
        </p:nvSpPr>
        <p:spPr>
          <a:xfrm>
            <a:off x="969264" y="5541264"/>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The whole design falls out of what each one will not do.</a:t>
            </a:r>
            <a:endParaRPr lang="en-US" sz="1900" dirty="0"/>
          </a:p>
        </p:txBody>
      </p:sp>
      <p:sp>
        <p:nvSpPr>
          <p:cNvPr id="19" name="Text 17"/>
          <p:cNvSpPr/>
          <p:nvPr/>
        </p:nvSpPr>
        <p:spPr>
          <a:xfrm>
            <a:off x="969264" y="5943600"/>
            <a:ext cx="10241280" cy="43891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The organiser will not tag. Meera will not sign up. The machine will not switch itself off unless you make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01</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ONE</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It is eleven at night</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The fest is over. Four thousand photographs exist. Somewhere in them, twelve have Meera in them — and there is no way on earth she is going to scroll for them.</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THE PROBLEM, IN THREE NUMBERS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The haystack is fine. It is the needle that is the problem.</a:t>
            </a:r>
            <a:endParaRPr lang="en-US" sz="3200" dirty="0"/>
          </a:p>
        </p:txBody>
      </p:sp>
      <p:sp>
        <p:nvSpPr>
          <p:cNvPr id="4" name="Shape 2"/>
          <p:cNvSpPr/>
          <p:nvPr/>
        </p:nvSpPr>
        <p:spPr>
          <a:xfrm>
            <a:off x="640080" y="1716904"/>
            <a:ext cx="3392424" cy="2103120"/>
          </a:xfrm>
          <a:prstGeom prst="roundRect">
            <a:avLst>
              <a:gd name="adj" fmla="val 6957"/>
            </a:avLst>
          </a:prstGeom>
          <a:solidFill>
            <a:srgbClr val="FFFFFF"/>
          </a:solidFill>
          <a:ln/>
        </p:spPr>
      </p:sp>
      <p:sp>
        <p:nvSpPr>
          <p:cNvPr id="5" name="Text 3"/>
          <p:cNvSpPr/>
          <p:nvPr/>
        </p:nvSpPr>
        <p:spPr>
          <a:xfrm>
            <a:off x="640080" y="1945504"/>
            <a:ext cx="3392424" cy="1005840"/>
          </a:xfrm>
          <a:prstGeom prst="rect">
            <a:avLst/>
          </a:prstGeom>
          <a:noFill/>
          <a:ln/>
        </p:spPr>
        <p:txBody>
          <a:bodyPr wrap="square" lIns="0" tIns="0" rIns="0" bIns="0" rtlCol="0" anchor="ctr"/>
          <a:lstStyle/>
          <a:p>
            <a:pPr marL="0" indent="0" algn="ctr">
              <a:buNone/>
            </a:pPr>
            <a:r>
              <a:rPr lang="en-US" sz="5000" b="1" dirty="0">
                <a:solidFill>
                  <a:srgbClr val="E2574C"/>
                </a:solidFill>
                <a:latin typeface="Century Schoolbook" pitchFamily="34" charset="0"/>
                <a:ea typeface="Century Schoolbook" pitchFamily="34" charset="-122"/>
                <a:cs typeface="Century Schoolbook" pitchFamily="34" charset="-120"/>
              </a:rPr>
              <a:t>4,000</a:t>
            </a:r>
            <a:endParaRPr lang="en-US" sz="5000" dirty="0"/>
          </a:p>
        </p:txBody>
      </p:sp>
      <p:sp>
        <p:nvSpPr>
          <p:cNvPr id="6" name="Text 4"/>
          <p:cNvSpPr/>
          <p:nvPr/>
        </p:nvSpPr>
        <p:spPr>
          <a:xfrm>
            <a:off x="960120" y="2905624"/>
            <a:ext cx="2743200" cy="685800"/>
          </a:xfrm>
          <a:prstGeom prst="rect">
            <a:avLst/>
          </a:prstGeom>
          <a:noFill/>
          <a:ln/>
        </p:spPr>
        <p:txBody>
          <a:bodyPr wrap="square" lIns="0" tIns="0" rIns="0" bIns="0" rtlCol="0" anchor="t"/>
          <a:lstStyle/>
          <a:p>
            <a:pPr marL="0" indent="0" algn="ctr">
              <a:buNone/>
            </a:pPr>
            <a:r>
              <a:rPr lang="en-US" sz="1500" dirty="0">
                <a:solidFill>
                  <a:srgbClr val="7C6B84"/>
                </a:solidFill>
                <a:latin typeface="Calibri" pitchFamily="34" charset="0"/>
                <a:ea typeface="Calibri" pitchFamily="34" charset="-122"/>
                <a:cs typeface="Calibri" pitchFamily="34" charset="-120"/>
              </a:rPr>
              <a:t>photographs from one evening</a:t>
            </a:r>
            <a:endParaRPr lang="en-US" sz="1500" dirty="0"/>
          </a:p>
        </p:txBody>
      </p:sp>
      <p:sp>
        <p:nvSpPr>
          <p:cNvPr id="7" name="Shape 5"/>
          <p:cNvSpPr/>
          <p:nvPr/>
        </p:nvSpPr>
        <p:spPr>
          <a:xfrm>
            <a:off x="4398264" y="1716904"/>
            <a:ext cx="3392424" cy="2103120"/>
          </a:xfrm>
          <a:prstGeom prst="roundRect">
            <a:avLst>
              <a:gd name="adj" fmla="val 6957"/>
            </a:avLst>
          </a:prstGeom>
          <a:solidFill>
            <a:srgbClr val="FFFFFF"/>
          </a:solidFill>
          <a:ln/>
        </p:spPr>
      </p:sp>
      <p:sp>
        <p:nvSpPr>
          <p:cNvPr id="8" name="Text 6"/>
          <p:cNvSpPr/>
          <p:nvPr/>
        </p:nvSpPr>
        <p:spPr>
          <a:xfrm>
            <a:off x="4398264" y="1945504"/>
            <a:ext cx="3392424" cy="1005840"/>
          </a:xfrm>
          <a:prstGeom prst="rect">
            <a:avLst/>
          </a:prstGeom>
          <a:noFill/>
          <a:ln/>
        </p:spPr>
        <p:txBody>
          <a:bodyPr wrap="square" lIns="0" tIns="0" rIns="0" bIns="0" rtlCol="0" anchor="ctr"/>
          <a:lstStyle/>
          <a:p>
            <a:pPr marL="0" indent="0" algn="ctr">
              <a:buNone/>
            </a:pPr>
            <a:r>
              <a:rPr lang="en-US" sz="5000" b="1" dirty="0">
                <a:solidFill>
                  <a:srgbClr val="2E7D77"/>
                </a:solidFill>
                <a:latin typeface="Century Schoolbook" pitchFamily="34" charset="0"/>
                <a:ea typeface="Century Schoolbook" pitchFamily="34" charset="-122"/>
                <a:cs typeface="Century Schoolbook" pitchFamily="34" charset="-120"/>
              </a:rPr>
              <a:t>~12</a:t>
            </a:r>
            <a:endParaRPr lang="en-US" sz="5000" dirty="0"/>
          </a:p>
        </p:txBody>
      </p:sp>
      <p:sp>
        <p:nvSpPr>
          <p:cNvPr id="9" name="Text 7"/>
          <p:cNvSpPr/>
          <p:nvPr/>
        </p:nvSpPr>
        <p:spPr>
          <a:xfrm>
            <a:off x="4718304" y="2905624"/>
            <a:ext cx="2743200" cy="685800"/>
          </a:xfrm>
          <a:prstGeom prst="rect">
            <a:avLst/>
          </a:prstGeom>
          <a:noFill/>
          <a:ln/>
        </p:spPr>
        <p:txBody>
          <a:bodyPr wrap="square" lIns="0" tIns="0" rIns="0" bIns="0" rtlCol="0" anchor="t"/>
          <a:lstStyle/>
          <a:p>
            <a:pPr marL="0" indent="0" algn="ctr">
              <a:buNone/>
            </a:pPr>
            <a:r>
              <a:rPr lang="en-US" sz="1500" dirty="0">
                <a:solidFill>
                  <a:srgbClr val="7C6B84"/>
                </a:solidFill>
                <a:latin typeface="Calibri" pitchFamily="34" charset="0"/>
                <a:ea typeface="Calibri" pitchFamily="34" charset="-122"/>
                <a:cs typeface="Calibri" pitchFamily="34" charset="-120"/>
              </a:rPr>
              <a:t>of them actually have her in</a:t>
            </a:r>
            <a:endParaRPr lang="en-US" sz="1500" dirty="0"/>
          </a:p>
        </p:txBody>
      </p:sp>
      <p:sp>
        <p:nvSpPr>
          <p:cNvPr id="10" name="Shape 8"/>
          <p:cNvSpPr/>
          <p:nvPr/>
        </p:nvSpPr>
        <p:spPr>
          <a:xfrm>
            <a:off x="8156448" y="1716904"/>
            <a:ext cx="3392424" cy="2103120"/>
          </a:xfrm>
          <a:prstGeom prst="roundRect">
            <a:avLst>
              <a:gd name="adj" fmla="val 6957"/>
            </a:avLst>
          </a:prstGeom>
          <a:solidFill>
            <a:srgbClr val="FFFFFF"/>
          </a:solidFill>
          <a:ln/>
        </p:spPr>
      </p:sp>
      <p:sp>
        <p:nvSpPr>
          <p:cNvPr id="11" name="Text 9"/>
          <p:cNvSpPr/>
          <p:nvPr/>
        </p:nvSpPr>
        <p:spPr>
          <a:xfrm>
            <a:off x="8156448" y="1945504"/>
            <a:ext cx="3392424" cy="1005840"/>
          </a:xfrm>
          <a:prstGeom prst="rect">
            <a:avLst/>
          </a:prstGeom>
          <a:noFill/>
          <a:ln/>
        </p:spPr>
        <p:txBody>
          <a:bodyPr wrap="square" lIns="0" tIns="0" rIns="0" bIns="0" rtlCol="0" anchor="ctr"/>
          <a:lstStyle/>
          <a:p>
            <a:pPr marL="0" indent="0" algn="ctr">
              <a:buNone/>
            </a:pPr>
            <a:r>
              <a:rPr lang="en-US" sz="5000" b="1" dirty="0">
                <a:solidFill>
                  <a:srgbClr val="F2A93B"/>
                </a:solidFill>
                <a:latin typeface="Century Schoolbook" pitchFamily="34" charset="0"/>
                <a:ea typeface="Century Schoolbook" pitchFamily="34" charset="-122"/>
                <a:cs typeface="Century Schoolbook" pitchFamily="34" charset="-120"/>
              </a:rPr>
              <a:t>1 hour</a:t>
            </a:r>
            <a:endParaRPr lang="en-US" sz="5000" dirty="0"/>
          </a:p>
        </p:txBody>
      </p:sp>
      <p:sp>
        <p:nvSpPr>
          <p:cNvPr id="12" name="Text 10"/>
          <p:cNvSpPr/>
          <p:nvPr/>
        </p:nvSpPr>
        <p:spPr>
          <a:xfrm>
            <a:off x="8476488" y="2905624"/>
            <a:ext cx="2743200" cy="685800"/>
          </a:xfrm>
          <a:prstGeom prst="rect">
            <a:avLst/>
          </a:prstGeom>
          <a:noFill/>
          <a:ln/>
        </p:spPr>
        <p:txBody>
          <a:bodyPr wrap="square" lIns="0" tIns="0" rIns="0" bIns="0" rtlCol="0" anchor="t"/>
          <a:lstStyle/>
          <a:p>
            <a:pPr marL="0" indent="0" algn="ctr">
              <a:buNone/>
            </a:pPr>
            <a:r>
              <a:rPr lang="en-US" sz="1500" dirty="0">
                <a:solidFill>
                  <a:srgbClr val="7C6B84"/>
                </a:solidFill>
                <a:latin typeface="Calibri" pitchFamily="34" charset="0"/>
                <a:ea typeface="Calibri" pitchFamily="34" charset="-122"/>
                <a:cs typeface="Calibri" pitchFamily="34" charset="-120"/>
              </a:rPr>
              <a:t>of scrolling to find them by hand</a:t>
            </a:r>
            <a:endParaRPr lang="en-US" sz="1500" dirty="0"/>
          </a:p>
        </p:txBody>
      </p:sp>
      <p:sp>
        <p:nvSpPr>
          <p:cNvPr id="13" name="Shape 11"/>
          <p:cNvSpPr/>
          <p:nvPr/>
        </p:nvSpPr>
        <p:spPr>
          <a:xfrm>
            <a:off x="640080" y="4152096"/>
            <a:ext cx="10908792" cy="1280160"/>
          </a:xfrm>
          <a:prstGeom prst="roundRect">
            <a:avLst>
              <a:gd name="adj" fmla="val 11429"/>
            </a:avLst>
          </a:prstGeom>
          <a:solidFill>
            <a:srgbClr val="F3EBE2"/>
          </a:solidFill>
          <a:ln/>
        </p:spPr>
      </p:sp>
      <p:sp>
        <p:nvSpPr>
          <p:cNvPr id="14" name="Text 12"/>
          <p:cNvSpPr/>
          <p:nvPr/>
        </p:nvSpPr>
        <p:spPr>
          <a:xfrm>
            <a:off x="969264" y="4337384"/>
            <a:ext cx="10241280" cy="411480"/>
          </a:xfrm>
          <a:prstGeom prst="rect">
            <a:avLst/>
          </a:prstGeom>
          <a:noFill/>
          <a:ln/>
        </p:spPr>
        <p:txBody>
          <a:bodyPr wrap="square" lIns="0" tIns="0" rIns="0" bIns="0" rtlCol="0" anchor="ctr"/>
          <a:lstStyle/>
          <a:p>
            <a:pPr marL="0" indent="0">
              <a:buNone/>
            </a:pPr>
            <a:r>
              <a:rPr lang="en-US" sz="2000" b="1" dirty="0">
                <a:solidFill>
                  <a:srgbClr val="2A1B3D"/>
                </a:solidFill>
                <a:latin typeface="Century Schoolbook" pitchFamily="34" charset="0"/>
                <a:ea typeface="Century Schoolbook" pitchFamily="34" charset="-122"/>
                <a:cs typeface="Century Schoolbook" pitchFamily="34" charset="-120"/>
              </a:rPr>
              <a:t>Nobody in this story is willing to do the work that would fix it.</a:t>
            </a:r>
            <a:endParaRPr lang="en-US" sz="2000" dirty="0"/>
          </a:p>
        </p:txBody>
      </p:sp>
      <p:sp>
        <p:nvSpPr>
          <p:cNvPr id="15" name="Text 13"/>
          <p:cNvSpPr/>
          <p:nvPr/>
        </p:nvSpPr>
        <p:spPr>
          <a:xfrm>
            <a:off x="969264" y="4668008"/>
            <a:ext cx="10241280" cy="640080"/>
          </a:xfrm>
          <a:prstGeom prst="rect">
            <a:avLst/>
          </a:prstGeom>
          <a:noFill/>
          <a:ln/>
        </p:spPr>
        <p:txBody>
          <a:bodyPr wrap="square" lIns="0" tIns="0" rIns="0" bIns="0" rtlCol="0" anchor="ctr"/>
          <a:lstStyle/>
          <a:p>
            <a:pPr marL="0" indent="0">
              <a:buNone/>
            </a:pPr>
            <a:r>
              <a:rPr lang="en-US" sz="1550" dirty="0">
                <a:solidFill>
                  <a:srgbClr val="7C6B84"/>
                </a:solidFill>
                <a:latin typeface="Calibri" pitchFamily="34" charset="0"/>
                <a:ea typeface="Calibri" pitchFamily="34" charset="-122"/>
                <a:cs typeface="Calibri" pitchFamily="34" charset="-120"/>
              </a:rPr>
              <a:t>Not the organiser, who would have to tag four thousand pictures. Not Meera, who would have to scroll them. So the work has to move somewhere else — and that somewhere is going to have a rental price per second.</a:t>
            </a:r>
            <a:endParaRPr lang="en-US" sz="1550" dirty="0"/>
          </a:p>
        </p:txBody>
      </p:sp>
      <p:sp>
        <p:nvSpPr>
          <p:cNvPr id="16" name="Shape 14"/>
          <p:cNvSpPr/>
          <p:nvPr/>
        </p:nvSpPr>
        <p:spPr>
          <a:xfrm>
            <a:off x="640080" y="5542944"/>
            <a:ext cx="10908792" cy="868680"/>
          </a:xfrm>
          <a:prstGeom prst="roundRect">
            <a:avLst>
              <a:gd name="adj" fmla="val 16842"/>
            </a:avLst>
          </a:prstGeom>
          <a:solidFill>
            <a:srgbClr val="E2574C"/>
          </a:solidFill>
          <a:ln/>
        </p:spPr>
        <p:txBody>
          <a:bodyPr/>
          <a:lstStyle/>
          <a:p>
            <a:endParaRPr lang="en-IN" dirty="0"/>
          </a:p>
        </p:txBody>
      </p:sp>
      <p:sp>
        <p:nvSpPr>
          <p:cNvPr id="17" name="Text 15"/>
          <p:cNvSpPr/>
          <p:nvPr/>
        </p:nvSpPr>
        <p:spPr>
          <a:xfrm>
            <a:off x="969264" y="5665184"/>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So: one selfie in, only her photos out.</a:t>
            </a:r>
            <a:endParaRPr lang="en-US" sz="1900" dirty="0"/>
          </a:p>
        </p:txBody>
      </p:sp>
      <p:sp>
        <p:nvSpPr>
          <p:cNvPr id="18" name="Text 16"/>
          <p:cNvSpPr/>
          <p:nvPr/>
        </p:nvSpPr>
        <p:spPr>
          <a:xfrm>
            <a:off x="969264" y="6013380"/>
            <a:ext cx="10241280" cy="210312"/>
          </a:xfrm>
          <a:prstGeom prst="rect">
            <a:avLst/>
          </a:prstGeom>
          <a:noFill/>
          <a:ln/>
        </p:spPr>
        <p:txBody>
          <a:bodyPr wrap="square" lIns="0" tIns="0" rIns="0" bIns="0" rtlCol="0" anchor="t"/>
          <a:lstStyle/>
          <a:p>
            <a:pPr marL="0" indent="0">
              <a:buNone/>
            </a:pPr>
            <a:r>
              <a:rPr lang="en-US" sz="1500" dirty="0">
                <a:solidFill>
                  <a:srgbClr val="FFE3E0"/>
                </a:solidFill>
                <a:latin typeface="Calibri" pitchFamily="34" charset="0"/>
                <a:ea typeface="Calibri" pitchFamily="34" charset="-122"/>
                <a:cs typeface="Calibri" pitchFamily="34" charset="-120"/>
              </a:rPr>
              <a:t>No account, no scrolling, no access to anybody else’s pictures. That promise is the entire product.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2E7D77"/>
                </a:solidFill>
                <a:latin typeface="Calibri" pitchFamily="34" charset="0"/>
                <a:ea typeface="Calibri" pitchFamily="34" charset="-122"/>
                <a:cs typeface="Calibri" pitchFamily="34" charset="-120"/>
              </a:rPr>
              <a:t>STOP TALKING · SWITCH TO THE BROWSER</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Four minutes, no slides</a:t>
            </a:r>
            <a:endParaRPr lang="en-US" sz="3200" dirty="0"/>
          </a:p>
        </p:txBody>
      </p:sp>
      <p:sp>
        <p:nvSpPr>
          <p:cNvPr id="4" name="Shape 2"/>
          <p:cNvSpPr/>
          <p:nvPr/>
        </p:nvSpPr>
        <p:spPr>
          <a:xfrm>
            <a:off x="640080" y="1656746"/>
            <a:ext cx="10908792" cy="786384"/>
          </a:xfrm>
          <a:prstGeom prst="roundRect">
            <a:avLst>
              <a:gd name="adj" fmla="val 16279"/>
            </a:avLst>
          </a:prstGeom>
          <a:solidFill>
            <a:srgbClr val="FFFFFF"/>
          </a:solidFill>
          <a:ln/>
        </p:spPr>
      </p:sp>
      <p:sp>
        <p:nvSpPr>
          <p:cNvPr id="5" name="Shape 3"/>
          <p:cNvSpPr/>
          <p:nvPr/>
        </p:nvSpPr>
        <p:spPr>
          <a:xfrm>
            <a:off x="914400" y="1876202"/>
            <a:ext cx="347472" cy="347472"/>
          </a:xfrm>
          <a:prstGeom prst="ellipse">
            <a:avLst/>
          </a:prstGeom>
          <a:solidFill>
            <a:srgbClr val="2E7D77"/>
          </a:solidFill>
          <a:ln/>
        </p:spPr>
      </p:sp>
      <p:sp>
        <p:nvSpPr>
          <p:cNvPr id="6" name="Text 4"/>
          <p:cNvSpPr/>
          <p:nvPr/>
        </p:nvSpPr>
        <p:spPr>
          <a:xfrm>
            <a:off x="914400" y="187620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1748186"/>
            <a:ext cx="9692640" cy="329184"/>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Drag in fifty photos</a:t>
            </a:r>
            <a:endParaRPr lang="en-US" sz="1700" dirty="0"/>
          </a:p>
        </p:txBody>
      </p:sp>
      <p:sp>
        <p:nvSpPr>
          <p:cNvPr id="8" name="Text 6"/>
          <p:cNvSpPr/>
          <p:nvPr/>
        </p:nvSpPr>
        <p:spPr>
          <a:xfrm>
            <a:off x="1463040" y="2077370"/>
            <a:ext cx="9692640" cy="292608"/>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Badges flip as the jobs drain. Nobody is waiting on a progress bar.</a:t>
            </a:r>
            <a:endParaRPr lang="en-US" sz="1400" dirty="0"/>
          </a:p>
        </p:txBody>
      </p:sp>
      <p:sp>
        <p:nvSpPr>
          <p:cNvPr id="9" name="Shape 7"/>
          <p:cNvSpPr/>
          <p:nvPr/>
        </p:nvSpPr>
        <p:spPr>
          <a:xfrm>
            <a:off x="640080" y="2571146"/>
            <a:ext cx="10908792" cy="786384"/>
          </a:xfrm>
          <a:prstGeom prst="roundRect">
            <a:avLst>
              <a:gd name="adj" fmla="val 16279"/>
            </a:avLst>
          </a:prstGeom>
          <a:solidFill>
            <a:srgbClr val="FFFFFF"/>
          </a:solidFill>
          <a:ln/>
        </p:spPr>
      </p:sp>
      <p:sp>
        <p:nvSpPr>
          <p:cNvPr id="10" name="Shape 8"/>
          <p:cNvSpPr/>
          <p:nvPr/>
        </p:nvSpPr>
        <p:spPr>
          <a:xfrm>
            <a:off x="914400" y="2790602"/>
            <a:ext cx="347472" cy="347472"/>
          </a:xfrm>
          <a:prstGeom prst="ellipse">
            <a:avLst/>
          </a:prstGeom>
          <a:solidFill>
            <a:srgbClr val="2E7D77"/>
          </a:solidFill>
          <a:ln/>
        </p:spPr>
      </p:sp>
      <p:sp>
        <p:nvSpPr>
          <p:cNvPr id="11" name="Text 9"/>
          <p:cNvSpPr/>
          <p:nvPr/>
        </p:nvSpPr>
        <p:spPr>
          <a:xfrm>
            <a:off x="914400" y="279060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63040" y="2662586"/>
            <a:ext cx="9692640" cy="329184"/>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Open the public link as a stranger</a:t>
            </a:r>
            <a:endParaRPr lang="en-US" sz="1700" dirty="0"/>
          </a:p>
        </p:txBody>
      </p:sp>
      <p:sp>
        <p:nvSpPr>
          <p:cNvPr id="13" name="Text 11"/>
          <p:cNvSpPr/>
          <p:nvPr/>
        </p:nvSpPr>
        <p:spPr>
          <a:xfrm>
            <a:off x="1463040" y="2991770"/>
            <a:ext cx="9692640" cy="292608"/>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No login. A selfie box and a plain-English privacy notice.</a:t>
            </a:r>
            <a:endParaRPr lang="en-US" sz="1400" dirty="0"/>
          </a:p>
        </p:txBody>
      </p:sp>
      <p:sp>
        <p:nvSpPr>
          <p:cNvPr id="14" name="Shape 12"/>
          <p:cNvSpPr/>
          <p:nvPr/>
        </p:nvSpPr>
        <p:spPr>
          <a:xfrm>
            <a:off x="640080" y="3485546"/>
            <a:ext cx="10908792" cy="786384"/>
          </a:xfrm>
          <a:prstGeom prst="roundRect">
            <a:avLst>
              <a:gd name="adj" fmla="val 16279"/>
            </a:avLst>
          </a:prstGeom>
          <a:solidFill>
            <a:srgbClr val="FFFFFF"/>
          </a:solidFill>
          <a:ln/>
        </p:spPr>
      </p:sp>
      <p:sp>
        <p:nvSpPr>
          <p:cNvPr id="15" name="Shape 13"/>
          <p:cNvSpPr/>
          <p:nvPr/>
        </p:nvSpPr>
        <p:spPr>
          <a:xfrm>
            <a:off x="914400" y="3705002"/>
            <a:ext cx="347472" cy="347472"/>
          </a:xfrm>
          <a:prstGeom prst="ellipse">
            <a:avLst/>
          </a:prstGeom>
          <a:solidFill>
            <a:srgbClr val="2E7D77"/>
          </a:solidFill>
          <a:ln/>
        </p:spPr>
      </p:sp>
      <p:sp>
        <p:nvSpPr>
          <p:cNvPr id="16" name="Text 14"/>
          <p:cNvSpPr/>
          <p:nvPr/>
        </p:nvSpPr>
        <p:spPr>
          <a:xfrm>
            <a:off x="914400" y="370500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63040" y="3576986"/>
            <a:ext cx="9692640" cy="329184"/>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Submit one selfie</a:t>
            </a:r>
            <a:endParaRPr lang="en-US" sz="1700" dirty="0"/>
          </a:p>
        </p:txBody>
      </p:sp>
      <p:sp>
        <p:nvSpPr>
          <p:cNvPr id="18" name="Text 16"/>
          <p:cNvSpPr/>
          <p:nvPr/>
        </p:nvSpPr>
        <p:spPr>
          <a:xfrm>
            <a:off x="1463040" y="3906170"/>
            <a:ext cx="9692640" cy="292608"/>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Either a live queue position, or “we’ll email you”. You will see why later.</a:t>
            </a:r>
            <a:endParaRPr lang="en-US" sz="1400" dirty="0"/>
          </a:p>
        </p:txBody>
      </p:sp>
      <p:sp>
        <p:nvSpPr>
          <p:cNvPr id="19" name="Shape 17"/>
          <p:cNvSpPr/>
          <p:nvPr/>
        </p:nvSpPr>
        <p:spPr>
          <a:xfrm>
            <a:off x="640080" y="4399946"/>
            <a:ext cx="10908792" cy="786384"/>
          </a:xfrm>
          <a:prstGeom prst="roundRect">
            <a:avLst>
              <a:gd name="adj" fmla="val 16279"/>
            </a:avLst>
          </a:prstGeom>
          <a:solidFill>
            <a:srgbClr val="FFFFFF"/>
          </a:solidFill>
          <a:ln/>
        </p:spPr>
      </p:sp>
      <p:sp>
        <p:nvSpPr>
          <p:cNvPr id="20" name="Shape 18"/>
          <p:cNvSpPr/>
          <p:nvPr/>
        </p:nvSpPr>
        <p:spPr>
          <a:xfrm>
            <a:off x="914400" y="4619402"/>
            <a:ext cx="347472" cy="347472"/>
          </a:xfrm>
          <a:prstGeom prst="ellipse">
            <a:avLst/>
          </a:prstGeom>
          <a:solidFill>
            <a:srgbClr val="2E7D77"/>
          </a:solidFill>
          <a:ln/>
        </p:spPr>
      </p:sp>
      <p:sp>
        <p:nvSpPr>
          <p:cNvPr id="21" name="Text 19"/>
          <p:cNvSpPr/>
          <p:nvPr/>
        </p:nvSpPr>
        <p:spPr>
          <a:xfrm>
            <a:off x="914400" y="461940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63040" y="4491386"/>
            <a:ext cx="9692640" cy="329184"/>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Open the gallery that comes back</a:t>
            </a:r>
            <a:endParaRPr lang="en-US" sz="1700" dirty="0"/>
          </a:p>
        </p:txBody>
      </p:sp>
      <p:sp>
        <p:nvSpPr>
          <p:cNvPr id="23" name="Text 21"/>
          <p:cNvSpPr/>
          <p:nvPr/>
        </p:nvSpPr>
        <p:spPr>
          <a:xfrm>
            <a:off x="1463040" y="4820570"/>
            <a:ext cx="9692640" cy="292608"/>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Only her photos. Download the lot as a zip.</a:t>
            </a:r>
            <a:endParaRPr lang="en-US" sz="1400" dirty="0"/>
          </a:p>
        </p:txBody>
      </p:sp>
      <p:sp>
        <p:nvSpPr>
          <p:cNvPr id="24" name="Shape 22"/>
          <p:cNvSpPr/>
          <p:nvPr/>
        </p:nvSpPr>
        <p:spPr>
          <a:xfrm>
            <a:off x="640080" y="5481586"/>
            <a:ext cx="10908792" cy="914400"/>
          </a:xfrm>
          <a:prstGeom prst="roundRect">
            <a:avLst>
              <a:gd name="adj" fmla="val 16000"/>
            </a:avLst>
          </a:prstGeom>
          <a:solidFill>
            <a:srgbClr val="2A1B3D"/>
          </a:solidFill>
          <a:ln/>
        </p:spPr>
      </p:sp>
      <p:sp>
        <p:nvSpPr>
          <p:cNvPr id="25" name="Text 23"/>
          <p:cNvSpPr/>
          <p:nvPr/>
        </p:nvSpPr>
        <p:spPr>
          <a:xfrm>
            <a:off x="969264" y="5579762"/>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Notice what did not happen: nothing waited on the browser.</a:t>
            </a:r>
            <a:endParaRPr lang="en-US" sz="1900" dirty="0"/>
          </a:p>
        </p:txBody>
      </p:sp>
      <p:sp>
        <p:nvSpPr>
          <p:cNvPr id="26" name="Text 24"/>
          <p:cNvSpPr/>
          <p:nvPr/>
        </p:nvSpPr>
        <p:spPr>
          <a:xfrm>
            <a:off x="969264" y="5976082"/>
            <a:ext cx="10241280" cy="25603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Every single thing after “upload” was a job on a queue. Remember that — it is the hinge the second half of the story turns 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02</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TWO</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Teaching a machine to see a face</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Nobody in this project trained a model. Three pretrained ones do all the seeing — and each answers exactly one question.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2"/>
        </a:solidFill>
        <a:effectLst/>
      </p:bgPr>
    </p:bg>
    <p:spTree>
      <p:nvGrpSpPr>
        <p:cNvPr id="1" name=""/>
        <p:cNvGrpSpPr/>
        <p:nvPr/>
      </p:nvGrpSpPr>
      <p:grpSpPr>
        <a:xfrm>
          <a:off x="0" y="0"/>
          <a:ext cx="0" cy="0"/>
          <a:chOff x="0" y="0"/>
          <a:chExt cx="0" cy="0"/>
        </a:xfrm>
      </p:grpSpPr>
      <p:pic>
        <p:nvPicPr>
          <p:cNvPr id="2" name="Image 0" descr="s-models.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THE PRACTICAL SIDE OF THREE MODELS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What they cost you to run</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800" dirty="0">
                <a:solidFill>
                  <a:srgbClr val="7C6B84"/>
                </a:solidFill>
                <a:latin typeface="Calibri" pitchFamily="34" charset="0"/>
                <a:ea typeface="Calibri" pitchFamily="34" charset="-122"/>
                <a:cs typeface="Calibri" pitchFamily="34" charset="-120"/>
              </a:rPr>
              <a:t>This table is the reason the second half of this story exists.</a:t>
            </a:r>
            <a:endParaRPr lang="en-US" sz="1800" dirty="0"/>
          </a:p>
        </p:txBody>
      </p:sp>
      <p:sp>
        <p:nvSpPr>
          <p:cNvPr id="5" name="Text 3"/>
          <p:cNvSpPr/>
          <p:nvPr/>
        </p:nvSpPr>
        <p:spPr>
          <a:xfrm>
            <a:off x="969264" y="2103120"/>
            <a:ext cx="2194560" cy="274320"/>
          </a:xfrm>
          <a:prstGeom prst="rect">
            <a:avLst/>
          </a:prstGeom>
          <a:noFill/>
          <a:ln/>
        </p:spPr>
        <p:txBody>
          <a:bodyPr wrap="square" lIns="0" tIns="0" rIns="0" bIns="0" rtlCol="0" anchor="ctr"/>
          <a:lstStyle/>
          <a:p>
            <a:pPr marL="0" indent="0">
              <a:buNone/>
            </a:pPr>
            <a:r>
              <a:rPr lang="en-US" sz="1150" b="1" kern="0" spc="160" dirty="0">
                <a:solidFill>
                  <a:srgbClr val="7C6B84"/>
                </a:solidFill>
                <a:latin typeface="Calibri" pitchFamily="34" charset="0"/>
                <a:ea typeface="Calibri" pitchFamily="34" charset="-122"/>
                <a:cs typeface="Calibri" pitchFamily="34" charset="-120"/>
              </a:rPr>
              <a:t>MODEL</a:t>
            </a:r>
            <a:endParaRPr lang="en-US" sz="1150" dirty="0"/>
          </a:p>
        </p:txBody>
      </p:sp>
      <p:sp>
        <p:nvSpPr>
          <p:cNvPr id="6" name="Text 4"/>
          <p:cNvSpPr/>
          <p:nvPr/>
        </p:nvSpPr>
        <p:spPr>
          <a:xfrm>
            <a:off x="3200400" y="2103120"/>
            <a:ext cx="2011680" cy="274320"/>
          </a:xfrm>
          <a:prstGeom prst="rect">
            <a:avLst/>
          </a:prstGeom>
          <a:noFill/>
          <a:ln/>
        </p:spPr>
        <p:txBody>
          <a:bodyPr wrap="square" lIns="0" tIns="0" rIns="0" bIns="0" rtlCol="0" anchor="ctr"/>
          <a:lstStyle/>
          <a:p>
            <a:pPr marL="0" indent="0">
              <a:buNone/>
            </a:pPr>
            <a:r>
              <a:rPr lang="en-US" sz="1150" b="1" kern="0" spc="160" dirty="0">
                <a:solidFill>
                  <a:srgbClr val="7C6B84"/>
                </a:solidFill>
                <a:latin typeface="Calibri" pitchFamily="34" charset="0"/>
                <a:ea typeface="Calibri" pitchFamily="34" charset="-122"/>
                <a:cs typeface="Calibri" pitchFamily="34" charset="-120"/>
              </a:rPr>
              <a:t>HOW OFTEN</a:t>
            </a:r>
            <a:endParaRPr lang="en-US" sz="1150" dirty="0"/>
          </a:p>
        </p:txBody>
      </p:sp>
      <p:sp>
        <p:nvSpPr>
          <p:cNvPr id="7" name="Text 5"/>
          <p:cNvSpPr/>
          <p:nvPr/>
        </p:nvSpPr>
        <p:spPr>
          <a:xfrm>
            <a:off x="5303520" y="2103120"/>
            <a:ext cx="5943600" cy="274320"/>
          </a:xfrm>
          <a:prstGeom prst="rect">
            <a:avLst/>
          </a:prstGeom>
          <a:noFill/>
          <a:ln/>
        </p:spPr>
        <p:txBody>
          <a:bodyPr wrap="square" lIns="0" tIns="0" rIns="0" bIns="0" rtlCol="0" anchor="ctr"/>
          <a:lstStyle/>
          <a:p>
            <a:pPr marL="0" indent="0">
              <a:buNone/>
            </a:pPr>
            <a:r>
              <a:rPr lang="en-US" sz="1150" b="1" kern="0" spc="160" dirty="0">
                <a:solidFill>
                  <a:srgbClr val="7C6B84"/>
                </a:solidFill>
                <a:latin typeface="Calibri" pitchFamily="34" charset="0"/>
                <a:ea typeface="Calibri" pitchFamily="34" charset="-122"/>
                <a:cs typeface="Calibri" pitchFamily="34" charset="-120"/>
              </a:rPr>
              <a:t>WHY IT MATTERS</a:t>
            </a:r>
            <a:endParaRPr lang="en-US" sz="1150" dirty="0"/>
          </a:p>
        </p:txBody>
      </p:sp>
      <p:sp>
        <p:nvSpPr>
          <p:cNvPr id="8" name="Shape 6"/>
          <p:cNvSpPr/>
          <p:nvPr/>
        </p:nvSpPr>
        <p:spPr>
          <a:xfrm>
            <a:off x="640080" y="2468880"/>
            <a:ext cx="10908792" cy="841248"/>
          </a:xfrm>
          <a:prstGeom prst="roundRect">
            <a:avLst>
              <a:gd name="adj" fmla="val 15217"/>
            </a:avLst>
          </a:prstGeom>
          <a:solidFill>
            <a:srgbClr val="FFFFFF"/>
          </a:solidFill>
          <a:ln/>
        </p:spPr>
      </p:sp>
      <p:sp>
        <p:nvSpPr>
          <p:cNvPr id="9" name="Shape 7"/>
          <p:cNvSpPr/>
          <p:nvPr/>
        </p:nvSpPr>
        <p:spPr>
          <a:xfrm>
            <a:off x="914400" y="2788920"/>
            <a:ext cx="201168" cy="201168"/>
          </a:xfrm>
          <a:prstGeom prst="ellipse">
            <a:avLst/>
          </a:prstGeom>
          <a:solidFill>
            <a:srgbClr val="E2574C"/>
          </a:solidFill>
          <a:ln/>
        </p:spPr>
      </p:sp>
      <p:sp>
        <p:nvSpPr>
          <p:cNvPr id="10" name="Text 8"/>
          <p:cNvSpPr/>
          <p:nvPr/>
        </p:nvSpPr>
        <p:spPr>
          <a:xfrm>
            <a:off x="1243584" y="2468880"/>
            <a:ext cx="1920240" cy="841248"/>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RetinaFace</a:t>
            </a:r>
            <a:endParaRPr lang="en-US" sz="1700" dirty="0"/>
          </a:p>
        </p:txBody>
      </p:sp>
      <p:sp>
        <p:nvSpPr>
          <p:cNvPr id="11" name="Text 9"/>
          <p:cNvSpPr/>
          <p:nvPr/>
        </p:nvSpPr>
        <p:spPr>
          <a:xfrm>
            <a:off x="3200400" y="2468880"/>
            <a:ext cx="2011680" cy="841248"/>
          </a:xfrm>
          <a:prstGeom prst="rect">
            <a:avLst/>
          </a:prstGeom>
          <a:noFill/>
          <a:ln/>
        </p:spPr>
        <p:txBody>
          <a:bodyPr wrap="square" lIns="0" tIns="0" rIns="0" bIns="0" rtlCol="0" anchor="ctr"/>
          <a:lstStyle/>
          <a:p>
            <a:pPr marL="0" indent="0">
              <a:buNone/>
            </a:pPr>
            <a:r>
              <a:rPr lang="en-US" sz="1500" dirty="0">
                <a:solidFill>
                  <a:srgbClr val="2A1B3D"/>
                </a:solidFill>
                <a:latin typeface="Calibri" pitchFamily="34" charset="0"/>
                <a:ea typeface="Calibri" pitchFamily="34" charset="-122"/>
                <a:cs typeface="Calibri" pitchFamily="34" charset="-120"/>
              </a:rPr>
              <a:t>once per photo</a:t>
            </a:r>
            <a:endParaRPr lang="en-US" sz="1500" dirty="0"/>
          </a:p>
        </p:txBody>
      </p:sp>
      <p:sp>
        <p:nvSpPr>
          <p:cNvPr id="12" name="Text 10"/>
          <p:cNvSpPr/>
          <p:nvPr/>
        </p:nvSpPr>
        <p:spPr>
          <a:xfrm>
            <a:off x="5303520" y="2468880"/>
            <a:ext cx="6035040" cy="841248"/>
          </a:xfrm>
          <a:prstGeom prst="rect">
            <a:avLst/>
          </a:prstGeom>
          <a:noFill/>
          <a:ln/>
        </p:spPr>
        <p:txBody>
          <a:bodyPr wrap="square" lIns="0" tIns="0" rIns="0" bIns="0" rtlCol="0" anchor="ctr"/>
          <a:lstStyle/>
          <a:p>
            <a:pPr marL="0" indent="0">
              <a:buNone/>
            </a:pPr>
            <a:r>
              <a:rPr lang="en-US" sz="1450" dirty="0">
                <a:solidFill>
                  <a:srgbClr val="7C6B84"/>
                </a:solidFill>
                <a:latin typeface="Calibri" pitchFamily="34" charset="0"/>
                <a:ea typeface="Calibri" pitchFamily="34" charset="-122"/>
                <a:cs typeface="Calibri" pitchFamily="34" charset="-120"/>
              </a:rPr>
              <a:t>The gate. It decides how much work everything downstream has to do.</a:t>
            </a:r>
            <a:endParaRPr lang="en-US" sz="1450" dirty="0"/>
          </a:p>
        </p:txBody>
      </p:sp>
      <p:sp>
        <p:nvSpPr>
          <p:cNvPr id="13" name="Shape 11"/>
          <p:cNvSpPr/>
          <p:nvPr/>
        </p:nvSpPr>
        <p:spPr>
          <a:xfrm>
            <a:off x="640080" y="3429000"/>
            <a:ext cx="10908792" cy="841248"/>
          </a:xfrm>
          <a:prstGeom prst="roundRect">
            <a:avLst>
              <a:gd name="adj" fmla="val 15217"/>
            </a:avLst>
          </a:prstGeom>
          <a:solidFill>
            <a:srgbClr val="FFFFFF"/>
          </a:solidFill>
          <a:ln/>
        </p:spPr>
      </p:sp>
      <p:sp>
        <p:nvSpPr>
          <p:cNvPr id="14" name="Shape 12"/>
          <p:cNvSpPr/>
          <p:nvPr/>
        </p:nvSpPr>
        <p:spPr>
          <a:xfrm>
            <a:off x="914400" y="3749040"/>
            <a:ext cx="201168" cy="201168"/>
          </a:xfrm>
          <a:prstGeom prst="ellipse">
            <a:avLst/>
          </a:prstGeom>
          <a:solidFill>
            <a:srgbClr val="F2A93B"/>
          </a:solidFill>
          <a:ln/>
        </p:spPr>
      </p:sp>
      <p:sp>
        <p:nvSpPr>
          <p:cNvPr id="15" name="Text 13"/>
          <p:cNvSpPr/>
          <p:nvPr/>
        </p:nvSpPr>
        <p:spPr>
          <a:xfrm>
            <a:off x="1243584" y="3429000"/>
            <a:ext cx="1920240" cy="841248"/>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ArcFace</a:t>
            </a:r>
            <a:endParaRPr lang="en-US" sz="1700" dirty="0"/>
          </a:p>
        </p:txBody>
      </p:sp>
      <p:sp>
        <p:nvSpPr>
          <p:cNvPr id="16" name="Text 14"/>
          <p:cNvSpPr/>
          <p:nvPr/>
        </p:nvSpPr>
        <p:spPr>
          <a:xfrm>
            <a:off x="3200400" y="3429000"/>
            <a:ext cx="2011680" cy="841248"/>
          </a:xfrm>
          <a:prstGeom prst="rect">
            <a:avLst/>
          </a:prstGeom>
          <a:noFill/>
          <a:ln/>
        </p:spPr>
        <p:txBody>
          <a:bodyPr wrap="square" lIns="0" tIns="0" rIns="0" bIns="0" rtlCol="0" anchor="ctr"/>
          <a:lstStyle/>
          <a:p>
            <a:pPr marL="0" indent="0">
              <a:buNone/>
            </a:pPr>
            <a:r>
              <a:rPr lang="en-US" sz="1500" dirty="0">
                <a:solidFill>
                  <a:srgbClr val="2A1B3D"/>
                </a:solidFill>
                <a:latin typeface="Calibri" pitchFamily="34" charset="0"/>
                <a:ea typeface="Calibri" pitchFamily="34" charset="-122"/>
                <a:cs typeface="Calibri" pitchFamily="34" charset="-120"/>
              </a:rPr>
              <a:t>once per FACE</a:t>
            </a:r>
            <a:endParaRPr lang="en-US" sz="1500" dirty="0"/>
          </a:p>
        </p:txBody>
      </p:sp>
      <p:sp>
        <p:nvSpPr>
          <p:cNvPr id="17" name="Text 15"/>
          <p:cNvSpPr/>
          <p:nvPr/>
        </p:nvSpPr>
        <p:spPr>
          <a:xfrm>
            <a:off x="5303520" y="3429000"/>
            <a:ext cx="6035040" cy="841248"/>
          </a:xfrm>
          <a:prstGeom prst="rect">
            <a:avLst/>
          </a:prstGeom>
          <a:noFill/>
          <a:ln/>
        </p:spPr>
        <p:txBody>
          <a:bodyPr wrap="square" lIns="0" tIns="0" rIns="0" bIns="0" rtlCol="0" anchor="ctr"/>
          <a:lstStyle/>
          <a:p>
            <a:pPr marL="0" indent="0">
              <a:buNone/>
            </a:pPr>
            <a:r>
              <a:rPr lang="en-US" sz="1450" dirty="0">
                <a:solidFill>
                  <a:srgbClr val="7C6B84"/>
                </a:solidFill>
                <a:latin typeface="Calibri" pitchFamily="34" charset="0"/>
                <a:ea typeface="Calibri" pitchFamily="34" charset="-122"/>
                <a:cs typeface="Calibri" pitchFamily="34" charset="-120"/>
              </a:rPr>
              <a:t>A group photo of thirty people is thirty runs. This is what fills the GPU queue.</a:t>
            </a:r>
            <a:endParaRPr lang="en-US" sz="1450" dirty="0"/>
          </a:p>
        </p:txBody>
      </p:sp>
      <p:sp>
        <p:nvSpPr>
          <p:cNvPr id="18" name="Shape 16"/>
          <p:cNvSpPr/>
          <p:nvPr/>
        </p:nvSpPr>
        <p:spPr>
          <a:xfrm>
            <a:off x="640080" y="4389120"/>
            <a:ext cx="10908792" cy="841248"/>
          </a:xfrm>
          <a:prstGeom prst="roundRect">
            <a:avLst>
              <a:gd name="adj" fmla="val 15217"/>
            </a:avLst>
          </a:prstGeom>
          <a:solidFill>
            <a:srgbClr val="FFFFFF"/>
          </a:solidFill>
          <a:ln/>
        </p:spPr>
      </p:sp>
      <p:sp>
        <p:nvSpPr>
          <p:cNvPr id="19" name="Shape 17"/>
          <p:cNvSpPr/>
          <p:nvPr/>
        </p:nvSpPr>
        <p:spPr>
          <a:xfrm>
            <a:off x="914400" y="4709160"/>
            <a:ext cx="201168" cy="201168"/>
          </a:xfrm>
          <a:prstGeom prst="ellipse">
            <a:avLst/>
          </a:prstGeom>
          <a:solidFill>
            <a:srgbClr val="2E7D77"/>
          </a:solidFill>
          <a:ln/>
        </p:spPr>
      </p:sp>
      <p:sp>
        <p:nvSpPr>
          <p:cNvPr id="20" name="Text 18"/>
          <p:cNvSpPr/>
          <p:nvPr/>
        </p:nvSpPr>
        <p:spPr>
          <a:xfrm>
            <a:off x="1243584" y="4389120"/>
            <a:ext cx="1920240" cy="841248"/>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CLIP</a:t>
            </a:r>
            <a:endParaRPr lang="en-US" sz="1700" dirty="0"/>
          </a:p>
        </p:txBody>
      </p:sp>
      <p:sp>
        <p:nvSpPr>
          <p:cNvPr id="21" name="Text 19"/>
          <p:cNvSpPr/>
          <p:nvPr/>
        </p:nvSpPr>
        <p:spPr>
          <a:xfrm>
            <a:off x="3200400" y="4389120"/>
            <a:ext cx="2011680" cy="841248"/>
          </a:xfrm>
          <a:prstGeom prst="rect">
            <a:avLst/>
          </a:prstGeom>
          <a:noFill/>
          <a:ln/>
        </p:spPr>
        <p:txBody>
          <a:bodyPr wrap="square" lIns="0" tIns="0" rIns="0" bIns="0" rtlCol="0" anchor="ctr"/>
          <a:lstStyle/>
          <a:p>
            <a:pPr marL="0" indent="0">
              <a:buNone/>
            </a:pPr>
            <a:r>
              <a:rPr lang="en-US" sz="1500" dirty="0">
                <a:solidFill>
                  <a:srgbClr val="2A1B3D"/>
                </a:solidFill>
                <a:latin typeface="Calibri" pitchFamily="34" charset="0"/>
                <a:ea typeface="Calibri" pitchFamily="34" charset="-122"/>
                <a:cs typeface="Calibri" pitchFamily="34" charset="-120"/>
              </a:rPr>
              <a:t>once per photo</a:t>
            </a:r>
            <a:endParaRPr lang="en-US" sz="1500" dirty="0"/>
          </a:p>
        </p:txBody>
      </p:sp>
      <p:sp>
        <p:nvSpPr>
          <p:cNvPr id="22" name="Text 20"/>
          <p:cNvSpPr/>
          <p:nvPr/>
        </p:nvSpPr>
        <p:spPr>
          <a:xfrm>
            <a:off x="5303520" y="4389120"/>
            <a:ext cx="6035040" cy="841248"/>
          </a:xfrm>
          <a:prstGeom prst="rect">
            <a:avLst/>
          </a:prstGeom>
          <a:noFill/>
          <a:ln/>
        </p:spPr>
        <p:txBody>
          <a:bodyPr wrap="square" lIns="0" tIns="0" rIns="0" bIns="0" rtlCol="0" anchor="ctr"/>
          <a:lstStyle/>
          <a:p>
            <a:pPr marL="0" indent="0">
              <a:buNone/>
            </a:pPr>
            <a:r>
              <a:rPr lang="en-US" sz="1450" dirty="0">
                <a:solidFill>
                  <a:srgbClr val="7C6B84"/>
                </a:solidFill>
                <a:latin typeface="Calibri" pitchFamily="34" charset="0"/>
                <a:ea typeface="Calibri" pitchFamily="34" charset="-122"/>
                <a:cs typeface="Calibri" pitchFamily="34" charset="-120"/>
              </a:rPr>
              <a:t>Optional. Its own service and queue, so a small deployment can drop it entirely.</a:t>
            </a:r>
            <a:endParaRPr lang="en-US" sz="1450" dirty="0"/>
          </a:p>
        </p:txBody>
      </p:sp>
      <p:sp>
        <p:nvSpPr>
          <p:cNvPr id="23" name="Shape 21"/>
          <p:cNvSpPr/>
          <p:nvPr/>
        </p:nvSpPr>
        <p:spPr>
          <a:xfrm>
            <a:off x="640080" y="5532120"/>
            <a:ext cx="10908792" cy="960120"/>
          </a:xfrm>
          <a:prstGeom prst="roundRect">
            <a:avLst>
              <a:gd name="adj" fmla="val 15238"/>
            </a:avLst>
          </a:prstGeom>
          <a:solidFill>
            <a:srgbClr val="2A1B3D"/>
          </a:solidFill>
          <a:ln/>
        </p:spPr>
      </p:sp>
      <p:sp>
        <p:nvSpPr>
          <p:cNvPr id="24" name="Text 22"/>
          <p:cNvSpPr/>
          <p:nvPr/>
        </p:nvSpPr>
        <p:spPr>
          <a:xfrm>
            <a:off x="969264" y="5678424"/>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Three models, all wanting a GPU, all doing nothing at all between events.</a:t>
            </a:r>
            <a:endParaRPr lang="en-US" sz="1900" dirty="0"/>
          </a:p>
        </p:txBody>
      </p:sp>
      <p:sp>
        <p:nvSpPr>
          <p:cNvPr id="25" name="Text 23"/>
          <p:cNvSpPr/>
          <p:nvPr/>
        </p:nvSpPr>
        <p:spPr>
          <a:xfrm>
            <a:off x="969264" y="6080760"/>
            <a:ext cx="10241280" cy="30175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Every architectural decision in the rest of this story follows from that one sentence.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03</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THREE</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One photograph, all the way through</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Follow a single picture from the camera roll to the database — and watch it stop being a picture somewhere in the middle.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2"/>
        </a:solidFill>
        <a:effectLst/>
      </p:bgPr>
    </p:bg>
    <p:spTree>
      <p:nvGrpSpPr>
        <p:cNvPr id="1" name=""/>
        <p:cNvGrpSpPr/>
        <p:nvPr/>
      </p:nvGrpSpPr>
      <p:grpSpPr>
        <a:xfrm>
          <a:off x="0" y="0"/>
          <a:ext cx="0" cy="0"/>
          <a:chOff x="0" y="0"/>
          <a:chExt cx="0" cy="0"/>
        </a:xfrm>
      </p:grpSpPr>
      <p:pic>
        <p:nvPicPr>
          <p:cNvPr id="2" name="Image 0" descr="s-pipeline.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THE QUESTION PEOPLE ALWAYS ASK</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Why cut the faces out? Why not show it the whole photo?</a:t>
            </a:r>
            <a:endParaRPr lang="en-US" sz="3200" dirty="0"/>
          </a:p>
        </p:txBody>
      </p:sp>
      <p:sp>
        <p:nvSpPr>
          <p:cNvPr id="4" name="Shape 2"/>
          <p:cNvSpPr/>
          <p:nvPr/>
        </p:nvSpPr>
        <p:spPr>
          <a:xfrm>
            <a:off x="640080" y="1677202"/>
            <a:ext cx="5321808" cy="3154680"/>
          </a:xfrm>
          <a:prstGeom prst="roundRect">
            <a:avLst>
              <a:gd name="adj" fmla="val 4638"/>
            </a:avLst>
          </a:prstGeom>
          <a:solidFill>
            <a:srgbClr val="FFFFFF"/>
          </a:solidFill>
          <a:ln/>
        </p:spPr>
      </p:sp>
      <p:sp>
        <p:nvSpPr>
          <p:cNvPr id="5" name="Shape 3"/>
          <p:cNvSpPr/>
          <p:nvPr/>
        </p:nvSpPr>
        <p:spPr>
          <a:xfrm>
            <a:off x="950976" y="1978954"/>
            <a:ext cx="292608" cy="292608"/>
          </a:xfrm>
          <a:prstGeom prst="ellipse">
            <a:avLst/>
          </a:prstGeom>
          <a:solidFill>
            <a:srgbClr val="E2574C"/>
          </a:solidFill>
          <a:ln/>
        </p:spPr>
      </p:sp>
      <p:sp>
        <p:nvSpPr>
          <p:cNvPr id="6" name="Text 4"/>
          <p:cNvSpPr/>
          <p:nvPr/>
        </p:nvSpPr>
        <p:spPr>
          <a:xfrm>
            <a:off x="950976" y="2408722"/>
            <a:ext cx="4700016" cy="457200"/>
          </a:xfrm>
          <a:prstGeom prst="rect">
            <a:avLst/>
          </a:prstGeom>
          <a:noFill/>
          <a:ln/>
        </p:spPr>
        <p:txBody>
          <a:bodyPr wrap="square" lIns="0" tIns="0" rIns="0" bIns="0" rtlCol="0" anchor="ctr"/>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If you fed it the whole frame</a:t>
            </a:r>
            <a:endParaRPr lang="en-US" sz="1900" dirty="0"/>
          </a:p>
        </p:txBody>
      </p:sp>
      <p:sp>
        <p:nvSpPr>
          <p:cNvPr id="7" name="Text 5"/>
          <p:cNvSpPr/>
          <p:nvPr/>
        </p:nvSpPr>
        <p:spPr>
          <a:xfrm>
            <a:off x="950976" y="2957362"/>
            <a:ext cx="4700016" cy="1737360"/>
          </a:xfrm>
          <a:prstGeom prst="rect">
            <a:avLst/>
          </a:prstGeom>
          <a:noFill/>
          <a:ln/>
        </p:spPr>
        <p:txBody>
          <a:bodyPr wrap="square" lIns="0" tIns="0" rIns="0" bIns="0" rtlCol="0" anchor="ctr"/>
          <a:lstStyle/>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One answer for a picture with thirty people in it</a:t>
            </a:r>
            <a:endParaRPr lang="en-US" sz="1500" dirty="0"/>
          </a:p>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The background and the lighting dominate</a:t>
            </a:r>
            <a:endParaRPr lang="en-US" sz="1500" dirty="0"/>
          </a:p>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The biggest face wins; the girl at the edge is ignored</a:t>
            </a:r>
            <a:endParaRPr lang="en-US" sz="1500" dirty="0"/>
          </a:p>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Move the camera and the “identity” changes</a:t>
            </a:r>
            <a:endParaRPr lang="en-US" sz="1500" dirty="0"/>
          </a:p>
        </p:txBody>
      </p:sp>
      <p:sp>
        <p:nvSpPr>
          <p:cNvPr id="8" name="Shape 6"/>
          <p:cNvSpPr/>
          <p:nvPr/>
        </p:nvSpPr>
        <p:spPr>
          <a:xfrm>
            <a:off x="6227064" y="1677202"/>
            <a:ext cx="5321808" cy="3154680"/>
          </a:xfrm>
          <a:prstGeom prst="roundRect">
            <a:avLst>
              <a:gd name="adj" fmla="val 4638"/>
            </a:avLst>
          </a:prstGeom>
          <a:solidFill>
            <a:srgbClr val="FFFFFF"/>
          </a:solidFill>
          <a:ln/>
        </p:spPr>
      </p:sp>
      <p:sp>
        <p:nvSpPr>
          <p:cNvPr id="9" name="Shape 7"/>
          <p:cNvSpPr/>
          <p:nvPr/>
        </p:nvSpPr>
        <p:spPr>
          <a:xfrm>
            <a:off x="6537960" y="1978954"/>
            <a:ext cx="292608" cy="292608"/>
          </a:xfrm>
          <a:prstGeom prst="ellipse">
            <a:avLst/>
          </a:prstGeom>
          <a:solidFill>
            <a:srgbClr val="2E7D77"/>
          </a:solidFill>
          <a:ln/>
        </p:spPr>
      </p:sp>
      <p:sp>
        <p:nvSpPr>
          <p:cNvPr id="10" name="Text 8"/>
          <p:cNvSpPr/>
          <p:nvPr/>
        </p:nvSpPr>
        <p:spPr>
          <a:xfrm>
            <a:off x="6537960" y="2408722"/>
            <a:ext cx="4700016" cy="457200"/>
          </a:xfrm>
          <a:prstGeom prst="rect">
            <a:avLst/>
          </a:prstGeom>
          <a:noFill/>
          <a:ln/>
        </p:spPr>
        <p:txBody>
          <a:bodyPr wrap="square" lIns="0" tIns="0" rIns="0" bIns="0" rtlCol="0" anchor="ctr"/>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Because you crop each face first</a:t>
            </a:r>
            <a:endParaRPr lang="en-US" sz="1900" dirty="0"/>
          </a:p>
        </p:txBody>
      </p:sp>
      <p:sp>
        <p:nvSpPr>
          <p:cNvPr id="11" name="Text 9"/>
          <p:cNvSpPr/>
          <p:nvPr/>
        </p:nvSpPr>
        <p:spPr>
          <a:xfrm>
            <a:off x="6537960" y="2957362"/>
            <a:ext cx="4700016" cy="1737360"/>
          </a:xfrm>
          <a:prstGeom prst="rect">
            <a:avLst/>
          </a:prstGeom>
          <a:noFill/>
          <a:ln/>
        </p:spPr>
        <p:txBody>
          <a:bodyPr wrap="square" lIns="0" tIns="0" rIns="0" bIns="0" rtlCol="0" anchor="ctr"/>
          <a:lstStyle/>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Thirty faces become thirty small, comparable problems</a:t>
            </a:r>
            <a:endParaRPr lang="en-US" sz="1500" dirty="0"/>
          </a:p>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The model only ever sees a face, filling the frame</a:t>
            </a:r>
            <a:endParaRPr lang="en-US" sz="1500" dirty="0"/>
          </a:p>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The girl at the edge counts as much as the boy in front</a:t>
            </a:r>
            <a:endParaRPr lang="en-US" sz="1500" dirty="0"/>
          </a:p>
          <a:p>
            <a:pPr marL="0" indent="0">
              <a:lnSpc>
                <a:spcPts val="2400"/>
              </a:lnSpc>
              <a:buNone/>
            </a:pPr>
            <a:r>
              <a:rPr lang="en-US" sz="1500" dirty="0">
                <a:solidFill>
                  <a:srgbClr val="7C6B84"/>
                </a:solidFill>
                <a:latin typeface="Calibri" pitchFamily="34" charset="0"/>
                <a:ea typeface="Calibri" pitchFamily="34" charset="-122"/>
                <a:cs typeface="Calibri" pitchFamily="34" charset="-120"/>
              </a:rPr>
              <a:t>• The same person in two photos gives two close answers</a:t>
            </a:r>
            <a:endParaRPr lang="en-US" sz="1500" dirty="0"/>
          </a:p>
        </p:txBody>
      </p:sp>
      <p:sp>
        <p:nvSpPr>
          <p:cNvPr id="12" name="Shape 10"/>
          <p:cNvSpPr/>
          <p:nvPr/>
        </p:nvSpPr>
        <p:spPr>
          <a:xfrm>
            <a:off x="640080" y="5236144"/>
            <a:ext cx="10908792" cy="1051560"/>
          </a:xfrm>
          <a:prstGeom prst="roundRect">
            <a:avLst>
              <a:gd name="adj" fmla="val 13913"/>
            </a:avLst>
          </a:prstGeom>
          <a:solidFill>
            <a:srgbClr val="2A1B3D"/>
          </a:solidFill>
          <a:ln/>
        </p:spPr>
      </p:sp>
      <p:sp>
        <p:nvSpPr>
          <p:cNvPr id="13" name="Text 11"/>
          <p:cNvSpPr/>
          <p:nvPr/>
        </p:nvSpPr>
        <p:spPr>
          <a:xfrm>
            <a:off x="969264" y="5298226"/>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Detection is not a chore you do before the interesting part. It IS the interesting part.</a:t>
            </a:r>
            <a:endParaRPr lang="en-US" sz="1900" dirty="0"/>
          </a:p>
        </p:txBody>
      </p:sp>
      <p:sp>
        <p:nvSpPr>
          <p:cNvPr id="14" name="Text 12"/>
          <p:cNvSpPr/>
          <p:nvPr/>
        </p:nvSpPr>
        <p:spPr>
          <a:xfrm>
            <a:off x="969264" y="5700562"/>
            <a:ext cx="10241280" cy="39319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It turns one impossible question into thirty easy ones — and that is the only reason the recognition model can be small and fast enough to run at all.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THE STEP NOBODY MENTIONS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Every face is straightened before it is measured</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800" dirty="0">
                <a:solidFill>
                  <a:srgbClr val="7C6B84"/>
                </a:solidFill>
                <a:latin typeface="Calibri" pitchFamily="34" charset="0"/>
                <a:ea typeface="Calibri" pitchFamily="34" charset="-122"/>
                <a:cs typeface="Calibri" pitchFamily="34" charset="-120"/>
              </a:rPr>
              <a:t>Five landmarks — two eyes, a nose, two mouth corners — are used to warp every crop so they land in the same place. A tilted head and a straight one become the same picture.</a:t>
            </a:r>
            <a:endParaRPr lang="en-US" sz="1800" dirty="0"/>
          </a:p>
        </p:txBody>
      </p:sp>
      <p:sp>
        <p:nvSpPr>
          <p:cNvPr id="5" name="Shape 3"/>
          <p:cNvSpPr/>
          <p:nvPr/>
        </p:nvSpPr>
        <p:spPr>
          <a:xfrm>
            <a:off x="640080" y="2423160"/>
            <a:ext cx="3453384" cy="2697480"/>
          </a:xfrm>
          <a:prstGeom prst="roundRect">
            <a:avLst>
              <a:gd name="adj" fmla="val 5424"/>
            </a:avLst>
          </a:prstGeom>
          <a:solidFill>
            <a:srgbClr val="FFFFFF"/>
          </a:solidFill>
          <a:ln/>
        </p:spPr>
      </p:sp>
      <p:sp>
        <p:nvSpPr>
          <p:cNvPr id="6" name="Shape 4"/>
          <p:cNvSpPr/>
          <p:nvPr/>
        </p:nvSpPr>
        <p:spPr>
          <a:xfrm>
            <a:off x="950976" y="2734056"/>
            <a:ext cx="310896" cy="310896"/>
          </a:xfrm>
          <a:prstGeom prst="ellipse">
            <a:avLst/>
          </a:prstGeom>
          <a:solidFill>
            <a:srgbClr val="E2574C"/>
          </a:solidFill>
          <a:ln/>
        </p:spPr>
      </p:sp>
      <p:sp>
        <p:nvSpPr>
          <p:cNvPr id="7" name="Text 5"/>
          <p:cNvSpPr/>
          <p:nvPr/>
        </p:nvSpPr>
        <p:spPr>
          <a:xfrm>
            <a:off x="950976" y="3172968"/>
            <a:ext cx="2831592"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Without it</a:t>
            </a:r>
            <a:endParaRPr lang="en-US" sz="1900" dirty="0"/>
          </a:p>
        </p:txBody>
      </p:sp>
      <p:sp>
        <p:nvSpPr>
          <p:cNvPr id="8" name="Text 6"/>
          <p:cNvSpPr/>
          <p:nvPr/>
        </p:nvSpPr>
        <p:spPr>
          <a:xfrm>
            <a:off x="950976" y="3749040"/>
            <a:ext cx="2831592" cy="10972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The model has to learn “same person, rotated twenty degrees” separately for every angle — and spends half of its 512 numbers describing pose instead of identity.</a:t>
            </a:r>
            <a:endParaRPr lang="en-US" sz="1500" dirty="0"/>
          </a:p>
        </p:txBody>
      </p:sp>
      <p:sp>
        <p:nvSpPr>
          <p:cNvPr id="9" name="Shape 7"/>
          <p:cNvSpPr/>
          <p:nvPr/>
        </p:nvSpPr>
        <p:spPr>
          <a:xfrm>
            <a:off x="4367784" y="2423160"/>
            <a:ext cx="3453384" cy="2697480"/>
          </a:xfrm>
          <a:prstGeom prst="roundRect">
            <a:avLst>
              <a:gd name="adj" fmla="val 5424"/>
            </a:avLst>
          </a:prstGeom>
          <a:solidFill>
            <a:srgbClr val="FFFFFF"/>
          </a:solidFill>
          <a:ln/>
        </p:spPr>
      </p:sp>
      <p:sp>
        <p:nvSpPr>
          <p:cNvPr id="10" name="Shape 8"/>
          <p:cNvSpPr/>
          <p:nvPr/>
        </p:nvSpPr>
        <p:spPr>
          <a:xfrm>
            <a:off x="4678680" y="2734056"/>
            <a:ext cx="310896" cy="310896"/>
          </a:xfrm>
          <a:prstGeom prst="ellipse">
            <a:avLst/>
          </a:prstGeom>
          <a:solidFill>
            <a:srgbClr val="2E7D77"/>
          </a:solidFill>
          <a:ln/>
        </p:spPr>
      </p:sp>
      <p:sp>
        <p:nvSpPr>
          <p:cNvPr id="11" name="Text 9"/>
          <p:cNvSpPr/>
          <p:nvPr/>
        </p:nvSpPr>
        <p:spPr>
          <a:xfrm>
            <a:off x="4678680" y="3172968"/>
            <a:ext cx="2831592"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With it</a:t>
            </a:r>
            <a:endParaRPr lang="en-US" sz="1900" dirty="0"/>
          </a:p>
        </p:txBody>
      </p:sp>
      <p:sp>
        <p:nvSpPr>
          <p:cNvPr id="12" name="Text 10"/>
          <p:cNvSpPr/>
          <p:nvPr/>
        </p:nvSpPr>
        <p:spPr>
          <a:xfrm>
            <a:off x="4678680" y="3749040"/>
            <a:ext cx="2831592" cy="10972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Pose is gone before the model sees anything. All 512 numbers get spent on the thing you actually care about: what makes this person not that person.</a:t>
            </a:r>
            <a:endParaRPr lang="en-US" sz="1500" dirty="0"/>
          </a:p>
        </p:txBody>
      </p:sp>
      <p:sp>
        <p:nvSpPr>
          <p:cNvPr id="13" name="Shape 11"/>
          <p:cNvSpPr/>
          <p:nvPr/>
        </p:nvSpPr>
        <p:spPr>
          <a:xfrm>
            <a:off x="8095488" y="2423160"/>
            <a:ext cx="3453384" cy="2697480"/>
          </a:xfrm>
          <a:prstGeom prst="roundRect">
            <a:avLst>
              <a:gd name="adj" fmla="val 5424"/>
            </a:avLst>
          </a:prstGeom>
          <a:solidFill>
            <a:srgbClr val="FFFFFF"/>
          </a:solidFill>
          <a:ln/>
        </p:spPr>
      </p:sp>
      <p:sp>
        <p:nvSpPr>
          <p:cNvPr id="14" name="Shape 12"/>
          <p:cNvSpPr/>
          <p:nvPr/>
        </p:nvSpPr>
        <p:spPr>
          <a:xfrm>
            <a:off x="8406384" y="2734056"/>
            <a:ext cx="310896" cy="310896"/>
          </a:xfrm>
          <a:prstGeom prst="ellipse">
            <a:avLst/>
          </a:prstGeom>
          <a:solidFill>
            <a:srgbClr val="F2A93B"/>
          </a:solidFill>
          <a:ln/>
        </p:spPr>
      </p:sp>
      <p:sp>
        <p:nvSpPr>
          <p:cNvPr id="15" name="Text 13"/>
          <p:cNvSpPr/>
          <p:nvPr/>
        </p:nvSpPr>
        <p:spPr>
          <a:xfrm>
            <a:off x="8406384" y="3172968"/>
            <a:ext cx="2831592"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general rule</a:t>
            </a:r>
            <a:endParaRPr lang="en-US" sz="1900" dirty="0"/>
          </a:p>
        </p:txBody>
      </p:sp>
      <p:sp>
        <p:nvSpPr>
          <p:cNvPr id="16" name="Text 14"/>
          <p:cNvSpPr/>
          <p:nvPr/>
        </p:nvSpPr>
        <p:spPr>
          <a:xfrm>
            <a:off x="8406384" y="3749040"/>
            <a:ext cx="2831592" cy="10972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Every bit of variation you remove before the model is capacity you get back. This is true far beyond faces — it is most of what feature engineering ever was.</a:t>
            </a:r>
            <a:endParaRPr lang="en-US" sz="1500" dirty="0"/>
          </a:p>
        </p:txBody>
      </p:sp>
      <p:sp>
        <p:nvSpPr>
          <p:cNvPr id="17" name="Shape 15"/>
          <p:cNvSpPr/>
          <p:nvPr/>
        </p:nvSpPr>
        <p:spPr>
          <a:xfrm>
            <a:off x="640080" y="5440680"/>
            <a:ext cx="10908792" cy="960120"/>
          </a:xfrm>
          <a:prstGeom prst="roundRect">
            <a:avLst>
              <a:gd name="adj" fmla="val 15238"/>
            </a:avLst>
          </a:prstGeom>
          <a:solidFill>
            <a:srgbClr val="2A1B3D"/>
          </a:solidFill>
          <a:ln/>
        </p:spPr>
      </p:sp>
      <p:sp>
        <p:nvSpPr>
          <p:cNvPr id="18" name="Text 16"/>
          <p:cNvSpPr/>
          <p:nvPr/>
        </p:nvSpPr>
        <p:spPr>
          <a:xfrm>
            <a:off x="969264" y="5586984"/>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Ask the room to tilt their heads.</a:t>
            </a:r>
            <a:endParaRPr lang="en-US" sz="1900" dirty="0"/>
          </a:p>
        </p:txBody>
      </p:sp>
      <p:sp>
        <p:nvSpPr>
          <p:cNvPr id="19" name="Text 17"/>
          <p:cNvSpPr/>
          <p:nvPr/>
        </p:nvSpPr>
        <p:spPr>
          <a:xfrm>
            <a:off x="969264" y="5989320"/>
            <a:ext cx="10241280" cy="30175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To a human those are obviously the same face. To a model without alignment, they are two unrelated grids of pixels.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04</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FOUR</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What “you” looks like as numbers</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Meera’s face becomes 512 decimals. Her other photographs become 512 decimals that land nearby. Everything after this is measuring the gap.</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2E7D77"/>
                </a:solidFill>
                <a:latin typeface="Calibri" pitchFamily="34" charset="0"/>
                <a:ea typeface="Calibri" pitchFamily="34" charset="-122"/>
                <a:cs typeface="Calibri" pitchFamily="34" charset="-120"/>
              </a:rPr>
              <a:t>YOU PROBABLY ALREADY HALF-KNOW THIS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The version most people arrive with — and what it misses</a:t>
            </a:r>
            <a:endParaRPr lang="en-US" sz="3200" dirty="0"/>
          </a:p>
        </p:txBody>
      </p:sp>
      <p:sp>
        <p:nvSpPr>
          <p:cNvPr id="4" name="Shape 2"/>
          <p:cNvSpPr/>
          <p:nvPr/>
        </p:nvSpPr>
        <p:spPr>
          <a:xfrm>
            <a:off x="640080" y="1536430"/>
            <a:ext cx="10908792" cy="1005840"/>
          </a:xfrm>
          <a:prstGeom prst="roundRect">
            <a:avLst>
              <a:gd name="adj" fmla="val 14545"/>
            </a:avLst>
          </a:prstGeom>
          <a:solidFill>
            <a:srgbClr val="F3EBE2"/>
          </a:solidFill>
          <a:ln/>
        </p:spPr>
      </p:sp>
      <p:sp>
        <p:nvSpPr>
          <p:cNvPr id="5" name="Text 3"/>
          <p:cNvSpPr/>
          <p:nvPr/>
        </p:nvSpPr>
        <p:spPr>
          <a:xfrm>
            <a:off x="969264" y="1536430"/>
            <a:ext cx="10241280" cy="1005840"/>
          </a:xfrm>
          <a:prstGeom prst="rect">
            <a:avLst/>
          </a:prstGeom>
          <a:noFill/>
          <a:ln/>
        </p:spPr>
        <p:txBody>
          <a:bodyPr wrap="square" lIns="0" tIns="0" rIns="0" bIns="0" rtlCol="0" anchor="ctr"/>
          <a:lstStyle/>
          <a:p>
            <a:pPr marL="0" indent="0">
              <a:buNone/>
            </a:pPr>
            <a:r>
              <a:rPr lang="en-US" sz="1800" i="1" dirty="0">
                <a:solidFill>
                  <a:srgbClr val="2A1B3D"/>
                </a:solidFill>
                <a:latin typeface="Century Schoolbook" pitchFamily="34" charset="0"/>
                <a:ea typeface="Century Schoolbook" pitchFamily="34" charset="-122"/>
                <a:cs typeface="Century Schoolbook" pitchFamily="34" charset="-120"/>
              </a:rPr>
              <a:t>“Your face is turned into a 512-number fingerprint. Your other photos give nearby numbers. The nearby ones get grouped into a person.”</a:t>
            </a:r>
            <a:endParaRPr lang="en-US" sz="1800" dirty="0"/>
          </a:p>
        </p:txBody>
      </p:sp>
      <p:sp>
        <p:nvSpPr>
          <p:cNvPr id="6" name="Text 4"/>
          <p:cNvSpPr/>
          <p:nvPr/>
        </p:nvSpPr>
        <p:spPr>
          <a:xfrm>
            <a:off x="640080" y="2679430"/>
            <a:ext cx="10881360" cy="320040"/>
          </a:xfrm>
          <a:prstGeom prst="rect">
            <a:avLst/>
          </a:prstGeom>
          <a:noFill/>
          <a:ln/>
        </p:spPr>
        <p:txBody>
          <a:bodyPr wrap="square" lIns="0" tIns="0" rIns="0" bIns="0" rtlCol="0" anchor="ctr"/>
          <a:lstStyle/>
          <a:p>
            <a:pPr marL="0" indent="0">
              <a:buNone/>
            </a:pPr>
            <a:r>
              <a:rPr lang="en-US" sz="1500" b="1" dirty="0">
                <a:solidFill>
                  <a:srgbClr val="2E7D77"/>
                </a:solidFill>
                <a:latin typeface="Calibri" pitchFamily="34" charset="0"/>
                <a:ea typeface="Calibri" pitchFamily="34" charset="-122"/>
                <a:cs typeface="Calibri" pitchFamily="34" charset="-120"/>
              </a:rPr>
              <a:t>All of that is right. Three details change how you would build it:</a:t>
            </a:r>
            <a:endParaRPr lang="en-US" sz="1500" dirty="0"/>
          </a:p>
        </p:txBody>
      </p:sp>
      <p:sp>
        <p:nvSpPr>
          <p:cNvPr id="7" name="Shape 5"/>
          <p:cNvSpPr/>
          <p:nvPr/>
        </p:nvSpPr>
        <p:spPr>
          <a:xfrm>
            <a:off x="640080" y="3090910"/>
            <a:ext cx="3392424" cy="2240280"/>
          </a:xfrm>
          <a:prstGeom prst="roundRect">
            <a:avLst>
              <a:gd name="adj" fmla="val 6531"/>
            </a:avLst>
          </a:prstGeom>
          <a:solidFill>
            <a:srgbClr val="FFFFFF"/>
          </a:solidFill>
          <a:ln/>
        </p:spPr>
      </p:sp>
      <p:sp>
        <p:nvSpPr>
          <p:cNvPr id="8" name="Shape 6"/>
          <p:cNvSpPr/>
          <p:nvPr/>
        </p:nvSpPr>
        <p:spPr>
          <a:xfrm>
            <a:off x="914400" y="3365230"/>
            <a:ext cx="292608" cy="292608"/>
          </a:xfrm>
          <a:prstGeom prst="ellipse">
            <a:avLst/>
          </a:prstGeom>
          <a:solidFill>
            <a:srgbClr val="E2574C"/>
          </a:solidFill>
          <a:ln/>
        </p:spPr>
      </p:sp>
      <p:sp>
        <p:nvSpPr>
          <p:cNvPr id="9" name="Text 7"/>
          <p:cNvSpPr/>
          <p:nvPr/>
        </p:nvSpPr>
        <p:spPr>
          <a:xfrm>
            <a:off x="914400" y="336523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914400" y="3941302"/>
            <a:ext cx="2880360" cy="292608"/>
          </a:xfrm>
          <a:prstGeom prst="rect">
            <a:avLst/>
          </a:prstGeom>
          <a:noFill/>
          <a:ln/>
        </p:spPr>
        <p:txBody>
          <a:bodyPr wrap="square" lIns="0" tIns="0" rIns="0" bIns="0" rtlCol="0" anchor="t"/>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Numbers</a:t>
            </a:r>
            <a:endParaRPr lang="en-US" sz="1700" dirty="0"/>
          </a:p>
        </p:txBody>
      </p:sp>
      <p:sp>
        <p:nvSpPr>
          <p:cNvPr id="11" name="Text 9"/>
          <p:cNvSpPr/>
          <p:nvPr/>
        </p:nvSpPr>
        <p:spPr>
          <a:xfrm>
            <a:off x="914400" y="4462510"/>
            <a:ext cx="2880360" cy="77724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They are decimals like -0.118, not single digits. Together they make one arrow pointing somewhere.</a:t>
            </a:r>
            <a:endParaRPr lang="en-US" sz="1350" dirty="0"/>
          </a:p>
        </p:txBody>
      </p:sp>
      <p:sp>
        <p:nvSpPr>
          <p:cNvPr id="12" name="Shape 10"/>
          <p:cNvSpPr/>
          <p:nvPr/>
        </p:nvSpPr>
        <p:spPr>
          <a:xfrm>
            <a:off x="4398264" y="3090910"/>
            <a:ext cx="3392424" cy="2240280"/>
          </a:xfrm>
          <a:prstGeom prst="roundRect">
            <a:avLst>
              <a:gd name="adj" fmla="val 6531"/>
            </a:avLst>
          </a:prstGeom>
          <a:solidFill>
            <a:srgbClr val="FFFFFF"/>
          </a:solidFill>
          <a:ln/>
        </p:spPr>
      </p:sp>
      <p:sp>
        <p:nvSpPr>
          <p:cNvPr id="13" name="Shape 11"/>
          <p:cNvSpPr/>
          <p:nvPr/>
        </p:nvSpPr>
        <p:spPr>
          <a:xfrm>
            <a:off x="4672584" y="3365230"/>
            <a:ext cx="292608" cy="292608"/>
          </a:xfrm>
          <a:prstGeom prst="ellipse">
            <a:avLst/>
          </a:prstGeom>
          <a:solidFill>
            <a:srgbClr val="F2A93B"/>
          </a:solidFill>
          <a:ln/>
        </p:spPr>
      </p:sp>
      <p:sp>
        <p:nvSpPr>
          <p:cNvPr id="14" name="Text 12"/>
          <p:cNvSpPr/>
          <p:nvPr/>
        </p:nvSpPr>
        <p:spPr>
          <a:xfrm>
            <a:off x="4672584" y="336523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672584" y="3776710"/>
            <a:ext cx="2880360" cy="685800"/>
          </a:xfrm>
          <a:prstGeom prst="rect">
            <a:avLst/>
          </a:prstGeom>
          <a:noFill/>
          <a:ln/>
        </p:spPr>
        <p:txBody>
          <a:bodyPr wrap="square" lIns="0" tIns="0" rIns="0" bIns="0" rtlCol="0" anchor="t"/>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One distance, not 512 comparisons</a:t>
            </a:r>
            <a:endParaRPr lang="en-US" sz="1700" dirty="0"/>
          </a:p>
        </p:txBody>
      </p:sp>
      <p:sp>
        <p:nvSpPr>
          <p:cNvPr id="16" name="Text 14"/>
          <p:cNvSpPr/>
          <p:nvPr/>
        </p:nvSpPr>
        <p:spPr>
          <a:xfrm>
            <a:off x="4672584" y="4462510"/>
            <a:ext cx="2880360" cy="77724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You never compare slot 7 to slot 7. All 512 collapse into a single number, and one threshold decides.</a:t>
            </a:r>
            <a:endParaRPr lang="en-US" sz="1350" dirty="0"/>
          </a:p>
        </p:txBody>
      </p:sp>
      <p:sp>
        <p:nvSpPr>
          <p:cNvPr id="17" name="Shape 15"/>
          <p:cNvSpPr/>
          <p:nvPr/>
        </p:nvSpPr>
        <p:spPr>
          <a:xfrm>
            <a:off x="8156448" y="3090910"/>
            <a:ext cx="3392424" cy="2240280"/>
          </a:xfrm>
          <a:prstGeom prst="roundRect">
            <a:avLst>
              <a:gd name="adj" fmla="val 6531"/>
            </a:avLst>
          </a:prstGeom>
          <a:solidFill>
            <a:srgbClr val="FFFFFF"/>
          </a:solidFill>
          <a:ln/>
        </p:spPr>
      </p:sp>
      <p:sp>
        <p:nvSpPr>
          <p:cNvPr id="18" name="Shape 16"/>
          <p:cNvSpPr/>
          <p:nvPr/>
        </p:nvSpPr>
        <p:spPr>
          <a:xfrm>
            <a:off x="8430768" y="3365230"/>
            <a:ext cx="292608" cy="292608"/>
          </a:xfrm>
          <a:prstGeom prst="ellipse">
            <a:avLst/>
          </a:prstGeom>
          <a:solidFill>
            <a:srgbClr val="2E7D77"/>
          </a:solidFill>
          <a:ln/>
        </p:spPr>
      </p:sp>
      <p:sp>
        <p:nvSpPr>
          <p:cNvPr id="19" name="Text 17"/>
          <p:cNvSpPr/>
          <p:nvPr/>
        </p:nvSpPr>
        <p:spPr>
          <a:xfrm>
            <a:off x="8430768" y="336523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430768" y="3941302"/>
            <a:ext cx="2880360" cy="292608"/>
          </a:xfrm>
          <a:prstGeom prst="rect">
            <a:avLst/>
          </a:prstGeom>
          <a:noFill/>
          <a:ln/>
        </p:spPr>
        <p:txBody>
          <a:bodyPr wrap="square" lIns="0" tIns="0" rIns="0" bIns="0" rtlCol="0" anchor="t"/>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One at a time, not one big pass</a:t>
            </a:r>
            <a:endParaRPr lang="en-US" sz="1700" dirty="0"/>
          </a:p>
        </p:txBody>
      </p:sp>
      <p:sp>
        <p:nvSpPr>
          <p:cNvPr id="21" name="Text 19"/>
          <p:cNvSpPr/>
          <p:nvPr/>
        </p:nvSpPr>
        <p:spPr>
          <a:xfrm>
            <a:off x="8430768" y="4462510"/>
            <a:ext cx="2880360" cy="77724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There is no grouping step. Each face asks “does a close neighbour already have a name?” and joins, or starts one.</a:t>
            </a:r>
            <a:endParaRPr lang="en-US" sz="1350" dirty="0"/>
          </a:p>
        </p:txBody>
      </p:sp>
      <p:sp>
        <p:nvSpPr>
          <p:cNvPr id="22" name="Shape 20"/>
          <p:cNvSpPr/>
          <p:nvPr/>
        </p:nvSpPr>
        <p:spPr>
          <a:xfrm>
            <a:off x="640080" y="5559790"/>
            <a:ext cx="10908792" cy="868680"/>
          </a:xfrm>
          <a:prstGeom prst="roundRect">
            <a:avLst>
              <a:gd name="adj" fmla="val 16842"/>
            </a:avLst>
          </a:prstGeom>
          <a:solidFill>
            <a:srgbClr val="F3EBE2"/>
          </a:solidFill>
          <a:ln/>
        </p:spPr>
      </p:sp>
      <p:sp>
        <p:nvSpPr>
          <p:cNvPr id="23" name="Text 21"/>
          <p:cNvSpPr/>
          <p:nvPr/>
        </p:nvSpPr>
        <p:spPr>
          <a:xfrm>
            <a:off x="969264" y="5669998"/>
            <a:ext cx="10241280" cy="402336"/>
          </a:xfrm>
          <a:prstGeom prst="rect">
            <a:avLst/>
          </a:prstGeom>
          <a:noFill/>
          <a:ln/>
        </p:spPr>
        <p:txBody>
          <a:bodyPr wrap="square" lIns="0" tIns="0" rIns="0" bIns="0" rtlCol="0" anchor="ctr"/>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Confirm the model warmly before you correct it.</a:t>
            </a:r>
            <a:endParaRPr lang="en-US" sz="1900" dirty="0"/>
          </a:p>
        </p:txBody>
      </p:sp>
      <p:sp>
        <p:nvSpPr>
          <p:cNvPr id="24" name="Text 22"/>
          <p:cNvSpPr/>
          <p:nvPr/>
        </p:nvSpPr>
        <p:spPr>
          <a:xfrm>
            <a:off x="969264" y="6036238"/>
            <a:ext cx="10241280" cy="210312"/>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Someone in the room is about to say this out loud, and they are 85% right. Tell them so first.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2"/>
        </a:solidFill>
        <a:effectLst/>
      </p:bgPr>
    </p:bg>
    <p:spTree>
      <p:nvGrpSpPr>
        <p:cNvPr id="1" name=""/>
        <p:cNvGrpSpPr/>
        <p:nvPr/>
      </p:nvGrpSpPr>
      <p:grpSpPr>
        <a:xfrm>
          <a:off x="0" y="0"/>
          <a:ext cx="0" cy="0"/>
          <a:chOff x="0" y="0"/>
          <a:chExt cx="0" cy="0"/>
        </a:xfrm>
      </p:grpSpPr>
      <p:pic>
        <p:nvPicPr>
          <p:cNvPr id="2" name="Image 0" descr="s-vector-map.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05</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FIVE</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How strangers become people</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Nobody ever wrote a function called findPeople(). People are simply what is left over once every face has answered one question.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2"/>
        </a:solidFill>
        <a:effectLst/>
      </p:bgPr>
    </p:bg>
    <p:spTree>
      <p:nvGrpSpPr>
        <p:cNvPr id="1" name=""/>
        <p:cNvGrpSpPr/>
        <p:nvPr/>
      </p:nvGrpSpPr>
      <p:grpSpPr>
        <a:xfrm>
          <a:off x="0" y="0"/>
          <a:ext cx="0" cy="0"/>
          <a:chOff x="0" y="0"/>
          <a:chExt cx="0" cy="0"/>
        </a:xfrm>
      </p:grpSpPr>
      <p:pic>
        <p:nvPicPr>
          <p:cNvPr id="2" name="Image 0" descr="s-clustering.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7A4E8C"/>
                </a:solidFill>
                <a:latin typeface="Calibri" pitchFamily="34" charset="0"/>
                <a:ea typeface="Calibri" pitchFamily="34" charset="-122"/>
                <a:cs typeface="Calibri" pitchFamily="34" charset="-120"/>
              </a:rPr>
              <a:t>A DISTINCTION WORTH DRAWING</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Two different questions, one set of numbers</a:t>
            </a:r>
            <a:endParaRPr lang="en-US" sz="3200" dirty="0"/>
          </a:p>
        </p:txBody>
      </p:sp>
      <p:sp>
        <p:nvSpPr>
          <p:cNvPr id="4" name="Shape 2"/>
          <p:cNvSpPr/>
          <p:nvPr/>
        </p:nvSpPr>
        <p:spPr>
          <a:xfrm>
            <a:off x="640080" y="1815564"/>
            <a:ext cx="5317236" cy="2718896"/>
          </a:xfrm>
          <a:prstGeom prst="roundRect">
            <a:avLst>
              <a:gd name="adj" fmla="val 4571"/>
            </a:avLst>
          </a:prstGeom>
          <a:solidFill>
            <a:srgbClr val="FFFFFF"/>
          </a:solidFill>
          <a:ln/>
        </p:spPr>
      </p:sp>
      <p:sp>
        <p:nvSpPr>
          <p:cNvPr id="5" name="Shape 3"/>
          <p:cNvSpPr/>
          <p:nvPr/>
        </p:nvSpPr>
        <p:spPr>
          <a:xfrm>
            <a:off x="950976" y="2126460"/>
            <a:ext cx="310896" cy="310896"/>
          </a:xfrm>
          <a:prstGeom prst="ellipse">
            <a:avLst/>
          </a:prstGeom>
          <a:solidFill>
            <a:srgbClr val="E2574C"/>
          </a:solidFill>
          <a:ln/>
        </p:spPr>
      </p:sp>
      <p:sp>
        <p:nvSpPr>
          <p:cNvPr id="6" name="Text 4"/>
          <p:cNvSpPr/>
          <p:nvPr/>
        </p:nvSpPr>
        <p:spPr>
          <a:xfrm>
            <a:off x="950976" y="2565372"/>
            <a:ext cx="4695444"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Clustering asks:</a:t>
            </a:r>
            <a:endParaRPr lang="en-US" sz="1900" dirty="0"/>
          </a:p>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“who is at this party at all?”</a:t>
            </a:r>
            <a:endParaRPr lang="en-US" sz="1900" dirty="0"/>
          </a:p>
        </p:txBody>
      </p:sp>
      <p:sp>
        <p:nvSpPr>
          <p:cNvPr id="7" name="Text 5"/>
          <p:cNvSpPr/>
          <p:nvPr/>
        </p:nvSpPr>
        <p:spPr>
          <a:xfrm>
            <a:off x="950976" y="3141444"/>
            <a:ext cx="4695444" cy="160020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Runs on faces already in the database. Compares them to each other. Produces anonymous people the organiser can name. Happens quietly, in the background, without anybody asking.</a:t>
            </a:r>
            <a:endParaRPr lang="en-US" sz="1500" dirty="0"/>
          </a:p>
        </p:txBody>
      </p:sp>
      <p:sp>
        <p:nvSpPr>
          <p:cNvPr id="8" name="Shape 6"/>
          <p:cNvSpPr/>
          <p:nvPr/>
        </p:nvSpPr>
        <p:spPr>
          <a:xfrm>
            <a:off x="6231636" y="1815564"/>
            <a:ext cx="5317236" cy="2718896"/>
          </a:xfrm>
          <a:prstGeom prst="roundRect">
            <a:avLst>
              <a:gd name="adj" fmla="val 4571"/>
            </a:avLst>
          </a:prstGeom>
          <a:solidFill>
            <a:srgbClr val="FFFFFF"/>
          </a:solidFill>
          <a:ln/>
        </p:spPr>
      </p:sp>
      <p:sp>
        <p:nvSpPr>
          <p:cNvPr id="9" name="Shape 7"/>
          <p:cNvSpPr/>
          <p:nvPr/>
        </p:nvSpPr>
        <p:spPr>
          <a:xfrm>
            <a:off x="6542532" y="2126460"/>
            <a:ext cx="310896" cy="310896"/>
          </a:xfrm>
          <a:prstGeom prst="ellipse">
            <a:avLst/>
          </a:prstGeom>
          <a:solidFill>
            <a:srgbClr val="2E7D77"/>
          </a:solidFill>
          <a:ln/>
        </p:spPr>
      </p:sp>
      <p:sp>
        <p:nvSpPr>
          <p:cNvPr id="10" name="Text 8"/>
          <p:cNvSpPr/>
          <p:nvPr/>
        </p:nvSpPr>
        <p:spPr>
          <a:xfrm>
            <a:off x="6542532" y="2565372"/>
            <a:ext cx="4695444"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Matching asks:</a:t>
            </a:r>
            <a:endParaRPr lang="en-US" sz="1900" dirty="0"/>
          </a:p>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“which of them is me?”</a:t>
            </a:r>
            <a:endParaRPr lang="en-US" sz="1900" dirty="0"/>
          </a:p>
        </p:txBody>
      </p:sp>
      <p:sp>
        <p:nvSpPr>
          <p:cNvPr id="11" name="Text 9"/>
          <p:cNvSpPr/>
          <p:nvPr/>
        </p:nvSpPr>
        <p:spPr>
          <a:xfrm>
            <a:off x="6542532" y="3141444"/>
            <a:ext cx="4695444" cy="160020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Runs on one selfie Meera just submitted. Compares that single vector against the event. Produces a private gallery and an email. Happens on demand, while she waits.</a:t>
            </a:r>
            <a:endParaRPr lang="en-US" sz="1500" dirty="0"/>
          </a:p>
        </p:txBody>
      </p:sp>
      <p:sp>
        <p:nvSpPr>
          <p:cNvPr id="12" name="Shape 10"/>
          <p:cNvSpPr/>
          <p:nvPr/>
        </p:nvSpPr>
        <p:spPr>
          <a:xfrm>
            <a:off x="635508" y="4897330"/>
            <a:ext cx="10908792" cy="1051560"/>
          </a:xfrm>
          <a:prstGeom prst="roundRect">
            <a:avLst>
              <a:gd name="adj" fmla="val 13913"/>
            </a:avLst>
          </a:prstGeom>
          <a:solidFill>
            <a:srgbClr val="2A1B3D"/>
          </a:solidFill>
          <a:ln/>
        </p:spPr>
      </p:sp>
      <p:sp>
        <p:nvSpPr>
          <p:cNvPr id="13" name="Text 11"/>
          <p:cNvSpPr/>
          <p:nvPr/>
        </p:nvSpPr>
        <p:spPr>
          <a:xfrm>
            <a:off x="969264" y="4967354"/>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Same model, same ruler, same threshold — two completely different features.</a:t>
            </a:r>
            <a:endParaRPr lang="en-US" sz="1900" dirty="0"/>
          </a:p>
        </p:txBody>
      </p:sp>
      <p:sp>
        <p:nvSpPr>
          <p:cNvPr id="14" name="Text 12"/>
          <p:cNvSpPr/>
          <p:nvPr/>
        </p:nvSpPr>
        <p:spPr>
          <a:xfrm>
            <a:off x="969264" y="5369690"/>
            <a:ext cx="10241280" cy="39319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That reuse is the whole payoff for having turned faces into numbers in the first place. Build the representation once, and the features get cheap.</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BE HONEST ABOUT THIS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Where 512 numbers stop being enough</a:t>
            </a:r>
            <a:endParaRPr lang="en-US" sz="3200" dirty="0"/>
          </a:p>
        </p:txBody>
      </p:sp>
      <p:sp>
        <p:nvSpPr>
          <p:cNvPr id="4" name="Shape 2"/>
          <p:cNvSpPr/>
          <p:nvPr/>
        </p:nvSpPr>
        <p:spPr>
          <a:xfrm>
            <a:off x="640080" y="1659155"/>
            <a:ext cx="3392424" cy="1600200"/>
          </a:xfrm>
          <a:prstGeom prst="roundRect">
            <a:avLst>
              <a:gd name="adj" fmla="val 8000"/>
            </a:avLst>
          </a:prstGeom>
          <a:solidFill>
            <a:srgbClr val="FFFFFF"/>
          </a:solidFill>
          <a:ln/>
        </p:spPr>
      </p:sp>
      <p:sp>
        <p:nvSpPr>
          <p:cNvPr id="5" name="Shape 3"/>
          <p:cNvSpPr/>
          <p:nvPr/>
        </p:nvSpPr>
        <p:spPr>
          <a:xfrm>
            <a:off x="914400" y="1933475"/>
            <a:ext cx="237744" cy="237744"/>
          </a:xfrm>
          <a:prstGeom prst="ellipse">
            <a:avLst/>
          </a:prstGeom>
          <a:solidFill>
            <a:srgbClr val="E2574C"/>
          </a:solidFill>
          <a:ln/>
        </p:spPr>
      </p:sp>
      <p:sp>
        <p:nvSpPr>
          <p:cNvPr id="6" name="Text 4"/>
          <p:cNvSpPr/>
          <p:nvPr/>
        </p:nvSpPr>
        <p:spPr>
          <a:xfrm>
            <a:off x="1261872" y="1860323"/>
            <a:ext cx="2560320" cy="384048"/>
          </a:xfrm>
          <a:prstGeom prst="rect">
            <a:avLst/>
          </a:prstGeom>
          <a:noFill/>
          <a:ln/>
        </p:spPr>
        <p:txBody>
          <a:bodyPr wrap="square" lIns="0" tIns="0" rIns="0" bIns="0" rtlCol="0" anchor="ctr"/>
          <a:lstStyle/>
          <a:p>
            <a:pPr marL="0" indent="0">
              <a:buNone/>
            </a:pPr>
            <a:r>
              <a:rPr lang="en-US" sz="1650" b="1" dirty="0">
                <a:solidFill>
                  <a:srgbClr val="2A1B3D"/>
                </a:solidFill>
                <a:latin typeface="Century Schoolbook" pitchFamily="34" charset="0"/>
                <a:ea typeface="Century Schoolbook" pitchFamily="34" charset="-122"/>
                <a:cs typeface="Century Schoolbook" pitchFamily="34" charset="-120"/>
              </a:rPr>
              <a:t>Identical twins</a:t>
            </a:r>
            <a:endParaRPr lang="en-US" sz="1650" dirty="0"/>
          </a:p>
        </p:txBody>
      </p:sp>
      <p:sp>
        <p:nvSpPr>
          <p:cNvPr id="7" name="Text 5"/>
          <p:cNvSpPr/>
          <p:nvPr/>
        </p:nvSpPr>
        <p:spPr>
          <a:xfrm>
            <a:off x="914400" y="2344955"/>
            <a:ext cx="2880360" cy="82296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Genuinely close together in the space. No threshold separates them cleanly. None.</a:t>
            </a:r>
            <a:endParaRPr lang="en-US" sz="1350" dirty="0"/>
          </a:p>
        </p:txBody>
      </p:sp>
      <p:sp>
        <p:nvSpPr>
          <p:cNvPr id="8" name="Shape 6"/>
          <p:cNvSpPr/>
          <p:nvPr/>
        </p:nvSpPr>
        <p:spPr>
          <a:xfrm>
            <a:off x="4398264" y="1659155"/>
            <a:ext cx="3392424" cy="1600200"/>
          </a:xfrm>
          <a:prstGeom prst="roundRect">
            <a:avLst>
              <a:gd name="adj" fmla="val 8000"/>
            </a:avLst>
          </a:prstGeom>
          <a:solidFill>
            <a:srgbClr val="FFFFFF"/>
          </a:solidFill>
          <a:ln/>
        </p:spPr>
      </p:sp>
      <p:sp>
        <p:nvSpPr>
          <p:cNvPr id="9" name="Shape 7"/>
          <p:cNvSpPr/>
          <p:nvPr/>
        </p:nvSpPr>
        <p:spPr>
          <a:xfrm>
            <a:off x="4672584" y="1933475"/>
            <a:ext cx="237744" cy="237744"/>
          </a:xfrm>
          <a:prstGeom prst="ellipse">
            <a:avLst/>
          </a:prstGeom>
          <a:solidFill>
            <a:srgbClr val="F2A93B"/>
          </a:solidFill>
          <a:ln/>
        </p:spPr>
      </p:sp>
      <p:sp>
        <p:nvSpPr>
          <p:cNvPr id="10" name="Text 8"/>
          <p:cNvSpPr/>
          <p:nvPr/>
        </p:nvSpPr>
        <p:spPr>
          <a:xfrm>
            <a:off x="5020056" y="1860323"/>
            <a:ext cx="2560320" cy="384048"/>
          </a:xfrm>
          <a:prstGeom prst="rect">
            <a:avLst/>
          </a:prstGeom>
          <a:noFill/>
          <a:ln/>
        </p:spPr>
        <p:txBody>
          <a:bodyPr wrap="square" lIns="0" tIns="0" rIns="0" bIns="0" rtlCol="0" anchor="ctr"/>
          <a:lstStyle/>
          <a:p>
            <a:pPr marL="0" indent="0">
              <a:buNone/>
            </a:pPr>
            <a:r>
              <a:rPr lang="en-US" sz="1650" b="1" dirty="0">
                <a:solidFill>
                  <a:srgbClr val="2A1B3D"/>
                </a:solidFill>
                <a:latin typeface="Century Schoolbook" pitchFamily="34" charset="0"/>
                <a:ea typeface="Century Schoolbook" pitchFamily="34" charset="-122"/>
                <a:cs typeface="Century Schoolbook" pitchFamily="34" charset="-120"/>
              </a:rPr>
              <a:t>Faces too small</a:t>
            </a:r>
            <a:endParaRPr lang="en-US" sz="1650" dirty="0"/>
          </a:p>
        </p:txBody>
      </p:sp>
      <p:sp>
        <p:nvSpPr>
          <p:cNvPr id="11" name="Text 9"/>
          <p:cNvSpPr/>
          <p:nvPr/>
        </p:nvSpPr>
        <p:spPr>
          <a:xfrm>
            <a:off x="4672584" y="2344955"/>
            <a:ext cx="2880360" cy="82296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Twenty pixels across carries almost no signal — it fails the score, or worse, scrapes past it.</a:t>
            </a:r>
            <a:endParaRPr lang="en-US" sz="1350" dirty="0"/>
          </a:p>
        </p:txBody>
      </p:sp>
      <p:sp>
        <p:nvSpPr>
          <p:cNvPr id="12" name="Shape 10"/>
          <p:cNvSpPr/>
          <p:nvPr/>
        </p:nvSpPr>
        <p:spPr>
          <a:xfrm>
            <a:off x="8156448" y="1659155"/>
            <a:ext cx="3392424" cy="1600200"/>
          </a:xfrm>
          <a:prstGeom prst="roundRect">
            <a:avLst>
              <a:gd name="adj" fmla="val 8000"/>
            </a:avLst>
          </a:prstGeom>
          <a:solidFill>
            <a:srgbClr val="FFFFFF"/>
          </a:solidFill>
          <a:ln/>
        </p:spPr>
      </p:sp>
      <p:sp>
        <p:nvSpPr>
          <p:cNvPr id="13" name="Shape 11"/>
          <p:cNvSpPr/>
          <p:nvPr/>
        </p:nvSpPr>
        <p:spPr>
          <a:xfrm>
            <a:off x="8430768" y="1933475"/>
            <a:ext cx="237744" cy="237744"/>
          </a:xfrm>
          <a:prstGeom prst="ellipse">
            <a:avLst/>
          </a:prstGeom>
          <a:solidFill>
            <a:srgbClr val="F2A93B"/>
          </a:solidFill>
          <a:ln/>
        </p:spPr>
      </p:sp>
      <p:sp>
        <p:nvSpPr>
          <p:cNvPr id="14" name="Text 12"/>
          <p:cNvSpPr/>
          <p:nvPr/>
        </p:nvSpPr>
        <p:spPr>
          <a:xfrm>
            <a:off x="8778240" y="1860323"/>
            <a:ext cx="2560320" cy="384048"/>
          </a:xfrm>
          <a:prstGeom prst="rect">
            <a:avLst/>
          </a:prstGeom>
          <a:noFill/>
          <a:ln/>
        </p:spPr>
        <p:txBody>
          <a:bodyPr wrap="square" lIns="0" tIns="0" rIns="0" bIns="0" rtlCol="0" anchor="ctr"/>
          <a:lstStyle/>
          <a:p>
            <a:pPr marL="0" indent="0">
              <a:buNone/>
            </a:pPr>
            <a:r>
              <a:rPr lang="en-US" sz="1650" b="1" dirty="0">
                <a:solidFill>
                  <a:srgbClr val="2A1B3D"/>
                </a:solidFill>
                <a:latin typeface="Century Schoolbook" pitchFamily="34" charset="0"/>
                <a:ea typeface="Century Schoolbook" pitchFamily="34" charset="-122"/>
                <a:cs typeface="Century Schoolbook" pitchFamily="34" charset="-120"/>
              </a:rPr>
              <a:t>Hard profiles</a:t>
            </a:r>
            <a:endParaRPr lang="en-US" sz="1650" dirty="0"/>
          </a:p>
        </p:txBody>
      </p:sp>
      <p:sp>
        <p:nvSpPr>
          <p:cNvPr id="15" name="Text 13"/>
          <p:cNvSpPr/>
          <p:nvPr/>
        </p:nvSpPr>
        <p:spPr>
          <a:xfrm>
            <a:off x="8430768" y="2344955"/>
            <a:ext cx="2880360" cy="82296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Straightening needs landmarks. A head turned fully sideways has too few of them to warp.</a:t>
            </a:r>
            <a:endParaRPr lang="en-US" sz="1350" dirty="0"/>
          </a:p>
        </p:txBody>
      </p:sp>
      <p:sp>
        <p:nvSpPr>
          <p:cNvPr id="16" name="Shape 14"/>
          <p:cNvSpPr/>
          <p:nvPr/>
        </p:nvSpPr>
        <p:spPr>
          <a:xfrm>
            <a:off x="640080" y="3442235"/>
            <a:ext cx="3392424" cy="1600200"/>
          </a:xfrm>
          <a:prstGeom prst="roundRect">
            <a:avLst>
              <a:gd name="adj" fmla="val 8000"/>
            </a:avLst>
          </a:prstGeom>
          <a:solidFill>
            <a:srgbClr val="FFFFFF"/>
          </a:solidFill>
          <a:ln/>
        </p:spPr>
      </p:sp>
      <p:sp>
        <p:nvSpPr>
          <p:cNvPr id="17" name="Shape 15"/>
          <p:cNvSpPr/>
          <p:nvPr/>
        </p:nvSpPr>
        <p:spPr>
          <a:xfrm>
            <a:off x="914400" y="3716555"/>
            <a:ext cx="237744" cy="237744"/>
          </a:xfrm>
          <a:prstGeom prst="ellipse">
            <a:avLst/>
          </a:prstGeom>
          <a:solidFill>
            <a:srgbClr val="2E7D77"/>
          </a:solidFill>
          <a:ln/>
        </p:spPr>
      </p:sp>
      <p:sp>
        <p:nvSpPr>
          <p:cNvPr id="18" name="Text 16"/>
          <p:cNvSpPr/>
          <p:nvPr/>
        </p:nvSpPr>
        <p:spPr>
          <a:xfrm>
            <a:off x="1261872" y="3643403"/>
            <a:ext cx="2560320" cy="384048"/>
          </a:xfrm>
          <a:prstGeom prst="rect">
            <a:avLst/>
          </a:prstGeom>
          <a:noFill/>
          <a:ln/>
        </p:spPr>
        <p:txBody>
          <a:bodyPr wrap="square" lIns="0" tIns="0" rIns="0" bIns="0" rtlCol="0" anchor="ctr"/>
          <a:lstStyle/>
          <a:p>
            <a:pPr marL="0" indent="0">
              <a:buNone/>
            </a:pPr>
            <a:r>
              <a:rPr lang="en-US" sz="1650" b="1" dirty="0">
                <a:solidFill>
                  <a:srgbClr val="2A1B3D"/>
                </a:solidFill>
                <a:latin typeface="Century Schoolbook" pitchFamily="34" charset="0"/>
                <a:ea typeface="Century Schoolbook" pitchFamily="34" charset="-122"/>
                <a:cs typeface="Century Schoolbook" pitchFamily="34" charset="-120"/>
              </a:rPr>
              <a:t>Masks and sunglasses</a:t>
            </a:r>
            <a:endParaRPr lang="en-US" sz="1650" dirty="0"/>
          </a:p>
        </p:txBody>
      </p:sp>
      <p:sp>
        <p:nvSpPr>
          <p:cNvPr id="19" name="Text 17"/>
          <p:cNvSpPr/>
          <p:nvPr/>
        </p:nvSpPr>
        <p:spPr>
          <a:xfrm>
            <a:off x="914400" y="4128035"/>
            <a:ext cx="2880360" cy="82296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Each one removes a chunk of exactly what the model was measuring.</a:t>
            </a:r>
            <a:endParaRPr lang="en-US" sz="1350" dirty="0"/>
          </a:p>
        </p:txBody>
      </p:sp>
      <p:sp>
        <p:nvSpPr>
          <p:cNvPr id="20" name="Shape 18"/>
          <p:cNvSpPr/>
          <p:nvPr/>
        </p:nvSpPr>
        <p:spPr>
          <a:xfrm>
            <a:off x="4398264" y="3442235"/>
            <a:ext cx="3392424" cy="1600200"/>
          </a:xfrm>
          <a:prstGeom prst="roundRect">
            <a:avLst>
              <a:gd name="adj" fmla="val 8000"/>
            </a:avLst>
          </a:prstGeom>
          <a:solidFill>
            <a:srgbClr val="FFFFFF"/>
          </a:solidFill>
          <a:ln/>
        </p:spPr>
      </p:sp>
      <p:sp>
        <p:nvSpPr>
          <p:cNvPr id="21" name="Shape 19"/>
          <p:cNvSpPr/>
          <p:nvPr/>
        </p:nvSpPr>
        <p:spPr>
          <a:xfrm>
            <a:off x="4672584" y="3716555"/>
            <a:ext cx="237744" cy="237744"/>
          </a:xfrm>
          <a:prstGeom prst="ellipse">
            <a:avLst/>
          </a:prstGeom>
          <a:solidFill>
            <a:srgbClr val="2E7D77"/>
          </a:solidFill>
          <a:ln/>
        </p:spPr>
      </p:sp>
      <p:sp>
        <p:nvSpPr>
          <p:cNvPr id="22" name="Text 20"/>
          <p:cNvSpPr/>
          <p:nvPr/>
        </p:nvSpPr>
        <p:spPr>
          <a:xfrm>
            <a:off x="5020056" y="3643403"/>
            <a:ext cx="2560320" cy="384048"/>
          </a:xfrm>
          <a:prstGeom prst="rect">
            <a:avLst/>
          </a:prstGeom>
          <a:noFill/>
          <a:ln/>
        </p:spPr>
        <p:txBody>
          <a:bodyPr wrap="square" lIns="0" tIns="0" rIns="0" bIns="0" rtlCol="0" anchor="ctr"/>
          <a:lstStyle/>
          <a:p>
            <a:pPr marL="0" indent="0">
              <a:buNone/>
            </a:pPr>
            <a:r>
              <a:rPr lang="en-US" sz="1650" b="1" dirty="0">
                <a:solidFill>
                  <a:srgbClr val="2A1B3D"/>
                </a:solidFill>
                <a:latin typeface="Century Schoolbook" pitchFamily="34" charset="0"/>
                <a:ea typeface="Century Schoolbook" pitchFamily="34" charset="-122"/>
                <a:cs typeface="Century Schoolbook" pitchFamily="34" charset="-120"/>
              </a:rPr>
              <a:t>Brutal lighting</a:t>
            </a:r>
            <a:endParaRPr lang="en-US" sz="1650" dirty="0"/>
          </a:p>
        </p:txBody>
      </p:sp>
      <p:sp>
        <p:nvSpPr>
          <p:cNvPr id="23" name="Text 21"/>
          <p:cNvSpPr/>
          <p:nvPr/>
        </p:nvSpPr>
        <p:spPr>
          <a:xfrm>
            <a:off x="4672584" y="4128035"/>
            <a:ext cx="2880360" cy="82296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Backlit or blown out, faces drift. Normalising helps. It does not rescue.</a:t>
            </a:r>
            <a:endParaRPr lang="en-US" sz="1350" dirty="0"/>
          </a:p>
        </p:txBody>
      </p:sp>
      <p:sp>
        <p:nvSpPr>
          <p:cNvPr id="24" name="Shape 22"/>
          <p:cNvSpPr/>
          <p:nvPr/>
        </p:nvSpPr>
        <p:spPr>
          <a:xfrm>
            <a:off x="8156448" y="3442235"/>
            <a:ext cx="3392424" cy="1600200"/>
          </a:xfrm>
          <a:prstGeom prst="roundRect">
            <a:avLst>
              <a:gd name="adj" fmla="val 8000"/>
            </a:avLst>
          </a:prstGeom>
          <a:solidFill>
            <a:srgbClr val="FFFFFF"/>
          </a:solidFill>
          <a:ln/>
        </p:spPr>
      </p:sp>
      <p:sp>
        <p:nvSpPr>
          <p:cNvPr id="25" name="Shape 23"/>
          <p:cNvSpPr/>
          <p:nvPr/>
        </p:nvSpPr>
        <p:spPr>
          <a:xfrm>
            <a:off x="8430768" y="3716555"/>
            <a:ext cx="237744" cy="237744"/>
          </a:xfrm>
          <a:prstGeom prst="ellipse">
            <a:avLst/>
          </a:prstGeom>
          <a:solidFill>
            <a:srgbClr val="7A4E8C"/>
          </a:solidFill>
          <a:ln/>
        </p:spPr>
      </p:sp>
      <p:sp>
        <p:nvSpPr>
          <p:cNvPr id="26" name="Text 24"/>
          <p:cNvSpPr/>
          <p:nvPr/>
        </p:nvSpPr>
        <p:spPr>
          <a:xfrm>
            <a:off x="8778240" y="3643403"/>
            <a:ext cx="2560320" cy="384048"/>
          </a:xfrm>
          <a:prstGeom prst="rect">
            <a:avLst/>
          </a:prstGeom>
          <a:noFill/>
          <a:ln/>
        </p:spPr>
        <p:txBody>
          <a:bodyPr wrap="square" lIns="0" tIns="0" rIns="0" bIns="0" rtlCol="0" anchor="ctr"/>
          <a:lstStyle/>
          <a:p>
            <a:pPr marL="0" indent="0">
              <a:buNone/>
            </a:pPr>
            <a:r>
              <a:rPr lang="en-US" sz="1650" b="1" dirty="0">
                <a:solidFill>
                  <a:srgbClr val="2A1B3D"/>
                </a:solidFill>
                <a:latin typeface="Century Schoolbook" pitchFamily="34" charset="0"/>
                <a:ea typeface="Century Schoolbook" pitchFamily="34" charset="-122"/>
                <a:cs typeface="Century Schoolbook" pitchFamily="34" charset="-120"/>
              </a:rPr>
              <a:t>Years apart</a:t>
            </a:r>
            <a:endParaRPr lang="en-US" sz="1650" dirty="0"/>
          </a:p>
        </p:txBody>
      </p:sp>
      <p:sp>
        <p:nvSpPr>
          <p:cNvPr id="27" name="Text 25"/>
          <p:cNvSpPr/>
          <p:nvPr/>
        </p:nvSpPr>
        <p:spPr>
          <a:xfrm>
            <a:off x="8430768" y="4128035"/>
            <a:ext cx="2880360" cy="82296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A child at six and at twelve will not land close. It measures a face, not a person.</a:t>
            </a:r>
            <a:endParaRPr lang="en-US" sz="1350" dirty="0"/>
          </a:p>
        </p:txBody>
      </p:sp>
      <p:sp>
        <p:nvSpPr>
          <p:cNvPr id="28" name="Shape 26"/>
          <p:cNvSpPr/>
          <p:nvPr/>
        </p:nvSpPr>
        <p:spPr>
          <a:xfrm>
            <a:off x="640080" y="5339615"/>
            <a:ext cx="10908792" cy="1051560"/>
          </a:xfrm>
          <a:prstGeom prst="roundRect">
            <a:avLst>
              <a:gd name="adj" fmla="val 13913"/>
            </a:avLst>
          </a:prstGeom>
          <a:solidFill>
            <a:srgbClr val="2A1B3D"/>
          </a:solidFill>
          <a:ln/>
        </p:spPr>
      </p:sp>
      <p:sp>
        <p:nvSpPr>
          <p:cNvPr id="29" name="Text 27"/>
          <p:cNvSpPr/>
          <p:nvPr/>
        </p:nvSpPr>
        <p:spPr>
          <a:xfrm>
            <a:off x="969264" y="5401337"/>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Which is exactly why a human can merge, split and rename people by hand.</a:t>
            </a:r>
            <a:endParaRPr lang="en-US" sz="1900" dirty="0"/>
          </a:p>
        </p:txBody>
      </p:sp>
      <p:sp>
        <p:nvSpPr>
          <p:cNvPr id="30" name="Text 28"/>
          <p:cNvSpPr/>
          <p:nvPr/>
        </p:nvSpPr>
        <p:spPr>
          <a:xfrm>
            <a:off x="969264" y="5803673"/>
            <a:ext cx="10241280" cy="39319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And why Meera can ask to be erased entirely. The manual tools are not a fallback for a bad model — they are the honest response to a list like this one.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06</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SIX</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The machine that costs money to think</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Everything so far needed a GPU. A GPU is rented by the second. The fest lasted one evening, and then nothing happened for a fortnight.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7F2"/>
        </a:solidFill>
        <a:effectLst/>
      </p:bgPr>
    </p:bg>
    <p:spTree>
      <p:nvGrpSpPr>
        <p:cNvPr id="1" name=""/>
        <p:cNvGrpSpPr/>
        <p:nvPr/>
      </p:nvGrpSpPr>
      <p:grpSpPr>
        <a:xfrm>
          <a:off x="0" y="0"/>
          <a:ext cx="0" cy="0"/>
          <a:chOff x="0" y="0"/>
          <a:chExt cx="0" cy="0"/>
        </a:xfrm>
      </p:grpSpPr>
      <p:pic>
        <p:nvPicPr>
          <p:cNvPr id="2" name="Image 0" descr="s-architecture.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THE SHAPE OF THE PROBLEM</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The work is bursty. The bill is not.</a:t>
            </a:r>
            <a:endParaRPr lang="en-US" sz="3200" dirty="0"/>
          </a:p>
        </p:txBody>
      </p:sp>
      <p:sp>
        <p:nvSpPr>
          <p:cNvPr id="4" name="Shape 2"/>
          <p:cNvSpPr/>
          <p:nvPr/>
        </p:nvSpPr>
        <p:spPr>
          <a:xfrm>
            <a:off x="640080" y="1755406"/>
            <a:ext cx="5321808" cy="2514600"/>
          </a:xfrm>
          <a:prstGeom prst="roundRect">
            <a:avLst>
              <a:gd name="adj" fmla="val 5818"/>
            </a:avLst>
          </a:prstGeom>
          <a:solidFill>
            <a:srgbClr val="FFFFFF"/>
          </a:solidFill>
          <a:ln/>
        </p:spPr>
      </p:sp>
      <p:sp>
        <p:nvSpPr>
          <p:cNvPr id="5" name="Shape 3"/>
          <p:cNvSpPr/>
          <p:nvPr/>
        </p:nvSpPr>
        <p:spPr>
          <a:xfrm>
            <a:off x="950976" y="2029726"/>
            <a:ext cx="274320" cy="274320"/>
          </a:xfrm>
          <a:prstGeom prst="ellipse">
            <a:avLst/>
          </a:prstGeom>
          <a:solidFill>
            <a:srgbClr val="7A4E8C"/>
          </a:solidFill>
          <a:ln/>
        </p:spPr>
      </p:sp>
      <p:sp>
        <p:nvSpPr>
          <p:cNvPr id="6" name="Text 4"/>
          <p:cNvSpPr/>
          <p:nvPr/>
        </p:nvSpPr>
        <p:spPr>
          <a:xfrm>
            <a:off x="1353312" y="1984006"/>
            <a:ext cx="4389120" cy="365760"/>
          </a:xfrm>
          <a:prstGeom prst="rect">
            <a:avLst/>
          </a:prstGeom>
          <a:noFill/>
          <a:ln/>
        </p:spPr>
        <p:txBody>
          <a:bodyPr wrap="square" lIns="0" tIns="0" rIns="0" bIns="0" rtlCol="0" anchor="ctr"/>
          <a:lstStyle/>
          <a:p>
            <a:pPr marL="0" indent="0">
              <a:buNone/>
            </a:pPr>
            <a:r>
              <a:rPr lang="en-US" sz="1500" b="1" dirty="0">
                <a:solidFill>
                  <a:srgbClr val="7C6B84"/>
                </a:solidFill>
                <a:latin typeface="Calibri" pitchFamily="34" charset="0"/>
                <a:ea typeface="Calibri" pitchFamily="34" charset="-122"/>
                <a:cs typeface="Calibri" pitchFamily="34" charset="-120"/>
              </a:rPr>
              <a:t>What a rented GPU costs</a:t>
            </a:r>
            <a:endParaRPr lang="en-US" sz="1500" dirty="0"/>
          </a:p>
        </p:txBody>
      </p:sp>
      <p:sp>
        <p:nvSpPr>
          <p:cNvPr id="7" name="Text 5"/>
          <p:cNvSpPr/>
          <p:nvPr/>
        </p:nvSpPr>
        <p:spPr>
          <a:xfrm>
            <a:off x="950976" y="2486926"/>
            <a:ext cx="4700016" cy="868680"/>
          </a:xfrm>
          <a:prstGeom prst="rect">
            <a:avLst/>
          </a:prstGeom>
          <a:noFill/>
          <a:ln/>
        </p:spPr>
        <p:txBody>
          <a:bodyPr wrap="square" lIns="0" tIns="0" rIns="0" bIns="0" rtlCol="0" anchor="ctr"/>
          <a:lstStyle/>
          <a:p>
            <a:pPr marL="0" indent="0">
              <a:buNone/>
            </a:pPr>
            <a:r>
              <a:rPr lang="en-US" sz="4000" b="1" dirty="0">
                <a:solidFill>
                  <a:srgbClr val="2A1B3D"/>
                </a:solidFill>
                <a:latin typeface="Century Schoolbook" pitchFamily="34" charset="0"/>
                <a:ea typeface="Century Schoolbook" pitchFamily="34" charset="-122"/>
                <a:cs typeface="Century Schoolbook" pitchFamily="34" charset="-120"/>
              </a:rPr>
              <a:t>24 × 7</a:t>
            </a:r>
            <a:endParaRPr lang="en-US" sz="4000" dirty="0"/>
          </a:p>
        </p:txBody>
      </p:sp>
      <p:sp>
        <p:nvSpPr>
          <p:cNvPr id="8" name="Text 6"/>
          <p:cNvSpPr/>
          <p:nvPr/>
        </p:nvSpPr>
        <p:spPr>
          <a:xfrm>
            <a:off x="950976" y="3401326"/>
            <a:ext cx="4700016" cy="73152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Billed by the second, whether or not a single photograph was uploaded that day.</a:t>
            </a:r>
            <a:endParaRPr lang="en-US" sz="1500" dirty="0"/>
          </a:p>
        </p:txBody>
      </p:sp>
      <p:sp>
        <p:nvSpPr>
          <p:cNvPr id="9" name="Shape 7"/>
          <p:cNvSpPr/>
          <p:nvPr/>
        </p:nvSpPr>
        <p:spPr>
          <a:xfrm>
            <a:off x="6227064" y="1755406"/>
            <a:ext cx="5321808" cy="2514600"/>
          </a:xfrm>
          <a:prstGeom prst="roundRect">
            <a:avLst>
              <a:gd name="adj" fmla="val 5818"/>
            </a:avLst>
          </a:prstGeom>
          <a:solidFill>
            <a:srgbClr val="FFFFFF"/>
          </a:solidFill>
          <a:ln/>
        </p:spPr>
      </p:sp>
      <p:sp>
        <p:nvSpPr>
          <p:cNvPr id="10" name="Shape 8"/>
          <p:cNvSpPr/>
          <p:nvPr/>
        </p:nvSpPr>
        <p:spPr>
          <a:xfrm>
            <a:off x="6537960" y="2029726"/>
            <a:ext cx="274320" cy="274320"/>
          </a:xfrm>
          <a:prstGeom prst="ellipse">
            <a:avLst/>
          </a:prstGeom>
          <a:solidFill>
            <a:srgbClr val="F2A93B"/>
          </a:solidFill>
          <a:ln/>
        </p:spPr>
      </p:sp>
      <p:sp>
        <p:nvSpPr>
          <p:cNvPr id="11" name="Text 9"/>
          <p:cNvSpPr/>
          <p:nvPr/>
        </p:nvSpPr>
        <p:spPr>
          <a:xfrm>
            <a:off x="6940296" y="1984006"/>
            <a:ext cx="4389120" cy="365760"/>
          </a:xfrm>
          <a:prstGeom prst="rect">
            <a:avLst/>
          </a:prstGeom>
          <a:noFill/>
          <a:ln/>
        </p:spPr>
        <p:txBody>
          <a:bodyPr wrap="square" lIns="0" tIns="0" rIns="0" bIns="0" rtlCol="0" anchor="ctr"/>
          <a:lstStyle/>
          <a:p>
            <a:pPr marL="0" indent="0">
              <a:buNone/>
            </a:pPr>
            <a:r>
              <a:rPr lang="en-US" sz="1500" b="1" dirty="0">
                <a:solidFill>
                  <a:srgbClr val="7C6B84"/>
                </a:solidFill>
                <a:latin typeface="Calibri" pitchFamily="34" charset="0"/>
                <a:ea typeface="Calibri" pitchFamily="34" charset="-122"/>
                <a:cs typeface="Calibri" pitchFamily="34" charset="-120"/>
              </a:rPr>
              <a:t>What the work actually needs</a:t>
            </a:r>
            <a:endParaRPr lang="en-US" sz="1500" dirty="0"/>
          </a:p>
        </p:txBody>
      </p:sp>
      <p:sp>
        <p:nvSpPr>
          <p:cNvPr id="12" name="Text 10"/>
          <p:cNvSpPr/>
          <p:nvPr/>
        </p:nvSpPr>
        <p:spPr>
          <a:xfrm>
            <a:off x="6537960" y="2486926"/>
            <a:ext cx="4700016" cy="868680"/>
          </a:xfrm>
          <a:prstGeom prst="rect">
            <a:avLst/>
          </a:prstGeom>
          <a:noFill/>
          <a:ln/>
        </p:spPr>
        <p:txBody>
          <a:bodyPr wrap="square" lIns="0" tIns="0" rIns="0" bIns="0" rtlCol="0" anchor="ctr"/>
          <a:lstStyle/>
          <a:p>
            <a:pPr marL="0" indent="0">
              <a:buNone/>
            </a:pPr>
            <a:r>
              <a:rPr lang="en-US" sz="4000" b="1" dirty="0">
                <a:solidFill>
                  <a:srgbClr val="2A1B3D"/>
                </a:solidFill>
                <a:latin typeface="Century Schoolbook" pitchFamily="34" charset="0"/>
                <a:ea typeface="Century Schoolbook" pitchFamily="34" charset="-122"/>
                <a:cs typeface="Century Schoolbook" pitchFamily="34" charset="-120"/>
              </a:rPr>
              <a:t>minutes a day</a:t>
            </a:r>
            <a:endParaRPr lang="en-US" sz="4000" dirty="0"/>
          </a:p>
        </p:txBody>
      </p:sp>
      <p:sp>
        <p:nvSpPr>
          <p:cNvPr id="13" name="Text 11"/>
          <p:cNvSpPr/>
          <p:nvPr/>
        </p:nvSpPr>
        <p:spPr>
          <a:xfrm>
            <a:off x="6537960" y="3401326"/>
            <a:ext cx="4700016" cy="73152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One evening of a fest dumps four thousand photos. Then nothing at all for a fortnight.</a:t>
            </a:r>
            <a:endParaRPr lang="en-US" sz="1500" dirty="0"/>
          </a:p>
        </p:txBody>
      </p:sp>
      <p:sp>
        <p:nvSpPr>
          <p:cNvPr id="14" name="Shape 12"/>
          <p:cNvSpPr/>
          <p:nvPr/>
        </p:nvSpPr>
        <p:spPr>
          <a:xfrm>
            <a:off x="640080" y="4544326"/>
            <a:ext cx="10908792" cy="960120"/>
          </a:xfrm>
          <a:prstGeom prst="roundRect">
            <a:avLst>
              <a:gd name="adj" fmla="val 15238"/>
            </a:avLst>
          </a:prstGeom>
          <a:solidFill>
            <a:srgbClr val="F3EBE2"/>
          </a:solidFill>
          <a:ln/>
        </p:spPr>
      </p:sp>
      <p:sp>
        <p:nvSpPr>
          <p:cNvPr id="15" name="Text 13"/>
          <p:cNvSpPr/>
          <p:nvPr/>
        </p:nvSpPr>
        <p:spPr>
          <a:xfrm>
            <a:off x="969264" y="4544326"/>
            <a:ext cx="10241280" cy="960120"/>
          </a:xfrm>
          <a:prstGeom prst="rect">
            <a:avLst/>
          </a:prstGeom>
          <a:noFill/>
          <a:ln/>
        </p:spPr>
        <p:txBody>
          <a:bodyPr wrap="square" lIns="0" tIns="0" rIns="0" bIns="0" rtlCol="0" anchor="ctr"/>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So switch it on when there is work, and off when there is not. Obvious. Everybody says it.</a:t>
            </a:r>
            <a:endParaRPr lang="en-US" sz="1900" dirty="0"/>
          </a:p>
        </p:txBody>
      </p:sp>
      <p:sp>
        <p:nvSpPr>
          <p:cNvPr id="16" name="Shape 14"/>
          <p:cNvSpPr/>
          <p:nvPr/>
        </p:nvSpPr>
        <p:spPr>
          <a:xfrm>
            <a:off x="640080" y="5687326"/>
            <a:ext cx="10908792" cy="731520"/>
          </a:xfrm>
          <a:prstGeom prst="roundRect">
            <a:avLst>
              <a:gd name="adj" fmla="val 20000"/>
            </a:avLst>
          </a:prstGeom>
          <a:solidFill>
            <a:srgbClr val="E2574C"/>
          </a:solidFill>
          <a:ln/>
        </p:spPr>
      </p:sp>
      <p:sp>
        <p:nvSpPr>
          <p:cNvPr id="17" name="Text 15"/>
          <p:cNvSpPr/>
          <p:nvPr/>
        </p:nvSpPr>
        <p:spPr>
          <a:xfrm>
            <a:off x="969264" y="5833630"/>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The next three slides are everything that goes wrong between saying it and it being safe to leave unattended.</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PROBLEM ONE</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JarvisLabs has no REST API. None. Only a command.</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800" dirty="0">
                <a:solidFill>
                  <a:srgbClr val="7C6B84"/>
                </a:solidFill>
                <a:latin typeface="Calibri" pitchFamily="34" charset="0"/>
                <a:ea typeface="Calibri" pitchFamily="34" charset="-122"/>
                <a:cs typeface="Calibri" pitchFamily="34" charset="-120"/>
              </a:rPr>
              <a:t>So a Node web server controls a GPU by spawning a child process — and that is a perfectly respectable thing to do, as long as you are paranoid about it.</a:t>
            </a:r>
            <a:endParaRPr lang="en-US" sz="1800" dirty="0"/>
          </a:p>
        </p:txBody>
      </p:sp>
      <p:sp>
        <p:nvSpPr>
          <p:cNvPr id="5" name="Shape 3"/>
          <p:cNvSpPr/>
          <p:nvPr/>
        </p:nvSpPr>
        <p:spPr>
          <a:xfrm>
            <a:off x="640080" y="2195760"/>
            <a:ext cx="10908792" cy="1097280"/>
          </a:xfrm>
          <a:prstGeom prst="roundRect">
            <a:avLst>
              <a:gd name="adj" fmla="val 11667"/>
            </a:avLst>
          </a:prstGeom>
          <a:solidFill>
            <a:srgbClr val="FFFFFF"/>
          </a:solidFill>
          <a:ln/>
        </p:spPr>
      </p:sp>
      <p:sp>
        <p:nvSpPr>
          <p:cNvPr id="6" name="Shape 4"/>
          <p:cNvSpPr/>
          <p:nvPr/>
        </p:nvSpPr>
        <p:spPr>
          <a:xfrm>
            <a:off x="932688" y="2579808"/>
            <a:ext cx="329184" cy="329184"/>
          </a:xfrm>
          <a:prstGeom prst="ellipse">
            <a:avLst/>
          </a:prstGeom>
          <a:solidFill>
            <a:srgbClr val="E2574C"/>
          </a:solidFill>
          <a:ln/>
        </p:spPr>
      </p:sp>
      <p:sp>
        <p:nvSpPr>
          <p:cNvPr id="7" name="Text 5"/>
          <p:cNvSpPr/>
          <p:nvPr/>
        </p:nvSpPr>
        <p:spPr>
          <a:xfrm>
            <a:off x="932688" y="257980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81328" y="2342064"/>
            <a:ext cx="9692640" cy="365760"/>
          </a:xfrm>
          <a:prstGeom prst="rect">
            <a:avLst/>
          </a:prstGeom>
          <a:noFill/>
          <a:ln/>
        </p:spPr>
        <p:txBody>
          <a:bodyPr wrap="square" lIns="0" tIns="0" rIns="0" bIns="0" rtlCol="0" anchor="ctr"/>
          <a:lstStyle/>
          <a:p>
            <a:pPr marL="0" indent="0">
              <a:buNone/>
            </a:pPr>
            <a:r>
              <a:rPr lang="en-US" sz="1800" b="1" dirty="0">
                <a:solidFill>
                  <a:srgbClr val="2A1B3D"/>
                </a:solidFill>
                <a:latin typeface="Century Schoolbook" pitchFamily="34" charset="0"/>
                <a:ea typeface="Century Schoolbook" pitchFamily="34" charset="-122"/>
                <a:cs typeface="Century Schoolbook" pitchFamily="34" charset="-120"/>
              </a:rPr>
              <a:t>Errors arrive on stdout, not the exit code</a:t>
            </a:r>
            <a:endParaRPr lang="en-US" sz="1800" dirty="0"/>
          </a:p>
        </p:txBody>
      </p:sp>
      <p:sp>
        <p:nvSpPr>
          <p:cNvPr id="9" name="Text 7"/>
          <p:cNvSpPr/>
          <p:nvPr/>
        </p:nvSpPr>
        <p:spPr>
          <a:xfrm>
            <a:off x="1481328" y="2726112"/>
            <a:ext cx="9692640" cy="457200"/>
          </a:xfrm>
          <a:prstGeom prst="rect">
            <a:avLst/>
          </a:prstGeom>
          <a:noFill/>
          <a:ln/>
        </p:spPr>
        <p:txBody>
          <a:bodyPr wrap="square" lIns="0" tIns="0" rIns="0" bIns="0" rtlCol="0" anchor="t"/>
          <a:lstStyle/>
          <a:p>
            <a:pPr marL="0" indent="0">
              <a:buNone/>
            </a:pPr>
            <a:r>
              <a:rPr lang="en-US" sz="1400" dirty="0">
                <a:solidFill>
                  <a:srgbClr val="7C6B84"/>
                </a:solidFill>
                <a:latin typeface="Calibri" pitchFamily="34" charset="0"/>
                <a:ea typeface="Calibri" pitchFamily="34" charset="-122"/>
                <a:cs typeface="Calibri" pitchFamily="34" charset="-120"/>
              </a:rPr>
              <a:t>The CLI reports failure as a JSON body while also exiting non-zero. Read the body — the exit code alone gives an operator nothing they can act on.</a:t>
            </a:r>
            <a:endParaRPr lang="en-US" sz="1400" dirty="0"/>
          </a:p>
        </p:txBody>
      </p:sp>
      <p:sp>
        <p:nvSpPr>
          <p:cNvPr id="10" name="Shape 8"/>
          <p:cNvSpPr/>
          <p:nvPr/>
        </p:nvSpPr>
        <p:spPr>
          <a:xfrm>
            <a:off x="640080" y="3430200"/>
            <a:ext cx="10908792" cy="987552"/>
          </a:xfrm>
          <a:prstGeom prst="roundRect">
            <a:avLst>
              <a:gd name="adj" fmla="val 11667"/>
            </a:avLst>
          </a:prstGeom>
          <a:solidFill>
            <a:srgbClr val="FFFFFF"/>
          </a:solidFill>
          <a:ln/>
        </p:spPr>
      </p:sp>
      <p:sp>
        <p:nvSpPr>
          <p:cNvPr id="11" name="Shape 9"/>
          <p:cNvSpPr/>
          <p:nvPr/>
        </p:nvSpPr>
        <p:spPr>
          <a:xfrm>
            <a:off x="896112" y="3722808"/>
            <a:ext cx="329184" cy="329184"/>
          </a:xfrm>
          <a:prstGeom prst="ellipse">
            <a:avLst/>
          </a:prstGeom>
          <a:solidFill>
            <a:srgbClr val="F2A93B"/>
          </a:solidFill>
          <a:ln/>
        </p:spPr>
      </p:sp>
      <p:sp>
        <p:nvSpPr>
          <p:cNvPr id="12" name="Text 10"/>
          <p:cNvSpPr/>
          <p:nvPr/>
        </p:nvSpPr>
        <p:spPr>
          <a:xfrm>
            <a:off x="896112" y="372906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81328" y="3576504"/>
            <a:ext cx="9692640" cy="365760"/>
          </a:xfrm>
          <a:prstGeom prst="rect">
            <a:avLst/>
          </a:prstGeom>
          <a:noFill/>
          <a:ln/>
        </p:spPr>
        <p:txBody>
          <a:bodyPr wrap="square" lIns="0" tIns="0" rIns="0" bIns="0" rtlCol="0" anchor="ctr"/>
          <a:lstStyle/>
          <a:p>
            <a:pPr marL="0" indent="0">
              <a:buNone/>
            </a:pPr>
            <a:r>
              <a:rPr lang="en-US" sz="1800" b="1" dirty="0">
                <a:solidFill>
                  <a:srgbClr val="2A1B3D"/>
                </a:solidFill>
                <a:latin typeface="Century Schoolbook" pitchFamily="34" charset="0"/>
                <a:ea typeface="Century Schoolbook" pitchFamily="34" charset="-122"/>
                <a:cs typeface="Century Schoolbook" pitchFamily="34" charset="-120"/>
              </a:rPr>
              <a:t>Resume can hand back a different machine</a:t>
            </a:r>
            <a:endParaRPr lang="en-US" sz="1800" dirty="0"/>
          </a:p>
        </p:txBody>
      </p:sp>
      <p:sp>
        <p:nvSpPr>
          <p:cNvPr id="14" name="Text 12"/>
          <p:cNvSpPr/>
          <p:nvPr/>
        </p:nvSpPr>
        <p:spPr>
          <a:xfrm>
            <a:off x="1481328" y="3960552"/>
            <a:ext cx="9692640" cy="457200"/>
          </a:xfrm>
          <a:prstGeom prst="rect">
            <a:avLst/>
          </a:prstGeom>
          <a:noFill/>
          <a:ln/>
        </p:spPr>
        <p:txBody>
          <a:bodyPr wrap="square" lIns="0" tIns="0" rIns="0" bIns="0" rtlCol="0" anchor="t"/>
          <a:lstStyle/>
          <a:p>
            <a:pPr marL="0" indent="0">
              <a:buNone/>
            </a:pPr>
            <a:r>
              <a:rPr lang="en-US" sz="1400" dirty="0">
                <a:solidFill>
                  <a:srgbClr val="7C6B84"/>
                </a:solidFill>
                <a:latin typeface="Calibri" pitchFamily="34" charset="0"/>
                <a:ea typeface="Calibri" pitchFamily="34" charset="-122"/>
                <a:cs typeface="Calibri" pitchFamily="34" charset="-120"/>
              </a:rPr>
              <a:t>Keep using the old id and you are talking to a machine that no longer exists. Log the swap and adopt the new id immediately.</a:t>
            </a:r>
            <a:endParaRPr lang="en-US" sz="1400" dirty="0"/>
          </a:p>
        </p:txBody>
      </p:sp>
      <p:sp>
        <p:nvSpPr>
          <p:cNvPr id="15" name="Shape 13"/>
          <p:cNvSpPr/>
          <p:nvPr/>
        </p:nvSpPr>
        <p:spPr>
          <a:xfrm>
            <a:off x="640080" y="4564056"/>
            <a:ext cx="10908792" cy="1014984"/>
          </a:xfrm>
          <a:prstGeom prst="roundRect">
            <a:avLst>
              <a:gd name="adj" fmla="val 11667"/>
            </a:avLst>
          </a:prstGeom>
          <a:solidFill>
            <a:srgbClr val="FFFFFF"/>
          </a:solidFill>
          <a:ln/>
        </p:spPr>
      </p:sp>
      <p:sp>
        <p:nvSpPr>
          <p:cNvPr id="16" name="Shape 14"/>
          <p:cNvSpPr/>
          <p:nvPr/>
        </p:nvSpPr>
        <p:spPr>
          <a:xfrm>
            <a:off x="932688" y="4962061"/>
            <a:ext cx="329184" cy="329184"/>
          </a:xfrm>
          <a:prstGeom prst="ellipse">
            <a:avLst/>
          </a:prstGeom>
          <a:solidFill>
            <a:srgbClr val="2E7D77"/>
          </a:solidFill>
          <a:ln/>
        </p:spPr>
      </p:sp>
      <p:sp>
        <p:nvSpPr>
          <p:cNvPr id="17" name="Text 15"/>
          <p:cNvSpPr/>
          <p:nvPr/>
        </p:nvSpPr>
        <p:spPr>
          <a:xfrm>
            <a:off x="932688" y="4962061"/>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481328" y="4678593"/>
            <a:ext cx="9692640" cy="365760"/>
          </a:xfrm>
          <a:prstGeom prst="rect">
            <a:avLst/>
          </a:prstGeom>
          <a:noFill/>
          <a:ln/>
        </p:spPr>
        <p:txBody>
          <a:bodyPr wrap="square" lIns="0" tIns="0" rIns="0" bIns="0" rtlCol="0" anchor="ctr"/>
          <a:lstStyle/>
          <a:p>
            <a:pPr marL="0" indent="0">
              <a:buNone/>
            </a:pPr>
            <a:r>
              <a:rPr lang="en-US" sz="1800" b="1" dirty="0">
                <a:solidFill>
                  <a:srgbClr val="2A1B3D"/>
                </a:solidFill>
                <a:latin typeface="Century Schoolbook" pitchFamily="34" charset="0"/>
                <a:ea typeface="Century Schoolbook" pitchFamily="34" charset="-122"/>
                <a:cs typeface="Century Schoolbook" pitchFamily="34" charset="-120"/>
              </a:rPr>
              <a:t>A missing binary must read as a sentence</a:t>
            </a:r>
            <a:endParaRPr lang="en-US" sz="1800" dirty="0"/>
          </a:p>
        </p:txBody>
      </p:sp>
      <p:sp>
        <p:nvSpPr>
          <p:cNvPr id="19" name="Text 17"/>
          <p:cNvSpPr/>
          <p:nvPr/>
        </p:nvSpPr>
        <p:spPr>
          <a:xfrm>
            <a:off x="1481328" y="5062645"/>
            <a:ext cx="9692640" cy="457200"/>
          </a:xfrm>
          <a:prstGeom prst="rect">
            <a:avLst/>
          </a:prstGeom>
          <a:noFill/>
          <a:ln/>
        </p:spPr>
        <p:txBody>
          <a:bodyPr wrap="square" lIns="0" tIns="0" rIns="0" bIns="0" rtlCol="0" anchor="t"/>
          <a:lstStyle/>
          <a:p>
            <a:pPr marL="0" indent="0">
              <a:buNone/>
            </a:pPr>
            <a:r>
              <a:rPr lang="en-US" sz="1400" dirty="0">
                <a:solidFill>
                  <a:srgbClr val="7C6B84"/>
                </a:solidFill>
                <a:latin typeface="Calibri" pitchFamily="34" charset="0"/>
                <a:ea typeface="Calibri" pitchFamily="34" charset="-122"/>
                <a:cs typeface="Calibri" pitchFamily="34" charset="-120"/>
              </a:rPr>
              <a:t>“The jl CLI is not installed on this host” belongs on the admin panel. A provider outage should never surface as an unhandled rejection.</a:t>
            </a:r>
            <a:endParaRPr lang="en-US" sz="1400" dirty="0"/>
          </a:p>
        </p:txBody>
      </p:sp>
      <p:sp>
        <p:nvSpPr>
          <p:cNvPr id="20" name="Shape 18"/>
          <p:cNvSpPr/>
          <p:nvPr/>
        </p:nvSpPr>
        <p:spPr>
          <a:xfrm>
            <a:off x="640080" y="5789352"/>
            <a:ext cx="10908792" cy="822960"/>
          </a:xfrm>
          <a:prstGeom prst="roundRect">
            <a:avLst>
              <a:gd name="adj" fmla="val 17778"/>
            </a:avLst>
          </a:prstGeom>
          <a:solidFill>
            <a:srgbClr val="2A1B3D"/>
          </a:solidFill>
          <a:ln/>
        </p:spPr>
      </p:sp>
      <p:sp>
        <p:nvSpPr>
          <p:cNvPr id="21" name="Text 19"/>
          <p:cNvSpPr/>
          <p:nvPr/>
        </p:nvSpPr>
        <p:spPr>
          <a:xfrm>
            <a:off x="969264" y="5853360"/>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“No API” never means “cannot automate”.</a:t>
            </a:r>
            <a:endParaRPr lang="en-US" sz="1900" dirty="0"/>
          </a:p>
        </p:txBody>
      </p:sp>
      <p:sp>
        <p:nvSpPr>
          <p:cNvPr id="22" name="Text 20"/>
          <p:cNvSpPr/>
          <p:nvPr/>
        </p:nvSpPr>
        <p:spPr>
          <a:xfrm>
            <a:off x="969264" y="6220323"/>
            <a:ext cx="10241280" cy="16459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It means your integration layer is a subprocess — and subprocesses need defensive handling the way network calls need timeouts.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07</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SEVEN</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Waking it, and letting it sleep</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Four numbers decide when the expensive machine exists. A fifth mechanism decides what happens when the switch itself fails.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7F2"/>
        </a:solidFill>
        <a:effectLst/>
      </p:bgPr>
    </p:bg>
    <p:spTree>
      <p:nvGrpSpPr>
        <p:cNvPr id="1" name=""/>
        <p:cNvGrpSpPr/>
        <p:nvPr/>
      </p:nvGrpSpPr>
      <p:grpSpPr>
        <a:xfrm>
          <a:off x="0" y="0"/>
          <a:ext cx="0" cy="0"/>
          <a:chOff x="0" y="0"/>
          <a:chExt cx="0" cy="0"/>
        </a:xfrm>
      </p:grpSpPr>
      <p:pic>
        <p:nvPicPr>
          <p:cNvPr id="2" name="Image 0" descr="s-lifecycle.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THE SETTINGS, IN FULL</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Four numbers decide everything</a:t>
            </a:r>
            <a:endParaRPr lang="en-US" sz="3200" dirty="0"/>
          </a:p>
        </p:txBody>
      </p:sp>
      <p:sp>
        <p:nvSpPr>
          <p:cNvPr id="4" name="Shape 2"/>
          <p:cNvSpPr/>
          <p:nvPr/>
        </p:nvSpPr>
        <p:spPr>
          <a:xfrm>
            <a:off x="640080" y="1734953"/>
            <a:ext cx="10908792" cy="804672"/>
          </a:xfrm>
          <a:prstGeom prst="roundRect">
            <a:avLst>
              <a:gd name="adj" fmla="val 15909"/>
            </a:avLst>
          </a:prstGeom>
          <a:solidFill>
            <a:srgbClr val="FFFFFF"/>
          </a:solidFill>
          <a:ln/>
        </p:spPr>
      </p:sp>
      <p:sp>
        <p:nvSpPr>
          <p:cNvPr id="5" name="Shape 3"/>
          <p:cNvSpPr/>
          <p:nvPr/>
        </p:nvSpPr>
        <p:spPr>
          <a:xfrm>
            <a:off x="914400" y="2036705"/>
            <a:ext cx="201168" cy="201168"/>
          </a:xfrm>
          <a:prstGeom prst="ellipse">
            <a:avLst/>
          </a:prstGeom>
          <a:solidFill>
            <a:srgbClr val="F2A93B"/>
          </a:solidFill>
          <a:ln/>
        </p:spPr>
      </p:sp>
      <p:sp>
        <p:nvSpPr>
          <p:cNvPr id="6" name="Text 4"/>
          <p:cNvSpPr/>
          <p:nvPr/>
        </p:nvSpPr>
        <p:spPr>
          <a:xfrm>
            <a:off x="1243584" y="1734953"/>
            <a:ext cx="3657600" cy="804672"/>
          </a:xfrm>
          <a:prstGeom prst="rect">
            <a:avLst/>
          </a:prstGeom>
          <a:noFill/>
          <a:ln/>
        </p:spPr>
        <p:txBody>
          <a:bodyPr wrap="square" lIns="0" tIns="0" rIns="0" bIns="0" rtlCol="0" anchor="ctr"/>
          <a:lstStyle/>
          <a:p>
            <a:pPr marL="0" indent="0">
              <a:buNone/>
            </a:pPr>
            <a:r>
              <a:rPr lang="en-US" sz="1500" b="1" dirty="0">
                <a:solidFill>
                  <a:srgbClr val="2A1B3D"/>
                </a:solidFill>
                <a:latin typeface="Courier New" pitchFamily="34" charset="0"/>
                <a:ea typeface="Courier New" pitchFamily="34" charset="-122"/>
                <a:cs typeface="Courier New" pitchFamily="34" charset="-120"/>
              </a:rPr>
              <a:t>pendingThreshold</a:t>
            </a:r>
            <a:endParaRPr lang="en-US" sz="1500" dirty="0"/>
          </a:p>
        </p:txBody>
      </p:sp>
      <p:sp>
        <p:nvSpPr>
          <p:cNvPr id="7" name="Text 5"/>
          <p:cNvSpPr/>
          <p:nvPr/>
        </p:nvSpPr>
        <p:spPr>
          <a:xfrm>
            <a:off x="4937760" y="1734953"/>
            <a:ext cx="914400" cy="804672"/>
          </a:xfrm>
          <a:prstGeom prst="rect">
            <a:avLst/>
          </a:prstGeom>
          <a:noFill/>
          <a:ln/>
        </p:spPr>
        <p:txBody>
          <a:bodyPr wrap="square" lIns="0" tIns="0" rIns="0" bIns="0" rtlCol="0" anchor="ctr"/>
          <a:lstStyle/>
          <a:p>
            <a:pPr marL="0" indent="0" algn="ctr">
              <a:buNone/>
            </a:pPr>
            <a:r>
              <a:rPr lang="en-US" sz="2400" b="1" dirty="0">
                <a:solidFill>
                  <a:srgbClr val="F2A93B"/>
                </a:solidFill>
                <a:latin typeface="Century Schoolbook" pitchFamily="34" charset="0"/>
                <a:ea typeface="Century Schoolbook" pitchFamily="34" charset="-122"/>
                <a:cs typeface="Century Schoolbook" pitchFamily="34" charset="-120"/>
              </a:rPr>
              <a:t>25</a:t>
            </a:r>
            <a:endParaRPr lang="en-US" sz="2400" dirty="0"/>
          </a:p>
        </p:txBody>
      </p:sp>
      <p:sp>
        <p:nvSpPr>
          <p:cNvPr id="8" name="Text 6"/>
          <p:cNvSpPr/>
          <p:nvPr/>
        </p:nvSpPr>
        <p:spPr>
          <a:xfrm>
            <a:off x="6035040" y="1734953"/>
            <a:ext cx="5303520" cy="804672"/>
          </a:xfrm>
          <a:prstGeom prst="rect">
            <a:avLst/>
          </a:prstGeom>
          <a:noFill/>
          <a:ln/>
        </p:spPr>
        <p:txBody>
          <a:bodyPr wrap="square" lIns="0" tIns="0" rIns="0" bIns="0" rtlCol="0" anchor="ctr"/>
          <a:lstStyle/>
          <a:p>
            <a:pPr marL="0" indent="0">
              <a:buNone/>
            </a:pPr>
            <a:r>
              <a:rPr lang="en-US" sz="1500" dirty="0">
                <a:solidFill>
                  <a:srgbClr val="7C6B84"/>
                </a:solidFill>
                <a:latin typeface="Calibri" pitchFamily="34" charset="0"/>
                <a:ea typeface="Calibri" pitchFamily="34" charset="-122"/>
                <a:cs typeface="Calibri" pitchFamily="34" charset="-120"/>
              </a:rPr>
              <a:t>Wake up once this many jobs are waiting.</a:t>
            </a:r>
            <a:endParaRPr lang="en-US" sz="1500" dirty="0"/>
          </a:p>
        </p:txBody>
      </p:sp>
      <p:sp>
        <p:nvSpPr>
          <p:cNvPr id="9" name="Shape 7"/>
          <p:cNvSpPr/>
          <p:nvPr/>
        </p:nvSpPr>
        <p:spPr>
          <a:xfrm>
            <a:off x="640080" y="2649353"/>
            <a:ext cx="10908792" cy="804672"/>
          </a:xfrm>
          <a:prstGeom prst="roundRect">
            <a:avLst>
              <a:gd name="adj" fmla="val 15909"/>
            </a:avLst>
          </a:prstGeom>
          <a:solidFill>
            <a:srgbClr val="FFFFFF"/>
          </a:solidFill>
          <a:ln/>
        </p:spPr>
      </p:sp>
      <p:sp>
        <p:nvSpPr>
          <p:cNvPr id="10" name="Shape 8"/>
          <p:cNvSpPr/>
          <p:nvPr/>
        </p:nvSpPr>
        <p:spPr>
          <a:xfrm>
            <a:off x="914400" y="2951105"/>
            <a:ext cx="201168" cy="201168"/>
          </a:xfrm>
          <a:prstGeom prst="ellipse">
            <a:avLst/>
          </a:prstGeom>
          <a:solidFill>
            <a:srgbClr val="F2A93B"/>
          </a:solidFill>
          <a:ln/>
        </p:spPr>
      </p:sp>
      <p:sp>
        <p:nvSpPr>
          <p:cNvPr id="11" name="Text 9"/>
          <p:cNvSpPr/>
          <p:nvPr/>
        </p:nvSpPr>
        <p:spPr>
          <a:xfrm>
            <a:off x="1243584" y="2649353"/>
            <a:ext cx="3657600" cy="804672"/>
          </a:xfrm>
          <a:prstGeom prst="rect">
            <a:avLst/>
          </a:prstGeom>
          <a:noFill/>
          <a:ln/>
        </p:spPr>
        <p:txBody>
          <a:bodyPr wrap="square" lIns="0" tIns="0" rIns="0" bIns="0" rtlCol="0" anchor="ctr"/>
          <a:lstStyle/>
          <a:p>
            <a:pPr marL="0" indent="0">
              <a:buNone/>
            </a:pPr>
            <a:r>
              <a:rPr lang="en-US" sz="1500" b="1" dirty="0">
                <a:solidFill>
                  <a:srgbClr val="2A1B3D"/>
                </a:solidFill>
                <a:latin typeface="Courier New" pitchFamily="34" charset="0"/>
                <a:ea typeface="Courier New" pitchFamily="34" charset="-122"/>
                <a:cs typeface="Courier New" pitchFamily="34" charset="-120"/>
              </a:rPr>
              <a:t>maxPendingAgeMinutes</a:t>
            </a:r>
            <a:endParaRPr lang="en-US" sz="1500" dirty="0"/>
          </a:p>
        </p:txBody>
      </p:sp>
      <p:sp>
        <p:nvSpPr>
          <p:cNvPr id="12" name="Text 10"/>
          <p:cNvSpPr/>
          <p:nvPr/>
        </p:nvSpPr>
        <p:spPr>
          <a:xfrm>
            <a:off x="4937760" y="2649353"/>
            <a:ext cx="914400" cy="804672"/>
          </a:xfrm>
          <a:prstGeom prst="rect">
            <a:avLst/>
          </a:prstGeom>
          <a:noFill/>
          <a:ln/>
        </p:spPr>
        <p:txBody>
          <a:bodyPr wrap="square" lIns="0" tIns="0" rIns="0" bIns="0" rtlCol="0" anchor="ctr"/>
          <a:lstStyle/>
          <a:p>
            <a:pPr marL="0" indent="0" algn="ctr">
              <a:buNone/>
            </a:pPr>
            <a:r>
              <a:rPr lang="en-US" sz="2400" b="1" dirty="0">
                <a:solidFill>
                  <a:srgbClr val="F2A93B"/>
                </a:solidFill>
                <a:latin typeface="Century Schoolbook" pitchFamily="34" charset="0"/>
                <a:ea typeface="Century Schoolbook" pitchFamily="34" charset="-122"/>
                <a:cs typeface="Century Schoolbook" pitchFamily="34" charset="-120"/>
              </a:rPr>
              <a:t>120</a:t>
            </a:r>
            <a:endParaRPr lang="en-US" sz="2400" dirty="0"/>
          </a:p>
        </p:txBody>
      </p:sp>
      <p:sp>
        <p:nvSpPr>
          <p:cNvPr id="13" name="Text 11"/>
          <p:cNvSpPr/>
          <p:nvPr/>
        </p:nvSpPr>
        <p:spPr>
          <a:xfrm>
            <a:off x="6035040" y="2649353"/>
            <a:ext cx="5303520" cy="804672"/>
          </a:xfrm>
          <a:prstGeom prst="rect">
            <a:avLst/>
          </a:prstGeom>
          <a:noFill/>
          <a:ln/>
        </p:spPr>
        <p:txBody>
          <a:bodyPr wrap="square" lIns="0" tIns="0" rIns="0" bIns="0" rtlCol="0" anchor="ctr"/>
          <a:lstStyle/>
          <a:p>
            <a:pPr marL="0" indent="0">
              <a:buNone/>
            </a:pPr>
            <a:r>
              <a:rPr lang="en-US" sz="1500" dirty="0">
                <a:solidFill>
                  <a:srgbClr val="7C6B84"/>
                </a:solidFill>
                <a:latin typeface="Calibri" pitchFamily="34" charset="0"/>
                <a:ea typeface="Calibri" pitchFamily="34" charset="-122"/>
                <a:cs typeface="Calibri" pitchFamily="34" charset="-120"/>
              </a:rPr>
              <a:t>…or once the oldest one has waited this long.</a:t>
            </a:r>
            <a:endParaRPr lang="en-US" sz="1500" dirty="0"/>
          </a:p>
        </p:txBody>
      </p:sp>
      <p:sp>
        <p:nvSpPr>
          <p:cNvPr id="14" name="Shape 12"/>
          <p:cNvSpPr/>
          <p:nvPr/>
        </p:nvSpPr>
        <p:spPr>
          <a:xfrm>
            <a:off x="640080" y="3563753"/>
            <a:ext cx="10908792" cy="804672"/>
          </a:xfrm>
          <a:prstGeom prst="roundRect">
            <a:avLst>
              <a:gd name="adj" fmla="val 15909"/>
            </a:avLst>
          </a:prstGeom>
          <a:solidFill>
            <a:srgbClr val="FFFFFF"/>
          </a:solidFill>
          <a:ln/>
        </p:spPr>
      </p:sp>
      <p:sp>
        <p:nvSpPr>
          <p:cNvPr id="15" name="Shape 13"/>
          <p:cNvSpPr/>
          <p:nvPr/>
        </p:nvSpPr>
        <p:spPr>
          <a:xfrm>
            <a:off x="914400" y="3865505"/>
            <a:ext cx="201168" cy="201168"/>
          </a:xfrm>
          <a:prstGeom prst="ellipse">
            <a:avLst/>
          </a:prstGeom>
          <a:solidFill>
            <a:srgbClr val="2E7D77"/>
          </a:solidFill>
          <a:ln/>
        </p:spPr>
      </p:sp>
      <p:sp>
        <p:nvSpPr>
          <p:cNvPr id="16" name="Text 14"/>
          <p:cNvSpPr/>
          <p:nvPr/>
        </p:nvSpPr>
        <p:spPr>
          <a:xfrm>
            <a:off x="1243584" y="3563753"/>
            <a:ext cx="3657600" cy="804672"/>
          </a:xfrm>
          <a:prstGeom prst="rect">
            <a:avLst/>
          </a:prstGeom>
          <a:noFill/>
          <a:ln/>
        </p:spPr>
        <p:txBody>
          <a:bodyPr wrap="square" lIns="0" tIns="0" rIns="0" bIns="0" rtlCol="0" anchor="ctr"/>
          <a:lstStyle/>
          <a:p>
            <a:pPr marL="0" indent="0">
              <a:buNone/>
            </a:pPr>
            <a:r>
              <a:rPr lang="en-US" sz="1500" b="1" dirty="0">
                <a:solidFill>
                  <a:srgbClr val="2A1B3D"/>
                </a:solidFill>
                <a:latin typeface="Courier New" pitchFamily="34" charset="0"/>
                <a:ea typeface="Courier New" pitchFamily="34" charset="-122"/>
                <a:cs typeface="Courier New" pitchFamily="34" charset="-120"/>
              </a:rPr>
              <a:t>idleShutdownMinutes</a:t>
            </a:r>
            <a:endParaRPr lang="en-US" sz="1500" dirty="0"/>
          </a:p>
        </p:txBody>
      </p:sp>
      <p:sp>
        <p:nvSpPr>
          <p:cNvPr id="17" name="Text 15"/>
          <p:cNvSpPr/>
          <p:nvPr/>
        </p:nvSpPr>
        <p:spPr>
          <a:xfrm>
            <a:off x="4937760" y="3563753"/>
            <a:ext cx="914400" cy="804672"/>
          </a:xfrm>
          <a:prstGeom prst="rect">
            <a:avLst/>
          </a:prstGeom>
          <a:noFill/>
          <a:ln/>
        </p:spPr>
        <p:txBody>
          <a:bodyPr wrap="square" lIns="0" tIns="0" rIns="0" bIns="0" rtlCol="0" anchor="ctr"/>
          <a:lstStyle/>
          <a:p>
            <a:pPr marL="0" indent="0" algn="ctr">
              <a:buNone/>
            </a:pPr>
            <a:r>
              <a:rPr lang="en-US" sz="2400" b="1" dirty="0">
                <a:solidFill>
                  <a:srgbClr val="2E7D77"/>
                </a:solidFill>
                <a:latin typeface="Century Schoolbook" pitchFamily="34" charset="0"/>
                <a:ea typeface="Century Schoolbook" pitchFamily="34" charset="-122"/>
                <a:cs typeface="Century Schoolbook" pitchFamily="34" charset="-120"/>
              </a:rPr>
              <a:t>10</a:t>
            </a:r>
            <a:endParaRPr lang="en-US" sz="2400" dirty="0"/>
          </a:p>
        </p:txBody>
      </p:sp>
      <p:sp>
        <p:nvSpPr>
          <p:cNvPr id="18" name="Text 16"/>
          <p:cNvSpPr/>
          <p:nvPr/>
        </p:nvSpPr>
        <p:spPr>
          <a:xfrm>
            <a:off x="6035040" y="3563753"/>
            <a:ext cx="5303520" cy="804672"/>
          </a:xfrm>
          <a:prstGeom prst="rect">
            <a:avLst/>
          </a:prstGeom>
          <a:noFill/>
          <a:ln/>
        </p:spPr>
        <p:txBody>
          <a:bodyPr wrap="square" lIns="0" tIns="0" rIns="0" bIns="0" rtlCol="0" anchor="ctr"/>
          <a:lstStyle/>
          <a:p>
            <a:pPr marL="0" indent="0">
              <a:buNone/>
            </a:pPr>
            <a:r>
              <a:rPr lang="en-US" sz="1500" dirty="0">
                <a:solidFill>
                  <a:srgbClr val="7C6B84"/>
                </a:solidFill>
                <a:latin typeface="Calibri" pitchFamily="34" charset="0"/>
                <a:ea typeface="Calibri" pitchFamily="34" charset="-122"/>
                <a:cs typeface="Calibri" pitchFamily="34" charset="-120"/>
              </a:rPr>
              <a:t>Go back to sleep this long after things go quiet.</a:t>
            </a:r>
            <a:endParaRPr lang="en-US" sz="1500" dirty="0"/>
          </a:p>
        </p:txBody>
      </p:sp>
      <p:sp>
        <p:nvSpPr>
          <p:cNvPr id="19" name="Shape 17"/>
          <p:cNvSpPr/>
          <p:nvPr/>
        </p:nvSpPr>
        <p:spPr>
          <a:xfrm>
            <a:off x="640080" y="4478153"/>
            <a:ext cx="10908792" cy="804672"/>
          </a:xfrm>
          <a:prstGeom prst="roundRect">
            <a:avLst>
              <a:gd name="adj" fmla="val 15909"/>
            </a:avLst>
          </a:prstGeom>
          <a:solidFill>
            <a:srgbClr val="FFFFFF"/>
          </a:solidFill>
          <a:ln/>
        </p:spPr>
      </p:sp>
      <p:sp>
        <p:nvSpPr>
          <p:cNvPr id="20" name="Shape 18"/>
          <p:cNvSpPr/>
          <p:nvPr/>
        </p:nvSpPr>
        <p:spPr>
          <a:xfrm>
            <a:off x="914400" y="4779905"/>
            <a:ext cx="201168" cy="201168"/>
          </a:xfrm>
          <a:prstGeom prst="ellipse">
            <a:avLst/>
          </a:prstGeom>
          <a:solidFill>
            <a:srgbClr val="2E7D77"/>
          </a:solidFill>
          <a:ln/>
        </p:spPr>
      </p:sp>
      <p:sp>
        <p:nvSpPr>
          <p:cNvPr id="21" name="Text 19"/>
          <p:cNvSpPr/>
          <p:nvPr/>
        </p:nvSpPr>
        <p:spPr>
          <a:xfrm>
            <a:off x="1243584" y="4478153"/>
            <a:ext cx="3657600" cy="804672"/>
          </a:xfrm>
          <a:prstGeom prst="rect">
            <a:avLst/>
          </a:prstGeom>
          <a:noFill/>
          <a:ln/>
        </p:spPr>
        <p:txBody>
          <a:bodyPr wrap="square" lIns="0" tIns="0" rIns="0" bIns="0" rtlCol="0" anchor="ctr"/>
          <a:lstStyle/>
          <a:p>
            <a:pPr marL="0" indent="0">
              <a:buNone/>
            </a:pPr>
            <a:r>
              <a:rPr lang="en-US" sz="1500" b="1" dirty="0">
                <a:solidFill>
                  <a:srgbClr val="2A1B3D"/>
                </a:solidFill>
                <a:latin typeface="Courier New" pitchFamily="34" charset="0"/>
                <a:ea typeface="Courier New" pitchFamily="34" charset="-122"/>
                <a:cs typeface="Courier New" pitchFamily="34" charset="-120"/>
              </a:rPr>
              <a:t>startTimeoutMinutes</a:t>
            </a:r>
            <a:endParaRPr lang="en-US" sz="1500" dirty="0"/>
          </a:p>
        </p:txBody>
      </p:sp>
      <p:sp>
        <p:nvSpPr>
          <p:cNvPr id="22" name="Text 20"/>
          <p:cNvSpPr/>
          <p:nvPr/>
        </p:nvSpPr>
        <p:spPr>
          <a:xfrm>
            <a:off x="4937760" y="4478153"/>
            <a:ext cx="914400" cy="804672"/>
          </a:xfrm>
          <a:prstGeom prst="rect">
            <a:avLst/>
          </a:prstGeom>
          <a:noFill/>
          <a:ln/>
        </p:spPr>
        <p:txBody>
          <a:bodyPr wrap="square" lIns="0" tIns="0" rIns="0" bIns="0" rtlCol="0" anchor="ctr"/>
          <a:lstStyle/>
          <a:p>
            <a:pPr marL="0" indent="0" algn="ctr">
              <a:buNone/>
            </a:pPr>
            <a:r>
              <a:rPr lang="en-US" sz="2400" b="1" dirty="0">
                <a:solidFill>
                  <a:srgbClr val="2E7D77"/>
                </a:solidFill>
                <a:latin typeface="Century Schoolbook" pitchFamily="34" charset="0"/>
                <a:ea typeface="Century Schoolbook" pitchFamily="34" charset="-122"/>
                <a:cs typeface="Century Schoolbook" pitchFamily="34" charset="-120"/>
              </a:rPr>
              <a:t>20</a:t>
            </a:r>
            <a:endParaRPr lang="en-US" sz="2400" dirty="0"/>
          </a:p>
        </p:txBody>
      </p:sp>
      <p:sp>
        <p:nvSpPr>
          <p:cNvPr id="23" name="Text 21"/>
          <p:cNvSpPr/>
          <p:nvPr/>
        </p:nvSpPr>
        <p:spPr>
          <a:xfrm>
            <a:off x="6035040" y="4478153"/>
            <a:ext cx="5303520" cy="804672"/>
          </a:xfrm>
          <a:prstGeom prst="rect">
            <a:avLst/>
          </a:prstGeom>
          <a:noFill/>
          <a:ln/>
        </p:spPr>
        <p:txBody>
          <a:bodyPr wrap="square" lIns="0" tIns="0" rIns="0" bIns="0" rtlCol="0" anchor="ctr"/>
          <a:lstStyle/>
          <a:p>
            <a:pPr marL="0" indent="0">
              <a:buNone/>
            </a:pPr>
            <a:r>
              <a:rPr lang="en-US" sz="1500" dirty="0">
                <a:solidFill>
                  <a:srgbClr val="7C6B84"/>
                </a:solidFill>
                <a:latin typeface="Calibri" pitchFamily="34" charset="0"/>
                <a:ea typeface="Calibri" pitchFamily="34" charset="-122"/>
                <a:cs typeface="Calibri" pitchFamily="34" charset="-120"/>
              </a:rPr>
              <a:t>Give up, and stop, if it never reports for duty.</a:t>
            </a:r>
            <a:endParaRPr lang="en-US" sz="1500" dirty="0"/>
          </a:p>
        </p:txBody>
      </p:sp>
      <p:sp>
        <p:nvSpPr>
          <p:cNvPr id="24" name="Shape 22"/>
          <p:cNvSpPr/>
          <p:nvPr/>
        </p:nvSpPr>
        <p:spPr>
          <a:xfrm>
            <a:off x="640080" y="5529713"/>
            <a:ext cx="10908792" cy="960120"/>
          </a:xfrm>
          <a:prstGeom prst="roundRect">
            <a:avLst>
              <a:gd name="adj" fmla="val 15238"/>
            </a:avLst>
          </a:prstGeom>
          <a:solidFill>
            <a:srgbClr val="2A1B3D"/>
          </a:solidFill>
          <a:ln/>
        </p:spPr>
      </p:sp>
      <p:sp>
        <p:nvSpPr>
          <p:cNvPr id="25" name="Text 23"/>
          <p:cNvSpPr/>
          <p:nvPr/>
        </p:nvSpPr>
        <p:spPr>
          <a:xfrm>
            <a:off x="969264" y="5579761"/>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Why there are two ways to wake it up.</a:t>
            </a:r>
            <a:endParaRPr lang="en-US" sz="1900" dirty="0"/>
          </a:p>
        </p:txBody>
      </p:sp>
      <p:sp>
        <p:nvSpPr>
          <p:cNvPr id="26" name="Text 24"/>
          <p:cNvSpPr/>
          <p:nvPr/>
        </p:nvSpPr>
        <p:spPr>
          <a:xfrm>
            <a:off x="969264" y="5927953"/>
            <a:ext cx="10241280" cy="301752"/>
          </a:xfrm>
          <a:prstGeom prst="rect">
            <a:avLst/>
          </a:prstGeom>
          <a:noFill/>
          <a:ln/>
        </p:spPr>
        <p:txBody>
          <a:bodyPr wrap="square" lIns="0" tIns="0" rIns="0" bIns="0" rtlCol="0" anchor="t"/>
          <a:lstStyle/>
          <a:p>
            <a:pPr marL="0" indent="0">
              <a:buNone/>
            </a:pPr>
            <a:r>
              <a:rPr lang="en-US" sz="1500" dirty="0">
                <a:solidFill>
                  <a:srgbClr val="C9BBD6"/>
                </a:solidFill>
                <a:latin typeface="Calibri" pitchFamily="34" charset="0"/>
                <a:ea typeface="Calibri" pitchFamily="34" charset="-122"/>
                <a:cs typeface="Calibri" pitchFamily="34" charset="-120"/>
              </a:rPr>
              <a:t>A threshold on its own starves a single job forever. The age rule is what rescues the one photograph that arrived on a quiet Tuesday — and that is a bug most people write before they fix it.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2E7D77"/>
                </a:solidFill>
                <a:latin typeface="Calibri" pitchFamily="34" charset="0"/>
                <a:ea typeface="Calibri" pitchFamily="34" charset="-122"/>
                <a:cs typeface="Calibri" pitchFamily="34" charset="-120"/>
              </a:rPr>
              <a:t>PROBLEM TWO · WHAT IF THE OFF SWITCH FAILS?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So the machine is given the power to kill itself</a:t>
            </a:r>
            <a:endParaRPr lang="en-US" sz="3200" dirty="0"/>
          </a:p>
        </p:txBody>
      </p:sp>
      <p:sp>
        <p:nvSpPr>
          <p:cNvPr id="4" name="Shape 2"/>
          <p:cNvSpPr/>
          <p:nvPr/>
        </p:nvSpPr>
        <p:spPr>
          <a:xfrm>
            <a:off x="640080" y="1617043"/>
            <a:ext cx="5317236" cy="2331720"/>
          </a:xfrm>
          <a:prstGeom prst="roundRect">
            <a:avLst>
              <a:gd name="adj" fmla="val 6275"/>
            </a:avLst>
          </a:prstGeom>
          <a:solidFill>
            <a:srgbClr val="FFFFFF"/>
          </a:solidFill>
          <a:ln/>
        </p:spPr>
      </p:sp>
      <p:sp>
        <p:nvSpPr>
          <p:cNvPr id="5" name="Shape 3"/>
          <p:cNvSpPr/>
          <p:nvPr/>
        </p:nvSpPr>
        <p:spPr>
          <a:xfrm>
            <a:off x="950976" y="1927939"/>
            <a:ext cx="310896" cy="310896"/>
          </a:xfrm>
          <a:prstGeom prst="ellipse">
            <a:avLst/>
          </a:prstGeom>
          <a:solidFill>
            <a:srgbClr val="F2A93B"/>
          </a:solidFill>
          <a:ln/>
        </p:spPr>
      </p:sp>
      <p:sp>
        <p:nvSpPr>
          <p:cNvPr id="6" name="Text 4"/>
          <p:cNvSpPr/>
          <p:nvPr/>
        </p:nvSpPr>
        <p:spPr>
          <a:xfrm>
            <a:off x="950976" y="2366851"/>
            <a:ext cx="4695444"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fast path</a:t>
            </a:r>
            <a:endParaRPr lang="en-US" sz="1900" dirty="0"/>
          </a:p>
        </p:txBody>
      </p:sp>
      <p:sp>
        <p:nvSpPr>
          <p:cNvPr id="7" name="Text 5"/>
          <p:cNvSpPr/>
          <p:nvPr/>
        </p:nvSpPr>
        <p:spPr>
          <a:xfrm>
            <a:off x="950976" y="2942923"/>
            <a:ext cx="4695444" cy="73152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The API runs the pause command. Quick, ordinary, and what happens ninety-nine times out of a hundred.</a:t>
            </a:r>
            <a:endParaRPr lang="en-US" sz="1500" dirty="0"/>
          </a:p>
        </p:txBody>
      </p:sp>
      <p:sp>
        <p:nvSpPr>
          <p:cNvPr id="8" name="Shape 6"/>
          <p:cNvSpPr/>
          <p:nvPr/>
        </p:nvSpPr>
        <p:spPr>
          <a:xfrm>
            <a:off x="6231636" y="1617043"/>
            <a:ext cx="5317236" cy="2331720"/>
          </a:xfrm>
          <a:prstGeom prst="roundRect">
            <a:avLst>
              <a:gd name="adj" fmla="val 6275"/>
            </a:avLst>
          </a:prstGeom>
          <a:solidFill>
            <a:srgbClr val="FFFFFF"/>
          </a:solidFill>
          <a:ln/>
        </p:spPr>
      </p:sp>
      <p:sp>
        <p:nvSpPr>
          <p:cNvPr id="9" name="Shape 7"/>
          <p:cNvSpPr/>
          <p:nvPr/>
        </p:nvSpPr>
        <p:spPr>
          <a:xfrm>
            <a:off x="6542532" y="1927939"/>
            <a:ext cx="310896" cy="310896"/>
          </a:xfrm>
          <a:prstGeom prst="ellipse">
            <a:avLst/>
          </a:prstGeom>
          <a:solidFill>
            <a:srgbClr val="2E7D77"/>
          </a:solidFill>
          <a:ln/>
        </p:spPr>
      </p:sp>
      <p:sp>
        <p:nvSpPr>
          <p:cNvPr id="10" name="Text 8"/>
          <p:cNvSpPr/>
          <p:nvPr/>
        </p:nvSpPr>
        <p:spPr>
          <a:xfrm>
            <a:off x="6542532" y="2366851"/>
            <a:ext cx="4695444"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backstop</a:t>
            </a:r>
            <a:endParaRPr lang="en-US" sz="1900" dirty="0"/>
          </a:p>
        </p:txBody>
      </p:sp>
      <p:sp>
        <p:nvSpPr>
          <p:cNvPr id="11" name="Text 9"/>
          <p:cNvSpPr/>
          <p:nvPr/>
        </p:nvSpPr>
        <p:spPr>
          <a:xfrm>
            <a:off x="6542532" y="2942923"/>
            <a:ext cx="4695444" cy="73152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The box polls us every few seconds and asks “should I still be alive?” If we say no — or if we cannot be reached at all — it shuts itself down.</a:t>
            </a:r>
            <a:endParaRPr lang="en-US" sz="1500" dirty="0"/>
          </a:p>
        </p:txBody>
      </p:sp>
      <p:sp>
        <p:nvSpPr>
          <p:cNvPr id="12" name="Shape 10"/>
          <p:cNvSpPr/>
          <p:nvPr/>
        </p:nvSpPr>
        <p:spPr>
          <a:xfrm>
            <a:off x="640080" y="4177363"/>
            <a:ext cx="10908792" cy="1325880"/>
          </a:xfrm>
          <a:prstGeom prst="roundRect">
            <a:avLst>
              <a:gd name="adj" fmla="val 11034"/>
            </a:avLst>
          </a:prstGeom>
          <a:solidFill>
            <a:srgbClr val="2A1B3D"/>
          </a:solidFill>
          <a:ln/>
        </p:spPr>
      </p:sp>
      <p:sp>
        <p:nvSpPr>
          <p:cNvPr id="13" name="Text 11"/>
          <p:cNvSpPr/>
          <p:nvPr/>
        </p:nvSpPr>
        <p:spPr>
          <a:xfrm>
            <a:off x="969264" y="4332811"/>
            <a:ext cx="10241280" cy="457200"/>
          </a:xfrm>
          <a:prstGeom prst="rect">
            <a:avLst/>
          </a:prstGeom>
          <a:noFill/>
          <a:ln/>
        </p:spPr>
        <p:txBody>
          <a:bodyPr wrap="square" lIns="0" tIns="0" rIns="0" bIns="0" rtlCol="0" anchor="ctr"/>
          <a:lstStyle/>
          <a:p>
            <a:pPr marL="0" indent="0">
              <a:buNone/>
            </a:pPr>
            <a:r>
              <a:rPr lang="en-US" sz="2400" b="1" dirty="0">
                <a:solidFill>
                  <a:srgbClr val="F2A93B"/>
                </a:solidFill>
                <a:latin typeface="Century Schoolbook" pitchFamily="34" charset="0"/>
                <a:ea typeface="Century Schoolbook" pitchFamily="34" charset="-122"/>
                <a:cs typeface="Century Schoolbook" pitchFamily="34" charset="-120"/>
              </a:rPr>
              <a:t>The expensive resource fails closed.</a:t>
            </a:r>
            <a:endParaRPr lang="en-US" sz="2400" dirty="0"/>
          </a:p>
        </p:txBody>
      </p:sp>
      <p:sp>
        <p:nvSpPr>
          <p:cNvPr id="14" name="Text 12"/>
          <p:cNvSpPr/>
          <p:nvPr/>
        </p:nvSpPr>
        <p:spPr>
          <a:xfrm>
            <a:off x="969264" y="4697124"/>
            <a:ext cx="10241280" cy="640080"/>
          </a:xfrm>
          <a:prstGeom prst="rect">
            <a:avLst/>
          </a:prstGeom>
          <a:noFill/>
          <a:ln/>
        </p:spPr>
        <p:txBody>
          <a:bodyPr wrap="square" lIns="0" tIns="0" rIns="0" bIns="0" rtlCol="0" anchor="ctr"/>
          <a:lstStyle/>
          <a:p>
            <a:pPr marL="0" indent="0">
              <a:buNone/>
            </a:pPr>
            <a:r>
              <a:rPr lang="en-US" sz="1550" dirty="0">
                <a:solidFill>
                  <a:srgbClr val="C9BBD6"/>
                </a:solidFill>
                <a:latin typeface="Calibri" pitchFamily="34" charset="0"/>
                <a:ea typeface="Calibri" pitchFamily="34" charset="-122"/>
                <a:cs typeface="Calibri" pitchFamily="34" charset="-120"/>
              </a:rPr>
              <a:t>An outage, a bad deploy, or a bug costs you an idle machine for a few minutes — never a weekend of billing. And because it polls us rather than us pushing to it, the machine needs no inbound access at all.</a:t>
            </a:r>
            <a:endParaRPr lang="en-US" sz="1550" dirty="0"/>
          </a:p>
        </p:txBody>
      </p:sp>
      <p:sp>
        <p:nvSpPr>
          <p:cNvPr id="15" name="Shape 13"/>
          <p:cNvSpPr/>
          <p:nvPr/>
        </p:nvSpPr>
        <p:spPr>
          <a:xfrm>
            <a:off x="640080" y="5686123"/>
            <a:ext cx="10908792" cy="685800"/>
          </a:xfrm>
          <a:prstGeom prst="roundRect">
            <a:avLst>
              <a:gd name="adj" fmla="val 21333"/>
            </a:avLst>
          </a:prstGeom>
          <a:solidFill>
            <a:srgbClr val="F3EBE2"/>
          </a:solidFill>
          <a:ln/>
        </p:spPr>
      </p:sp>
      <p:sp>
        <p:nvSpPr>
          <p:cNvPr id="16" name="Text 14"/>
          <p:cNvSpPr/>
          <p:nvPr/>
        </p:nvSpPr>
        <p:spPr>
          <a:xfrm>
            <a:off x="969264" y="5832427"/>
            <a:ext cx="10241280" cy="402336"/>
          </a:xfrm>
          <a:prstGeom prst="rect">
            <a:avLst/>
          </a:prstGeom>
          <a:noFill/>
          <a:ln/>
        </p:spPr>
        <p:txBody>
          <a:bodyPr wrap="square" lIns="0" tIns="0" rIns="0" bIns="0" rtlCol="0" anchor="ctr"/>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direction of that arrow is the cost design and the security design at the same time.</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E2574C"/>
                </a:solidFill>
                <a:latin typeface="Calibri" pitchFamily="34" charset="0"/>
                <a:ea typeface="Calibri" pitchFamily="34" charset="-122"/>
                <a:cs typeface="Calibri" pitchFamily="34" charset="-120"/>
              </a:rPr>
              <a:t>THE BUG THAT PAYS FOR ITSELF</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How one forgotten job pins a GPU up forever</a:t>
            </a:r>
            <a:endParaRPr lang="en-US" sz="3200" dirty="0"/>
          </a:p>
        </p:txBody>
      </p:sp>
      <p:sp>
        <p:nvSpPr>
          <p:cNvPr id="4" name="Shape 2"/>
          <p:cNvSpPr/>
          <p:nvPr/>
        </p:nvSpPr>
        <p:spPr>
          <a:xfrm>
            <a:off x="640080" y="1659152"/>
            <a:ext cx="10908792" cy="914400"/>
          </a:xfrm>
          <a:prstGeom prst="roundRect">
            <a:avLst>
              <a:gd name="adj" fmla="val 14000"/>
            </a:avLst>
          </a:prstGeom>
          <a:solidFill>
            <a:srgbClr val="FFFFFF"/>
          </a:solidFill>
          <a:ln/>
        </p:spPr>
      </p:sp>
      <p:sp>
        <p:nvSpPr>
          <p:cNvPr id="5" name="Shape 3"/>
          <p:cNvSpPr/>
          <p:nvPr/>
        </p:nvSpPr>
        <p:spPr>
          <a:xfrm>
            <a:off x="932688" y="1951760"/>
            <a:ext cx="329184" cy="329184"/>
          </a:xfrm>
          <a:prstGeom prst="ellipse">
            <a:avLst/>
          </a:prstGeom>
          <a:solidFill>
            <a:srgbClr val="E2574C"/>
          </a:solidFill>
          <a:ln/>
        </p:spPr>
      </p:sp>
      <p:sp>
        <p:nvSpPr>
          <p:cNvPr id="6" name="Text 4"/>
          <p:cNvSpPr/>
          <p:nvPr/>
        </p:nvSpPr>
        <p:spPr>
          <a:xfrm>
            <a:off x="932688" y="19517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81328" y="1768880"/>
            <a:ext cx="9692640" cy="365760"/>
          </a:xfrm>
          <a:prstGeom prst="rect">
            <a:avLst/>
          </a:prstGeom>
          <a:noFill/>
          <a:ln/>
        </p:spPr>
        <p:txBody>
          <a:bodyPr wrap="square" lIns="0" tIns="0" rIns="0" bIns="0" rtlCol="0" anchor="ctr"/>
          <a:lstStyle/>
          <a:p>
            <a:pPr marL="0" indent="0">
              <a:buNone/>
            </a:pPr>
            <a:r>
              <a:rPr lang="en-US" sz="1800" b="1" dirty="0">
                <a:solidFill>
                  <a:srgbClr val="2A1B3D"/>
                </a:solidFill>
                <a:latin typeface="Century Schoolbook" pitchFamily="34" charset="0"/>
                <a:ea typeface="Century Schoolbook" pitchFamily="34" charset="-122"/>
                <a:cs typeface="Century Schoolbook" pitchFamily="34" charset="-120"/>
              </a:rPr>
              <a:t>The box is paused halfway through a batch</a:t>
            </a:r>
            <a:endParaRPr lang="en-US" sz="1800" dirty="0"/>
          </a:p>
        </p:txBody>
      </p:sp>
      <p:sp>
        <p:nvSpPr>
          <p:cNvPr id="8" name="Text 6"/>
          <p:cNvSpPr/>
          <p:nvPr/>
        </p:nvSpPr>
        <p:spPr>
          <a:xfrm>
            <a:off x="1481328" y="2152928"/>
            <a:ext cx="9692640" cy="329184"/>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By design. That is the entire point of pausing it.</a:t>
            </a:r>
            <a:endParaRPr lang="en-US" sz="1400" dirty="0"/>
          </a:p>
        </p:txBody>
      </p:sp>
      <p:sp>
        <p:nvSpPr>
          <p:cNvPr id="9" name="Shape 7"/>
          <p:cNvSpPr/>
          <p:nvPr/>
        </p:nvSpPr>
        <p:spPr>
          <a:xfrm>
            <a:off x="640080" y="2710712"/>
            <a:ext cx="10908792" cy="914400"/>
          </a:xfrm>
          <a:prstGeom prst="roundRect">
            <a:avLst>
              <a:gd name="adj" fmla="val 14000"/>
            </a:avLst>
          </a:prstGeom>
          <a:solidFill>
            <a:srgbClr val="FFFFFF"/>
          </a:solidFill>
          <a:ln/>
        </p:spPr>
      </p:sp>
      <p:sp>
        <p:nvSpPr>
          <p:cNvPr id="10" name="Shape 8"/>
          <p:cNvSpPr/>
          <p:nvPr/>
        </p:nvSpPr>
        <p:spPr>
          <a:xfrm>
            <a:off x="932688" y="3003320"/>
            <a:ext cx="329184" cy="329184"/>
          </a:xfrm>
          <a:prstGeom prst="ellipse">
            <a:avLst/>
          </a:prstGeom>
          <a:solidFill>
            <a:srgbClr val="E2574C"/>
          </a:solidFill>
          <a:ln/>
        </p:spPr>
      </p:sp>
      <p:sp>
        <p:nvSpPr>
          <p:cNvPr id="11" name="Text 9"/>
          <p:cNvSpPr/>
          <p:nvPr/>
        </p:nvSpPr>
        <p:spPr>
          <a:xfrm>
            <a:off x="932688" y="300332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81328" y="2820440"/>
            <a:ext cx="9692640" cy="365760"/>
          </a:xfrm>
          <a:prstGeom prst="rect">
            <a:avLst/>
          </a:prstGeom>
          <a:noFill/>
          <a:ln/>
        </p:spPr>
        <p:txBody>
          <a:bodyPr wrap="square" lIns="0" tIns="0" rIns="0" bIns="0" rtlCol="0" anchor="ctr"/>
          <a:lstStyle/>
          <a:p>
            <a:pPr marL="0" indent="0">
              <a:buNone/>
            </a:pPr>
            <a:r>
              <a:rPr lang="en-US" sz="1800" b="1" dirty="0">
                <a:solidFill>
                  <a:srgbClr val="2A1B3D"/>
                </a:solidFill>
                <a:latin typeface="Century Schoolbook" pitchFamily="34" charset="0"/>
                <a:ea typeface="Century Schoolbook" pitchFamily="34" charset="-122"/>
                <a:cs typeface="Century Schoolbook" pitchFamily="34" charset="-120"/>
              </a:rPr>
              <a:t>A job is left marked “active” in Redis</a:t>
            </a:r>
            <a:endParaRPr lang="en-US" sz="1800" dirty="0"/>
          </a:p>
        </p:txBody>
      </p:sp>
      <p:sp>
        <p:nvSpPr>
          <p:cNvPr id="13" name="Text 11"/>
          <p:cNvSpPr/>
          <p:nvPr/>
        </p:nvSpPr>
        <p:spPr>
          <a:xfrm>
            <a:off x="1481328" y="3204488"/>
            <a:ext cx="9692640" cy="329184"/>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Nobody is alive to finish it or fail it, and it never clears on its own.</a:t>
            </a:r>
            <a:endParaRPr lang="en-US" sz="1400" dirty="0"/>
          </a:p>
        </p:txBody>
      </p:sp>
      <p:sp>
        <p:nvSpPr>
          <p:cNvPr id="14" name="Shape 12"/>
          <p:cNvSpPr/>
          <p:nvPr/>
        </p:nvSpPr>
        <p:spPr>
          <a:xfrm>
            <a:off x="640080" y="3762272"/>
            <a:ext cx="10908792" cy="914400"/>
          </a:xfrm>
          <a:prstGeom prst="roundRect">
            <a:avLst>
              <a:gd name="adj" fmla="val 14000"/>
            </a:avLst>
          </a:prstGeom>
          <a:solidFill>
            <a:srgbClr val="FFFFFF"/>
          </a:solidFill>
          <a:ln/>
        </p:spPr>
      </p:sp>
      <p:sp>
        <p:nvSpPr>
          <p:cNvPr id="15" name="Shape 13"/>
          <p:cNvSpPr/>
          <p:nvPr/>
        </p:nvSpPr>
        <p:spPr>
          <a:xfrm>
            <a:off x="932688" y="4054880"/>
            <a:ext cx="329184" cy="329184"/>
          </a:xfrm>
          <a:prstGeom prst="ellipse">
            <a:avLst/>
          </a:prstGeom>
          <a:solidFill>
            <a:srgbClr val="E2574C"/>
          </a:solidFill>
          <a:ln/>
        </p:spPr>
      </p:sp>
      <p:sp>
        <p:nvSpPr>
          <p:cNvPr id="16" name="Text 14"/>
          <p:cNvSpPr/>
          <p:nvPr/>
        </p:nvSpPr>
        <p:spPr>
          <a:xfrm>
            <a:off x="932688" y="405488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81328" y="3872000"/>
            <a:ext cx="9692640" cy="365760"/>
          </a:xfrm>
          <a:prstGeom prst="rect">
            <a:avLst/>
          </a:prstGeom>
          <a:noFill/>
          <a:ln/>
        </p:spPr>
        <p:txBody>
          <a:bodyPr wrap="square" lIns="0" tIns="0" rIns="0" bIns="0" rtlCol="0" anchor="ctr"/>
          <a:lstStyle/>
          <a:p>
            <a:pPr marL="0" indent="0">
              <a:buNone/>
            </a:pPr>
            <a:r>
              <a:rPr lang="en-US" sz="1800" b="1" dirty="0">
                <a:solidFill>
                  <a:srgbClr val="2A1B3D"/>
                </a:solidFill>
                <a:latin typeface="Century Schoolbook" pitchFamily="34" charset="0"/>
                <a:ea typeface="Century Schoolbook" pitchFamily="34" charset="-122"/>
                <a:cs typeface="Century Schoolbook" pitchFamily="34" charset="-120"/>
              </a:rPr>
              <a:t>“Active jobs exist” is what keeps the box awake</a:t>
            </a:r>
            <a:endParaRPr lang="en-US" sz="1800" dirty="0"/>
          </a:p>
        </p:txBody>
      </p:sp>
      <p:sp>
        <p:nvSpPr>
          <p:cNvPr id="18" name="Text 16"/>
          <p:cNvSpPr/>
          <p:nvPr/>
        </p:nvSpPr>
        <p:spPr>
          <a:xfrm>
            <a:off x="1481328" y="4256048"/>
            <a:ext cx="9692640" cy="329184"/>
          </a:xfrm>
          <a:prstGeom prst="rect">
            <a:avLst/>
          </a:prstGeom>
          <a:noFill/>
          <a:ln/>
        </p:spPr>
        <p:txBody>
          <a:bodyPr wrap="square" lIns="0" tIns="0" rIns="0" bIns="0" rtlCol="0" anchor="ctr"/>
          <a:lstStyle/>
          <a:p>
            <a:pPr marL="0" indent="0">
              <a:buNone/>
            </a:pPr>
            <a:r>
              <a:rPr lang="en-US" sz="1400" dirty="0">
                <a:solidFill>
                  <a:srgbClr val="7C6B84"/>
                </a:solidFill>
                <a:latin typeface="Calibri" pitchFamily="34" charset="0"/>
                <a:ea typeface="Calibri" pitchFamily="34" charset="-122"/>
                <a:cs typeface="Calibri" pitchFamily="34" charset="-120"/>
              </a:rPr>
              <a:t>So a single ghost job holds up a GPU indefinitely — the exact bill the whole mechanism existed to prevent.</a:t>
            </a:r>
            <a:endParaRPr lang="en-US" sz="1400" dirty="0"/>
          </a:p>
        </p:txBody>
      </p:sp>
      <p:sp>
        <p:nvSpPr>
          <p:cNvPr id="19" name="Shape 17"/>
          <p:cNvSpPr/>
          <p:nvPr/>
        </p:nvSpPr>
        <p:spPr>
          <a:xfrm>
            <a:off x="640080" y="4950992"/>
            <a:ext cx="10908792" cy="1325880"/>
          </a:xfrm>
          <a:prstGeom prst="roundRect">
            <a:avLst>
              <a:gd name="adj" fmla="val 11034"/>
            </a:avLst>
          </a:prstGeom>
          <a:solidFill>
            <a:srgbClr val="F3EBE2"/>
          </a:solidFill>
          <a:ln/>
        </p:spPr>
      </p:sp>
      <p:sp>
        <p:nvSpPr>
          <p:cNvPr id="20" name="Text 18"/>
          <p:cNvSpPr/>
          <p:nvPr/>
        </p:nvSpPr>
        <p:spPr>
          <a:xfrm>
            <a:off x="969264" y="5106440"/>
            <a:ext cx="10241280" cy="411480"/>
          </a:xfrm>
          <a:prstGeom prst="rect">
            <a:avLst/>
          </a:prstGeom>
          <a:noFill/>
          <a:ln/>
        </p:spPr>
        <p:txBody>
          <a:bodyPr wrap="square" lIns="0" tIns="0" rIns="0" bIns="0" rtlCol="0" anchor="ctr"/>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The fix: anything “active” for more than thirty minutes is a ghost, not work.</a:t>
            </a:r>
            <a:endParaRPr lang="en-US" sz="1900" dirty="0"/>
          </a:p>
        </p:txBody>
      </p:sp>
      <p:sp>
        <p:nvSpPr>
          <p:cNvPr id="21" name="Text 19"/>
          <p:cNvSpPr/>
          <p:nvPr/>
        </p:nvSpPr>
        <p:spPr>
          <a:xfrm>
            <a:off x="969264" y="5545352"/>
            <a:ext cx="10241280" cy="640080"/>
          </a:xfrm>
          <a:prstGeom prst="rect">
            <a:avLst/>
          </a:prstGeom>
          <a:noFill/>
          <a:ln/>
        </p:spPr>
        <p:txBody>
          <a:bodyPr wrap="square" lIns="0" tIns="0" rIns="0" bIns="0" rtlCol="0" anchor="ctr"/>
          <a:lstStyle/>
          <a:p>
            <a:pPr marL="0" indent="0">
              <a:buNone/>
            </a:pPr>
            <a:r>
              <a:rPr lang="en-US" sz="1500" dirty="0">
                <a:solidFill>
                  <a:srgbClr val="7C6B84"/>
                </a:solidFill>
                <a:latin typeface="Calibri" pitchFamily="34" charset="0"/>
                <a:ea typeface="Calibri" pitchFamily="34" charset="-122"/>
                <a:cs typeface="Calibri" pitchFamily="34" charset="-120"/>
              </a:rPr>
              <a:t>Generous on purpose. A long video legitimately holds a job for many minutes, and cutting the machine off mid-encode throws away work already paid for. Thirty minutes is past any real job here, and still caps the damage.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914400"/>
            <a:ext cx="3657600" cy="1828800"/>
          </a:xfrm>
          <a:prstGeom prst="rect">
            <a:avLst/>
          </a:prstGeom>
          <a:noFill/>
          <a:ln/>
        </p:spPr>
        <p:txBody>
          <a:bodyPr wrap="square" lIns="0" tIns="0" rIns="0" bIns="0" rtlCol="0" anchor="ctr"/>
          <a:lstStyle/>
          <a:p>
            <a:pPr marL="0" indent="0">
              <a:buNone/>
            </a:pPr>
            <a:r>
              <a:rPr lang="en-US" sz="11000" b="1" dirty="0">
                <a:solidFill>
                  <a:srgbClr val="3D2B54"/>
                </a:solidFill>
                <a:latin typeface="Century Schoolbook" pitchFamily="34" charset="0"/>
                <a:ea typeface="Century Schoolbook" pitchFamily="34" charset="-122"/>
                <a:cs typeface="Century Schoolbook" pitchFamily="34" charset="-120"/>
              </a:rPr>
              <a:t>08</a:t>
            </a:r>
            <a:endParaRPr lang="en-US" sz="11000" dirty="0"/>
          </a:p>
        </p:txBody>
      </p:sp>
      <p:sp>
        <p:nvSpPr>
          <p:cNvPr id="3" name="Text 1"/>
          <p:cNvSpPr/>
          <p:nvPr/>
        </p:nvSpPr>
        <p:spPr>
          <a:xfrm>
            <a:off x="713232" y="2606040"/>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CHAPTER EIGHT</a:t>
            </a:r>
            <a:endParaRPr lang="en-US" sz="1250" dirty="0"/>
          </a:p>
        </p:txBody>
      </p:sp>
      <p:sp>
        <p:nvSpPr>
          <p:cNvPr id="4" name="Text 2"/>
          <p:cNvSpPr/>
          <p:nvPr/>
        </p:nvSpPr>
        <p:spPr>
          <a:xfrm>
            <a:off x="640080" y="2926080"/>
            <a:ext cx="10515600" cy="1097280"/>
          </a:xfrm>
          <a:prstGeom prst="rect">
            <a:avLst/>
          </a:prstGeom>
          <a:noFill/>
          <a:ln/>
        </p:spPr>
        <p:txBody>
          <a:bodyPr wrap="square" lIns="0" tIns="0" rIns="0" bIns="0" rtlCol="0" anchor="ctr"/>
          <a:lstStyle/>
          <a:p>
            <a:pPr marL="0" indent="0">
              <a:buNone/>
            </a:pPr>
            <a:r>
              <a:rPr lang="en-US" sz="4600" b="1" dirty="0">
                <a:solidFill>
                  <a:srgbClr val="FFFFFF"/>
                </a:solidFill>
                <a:latin typeface="Century Schoolbook" pitchFamily="34" charset="0"/>
                <a:ea typeface="Century Schoolbook" pitchFamily="34" charset="-122"/>
                <a:cs typeface="Century Schoolbook" pitchFamily="34" charset="-120"/>
              </a:rPr>
              <a:t>The end of the night</a:t>
            </a:r>
            <a:endParaRPr lang="en-US" sz="4600" dirty="0"/>
          </a:p>
        </p:txBody>
      </p:sp>
      <p:sp>
        <p:nvSpPr>
          <p:cNvPr id="5" name="Text 3"/>
          <p:cNvSpPr/>
          <p:nvPr/>
        </p:nvSpPr>
        <p:spPr>
          <a:xfrm>
            <a:off x="640080" y="4114800"/>
            <a:ext cx="9326880" cy="1280160"/>
          </a:xfrm>
          <a:prstGeom prst="rect">
            <a:avLst/>
          </a:prstGeom>
          <a:noFill/>
          <a:ln/>
        </p:spPr>
        <p:txBody>
          <a:bodyPr wrap="square" lIns="0" tIns="0" rIns="0" bIns="0" rtlCol="0" anchor="ctr"/>
          <a:lstStyle/>
          <a:p>
            <a:pPr marL="0" indent="0">
              <a:buNone/>
            </a:pPr>
            <a:r>
              <a:rPr lang="en-US" sz="2000" dirty="0">
                <a:solidFill>
                  <a:srgbClr val="C9BBD6"/>
                </a:solidFill>
                <a:latin typeface="Calibri" pitchFamily="34" charset="0"/>
                <a:ea typeface="Calibri" pitchFamily="34" charset="-122"/>
                <a:cs typeface="Calibri" pitchFamily="34" charset="-120"/>
              </a:rPr>
              <a:t>Meera opens a link, submits one selfie, and gets twelve photographs. Here is everything that happened between those two moments.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7F2"/>
        </a:solidFill>
        <a:effectLst/>
      </p:bgPr>
    </p:bg>
    <p:spTree>
      <p:nvGrpSpPr>
        <p:cNvPr id="1" name=""/>
        <p:cNvGrpSpPr/>
        <p:nvPr/>
      </p:nvGrpSpPr>
      <p:grpSpPr>
        <a:xfrm>
          <a:off x="0" y="0"/>
          <a:ext cx="0" cy="0"/>
          <a:chOff x="0" y="0"/>
          <a:chExt cx="0" cy="0"/>
        </a:xfrm>
      </p:grpSpPr>
      <p:pic>
        <p:nvPicPr>
          <p:cNvPr id="2" name="Image 0" descr="s-process-flow.png"/>
          <p:cNvPicPr>
            <a:picLocks noChangeAspect="1"/>
          </p:cNvPicPr>
          <p:nvPr/>
        </p:nvPicPr>
        <p:blipFill>
          <a:blip r:embed="rId3"/>
          <a:stretch>
            <a:fillRect/>
          </a:stretch>
        </p:blipFill>
        <p:spPr>
          <a:xfrm>
            <a:off x="0" y="18288"/>
            <a:ext cx="12188952" cy="68122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94255"/>
            <a:ext cx="10881360" cy="274320"/>
          </a:xfrm>
          <a:prstGeom prst="rect">
            <a:avLst/>
          </a:prstGeom>
          <a:noFill/>
          <a:ln/>
        </p:spPr>
        <p:txBody>
          <a:bodyPr wrap="square" lIns="0" tIns="0" rIns="0" bIns="0" rtlCol="0" anchor="ctr"/>
          <a:lstStyle/>
          <a:p>
            <a:pPr marL="0" indent="0">
              <a:buNone/>
            </a:pPr>
            <a:r>
              <a:rPr lang="en-US" sz="1250" b="1" kern="0" spc="200" dirty="0">
                <a:solidFill>
                  <a:srgbClr val="7A4E8C"/>
                </a:solidFill>
                <a:latin typeface="Calibri" pitchFamily="34" charset="0"/>
                <a:ea typeface="Calibri" pitchFamily="34" charset="-122"/>
                <a:cs typeface="Calibri" pitchFamily="34" charset="-120"/>
              </a:rPr>
              <a:t>THE PART NOBODY EXPECTS</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The machine’s sleep schedule changed the words on the page</a:t>
            </a:r>
            <a:endParaRPr lang="en-US" sz="3200" dirty="0"/>
          </a:p>
        </p:txBody>
      </p:sp>
      <p:sp>
        <p:nvSpPr>
          <p:cNvPr id="4" name="Shape 2"/>
          <p:cNvSpPr/>
          <p:nvPr/>
        </p:nvSpPr>
        <p:spPr>
          <a:xfrm>
            <a:off x="640080" y="1627632"/>
            <a:ext cx="5317236" cy="2468880"/>
          </a:xfrm>
          <a:prstGeom prst="roundRect">
            <a:avLst>
              <a:gd name="adj" fmla="val 5926"/>
            </a:avLst>
          </a:prstGeom>
          <a:solidFill>
            <a:srgbClr val="FFFFFF"/>
          </a:solidFill>
          <a:ln/>
        </p:spPr>
      </p:sp>
      <p:sp>
        <p:nvSpPr>
          <p:cNvPr id="5" name="Shape 3"/>
          <p:cNvSpPr/>
          <p:nvPr/>
        </p:nvSpPr>
        <p:spPr>
          <a:xfrm>
            <a:off x="950976" y="1938528"/>
            <a:ext cx="310896" cy="310896"/>
          </a:xfrm>
          <a:prstGeom prst="ellipse">
            <a:avLst/>
          </a:prstGeom>
          <a:solidFill>
            <a:srgbClr val="2E7D77"/>
          </a:solidFill>
          <a:ln/>
        </p:spPr>
      </p:sp>
      <p:sp>
        <p:nvSpPr>
          <p:cNvPr id="6" name="Text 4"/>
          <p:cNvSpPr/>
          <p:nvPr/>
        </p:nvSpPr>
        <p:spPr>
          <a:xfrm>
            <a:off x="950976" y="2377440"/>
            <a:ext cx="4695444"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When the box is awake and keeping up</a:t>
            </a:r>
            <a:endParaRPr lang="en-US" sz="1900" dirty="0"/>
          </a:p>
        </p:txBody>
      </p:sp>
      <p:sp>
        <p:nvSpPr>
          <p:cNvPr id="7" name="Text 5"/>
          <p:cNvSpPr/>
          <p:nvPr/>
        </p:nvSpPr>
        <p:spPr>
          <a:xfrm>
            <a:off x="950976" y="2953512"/>
            <a:ext cx="4695444" cy="8686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She sees a spinner, “you’re number four in the queue”, and a rough estimate — and it flips to her gallery if it finishes while she is still watching.</a:t>
            </a:r>
            <a:endParaRPr lang="en-US" sz="1500" dirty="0"/>
          </a:p>
        </p:txBody>
      </p:sp>
      <p:sp>
        <p:nvSpPr>
          <p:cNvPr id="8" name="Shape 6"/>
          <p:cNvSpPr/>
          <p:nvPr/>
        </p:nvSpPr>
        <p:spPr>
          <a:xfrm>
            <a:off x="6231636" y="1627632"/>
            <a:ext cx="5317236" cy="2468880"/>
          </a:xfrm>
          <a:prstGeom prst="roundRect">
            <a:avLst>
              <a:gd name="adj" fmla="val 5926"/>
            </a:avLst>
          </a:prstGeom>
          <a:solidFill>
            <a:srgbClr val="FFFFFF"/>
          </a:solidFill>
          <a:ln/>
        </p:spPr>
      </p:sp>
      <p:sp>
        <p:nvSpPr>
          <p:cNvPr id="9" name="Shape 7"/>
          <p:cNvSpPr/>
          <p:nvPr/>
        </p:nvSpPr>
        <p:spPr>
          <a:xfrm>
            <a:off x="6542532" y="1938528"/>
            <a:ext cx="310896" cy="310896"/>
          </a:xfrm>
          <a:prstGeom prst="ellipse">
            <a:avLst/>
          </a:prstGeom>
          <a:solidFill>
            <a:srgbClr val="F2A93B"/>
          </a:solidFill>
          <a:ln/>
        </p:spPr>
      </p:sp>
      <p:sp>
        <p:nvSpPr>
          <p:cNvPr id="10" name="Text 8"/>
          <p:cNvSpPr/>
          <p:nvPr/>
        </p:nvSpPr>
        <p:spPr>
          <a:xfrm>
            <a:off x="6542532" y="2377440"/>
            <a:ext cx="4695444" cy="457200"/>
          </a:xfrm>
          <a:prstGeom prst="rect">
            <a:avLst/>
          </a:prstGeom>
          <a:noFill/>
          <a:ln/>
        </p:spPr>
        <p:txBody>
          <a:bodyPr wrap="square" lIns="0" tIns="0" rIns="0" bIns="0" rtlCol="0" anchor="t"/>
          <a:lstStyle/>
          <a:p>
            <a:pPr marL="0" indent="0">
              <a:buNone/>
            </a:pPr>
            <a:r>
              <a:rPr lang="en-US" sz="1900" b="1" dirty="0">
                <a:solidFill>
                  <a:srgbClr val="2A1B3D"/>
                </a:solidFill>
                <a:latin typeface="Century Schoolbook" pitchFamily="34" charset="0"/>
                <a:ea typeface="Century Schoolbook" pitchFamily="34" charset="-122"/>
                <a:cs typeface="Century Schoolbook" pitchFamily="34" charset="-120"/>
              </a:rPr>
              <a:t>When it is asleep, or badly behind</a:t>
            </a:r>
            <a:endParaRPr lang="en-US" sz="1900" dirty="0"/>
          </a:p>
        </p:txBody>
      </p:sp>
      <p:sp>
        <p:nvSpPr>
          <p:cNvPr id="11" name="Text 9"/>
          <p:cNvSpPr/>
          <p:nvPr/>
        </p:nvSpPr>
        <p:spPr>
          <a:xfrm>
            <a:off x="6542532" y="2953512"/>
            <a:ext cx="4695444" cy="868680"/>
          </a:xfrm>
          <a:prstGeom prst="rect">
            <a:avLst/>
          </a:prstGeom>
          <a:noFill/>
          <a:ln/>
        </p:spPr>
        <p:txBody>
          <a:bodyPr wrap="square" lIns="0" tIns="0" rIns="0" bIns="0" rtlCol="0" anchor="t"/>
          <a:lstStyle/>
          <a:p>
            <a:pPr marL="0" indent="0">
              <a:buNone/>
            </a:pPr>
            <a:r>
              <a:rPr lang="en-US" sz="1500" dirty="0">
                <a:solidFill>
                  <a:srgbClr val="7C6B84"/>
                </a:solidFill>
                <a:latin typeface="Calibri" pitchFamily="34" charset="0"/>
                <a:ea typeface="Calibri" pitchFamily="34" charset="-122"/>
                <a:cs typeface="Calibri" pitchFamily="34" charset="-120"/>
              </a:rPr>
              <a:t>“Thanks — we’ll email you when your photos are ready.” No fake progress bar. No promise we are not in a position to keep.</a:t>
            </a:r>
            <a:endParaRPr lang="en-US" sz="1500" dirty="0"/>
          </a:p>
        </p:txBody>
      </p:sp>
      <p:sp>
        <p:nvSpPr>
          <p:cNvPr id="12" name="Shape 10"/>
          <p:cNvSpPr/>
          <p:nvPr/>
        </p:nvSpPr>
        <p:spPr>
          <a:xfrm>
            <a:off x="641604" y="4407408"/>
            <a:ext cx="10908792" cy="1051560"/>
          </a:xfrm>
          <a:prstGeom prst="roundRect">
            <a:avLst>
              <a:gd name="adj" fmla="val 13913"/>
            </a:avLst>
          </a:prstGeom>
          <a:solidFill>
            <a:srgbClr val="F3EBE2"/>
          </a:solidFill>
          <a:ln/>
        </p:spPr>
      </p:sp>
      <p:sp>
        <p:nvSpPr>
          <p:cNvPr id="13" name="Text 11"/>
          <p:cNvSpPr/>
          <p:nvPr/>
        </p:nvSpPr>
        <p:spPr>
          <a:xfrm>
            <a:off x="970788" y="4407408"/>
            <a:ext cx="10241280" cy="1051560"/>
          </a:xfrm>
          <a:prstGeom prst="rect">
            <a:avLst/>
          </a:prstGeom>
          <a:noFill/>
          <a:ln/>
        </p:spPr>
        <p:txBody>
          <a:bodyPr wrap="square" lIns="0" tIns="0" rIns="0" bIns="0" rtlCol="0" anchor="ctr"/>
          <a:lstStyle/>
          <a:p>
            <a:pPr marL="0" indent="0">
              <a:buNone/>
            </a:pPr>
            <a:r>
              <a:rPr lang="en-US" sz="1550" dirty="0">
                <a:solidFill>
                  <a:srgbClr val="7C6B84"/>
                </a:solidFill>
                <a:latin typeface="Calibri" pitchFamily="34" charset="0"/>
                <a:ea typeface="Calibri" pitchFamily="34" charset="-122"/>
                <a:cs typeface="Calibri" pitchFamily="34" charset="-120"/>
              </a:rPr>
              <a:t>The cutoff is the TOTAL queue depth, not her own queue. Her selfie can be next in line while an import has thousands of faces ahead of it on the same GPU — total depth is the only honest signal for whether an estimate means anything.</a:t>
            </a:r>
            <a:endParaRPr lang="en-US" sz="1550" dirty="0"/>
          </a:p>
        </p:txBody>
      </p:sp>
      <p:sp>
        <p:nvSpPr>
          <p:cNvPr id="14" name="Shape 12"/>
          <p:cNvSpPr/>
          <p:nvPr/>
        </p:nvSpPr>
        <p:spPr>
          <a:xfrm>
            <a:off x="641604" y="5688288"/>
            <a:ext cx="10908792" cy="868680"/>
          </a:xfrm>
          <a:prstGeom prst="roundRect">
            <a:avLst>
              <a:gd name="adj" fmla="val 16842"/>
            </a:avLst>
          </a:prstGeom>
          <a:solidFill>
            <a:srgbClr val="E2574C"/>
          </a:solidFill>
          <a:ln/>
        </p:spPr>
      </p:sp>
      <p:sp>
        <p:nvSpPr>
          <p:cNvPr id="15" name="Text 13"/>
          <p:cNvSpPr/>
          <p:nvPr/>
        </p:nvSpPr>
        <p:spPr>
          <a:xfrm>
            <a:off x="970788" y="5780448"/>
            <a:ext cx="10241280" cy="402336"/>
          </a:xfrm>
          <a:prstGeom prst="rect">
            <a:avLst/>
          </a:prstGeom>
          <a:noFill/>
          <a:ln/>
        </p:spPr>
        <p:txBody>
          <a:bodyPr wrap="square" lIns="0" tIns="0" rIns="0" bIns="0"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Cost was not a setting we bolted on at the end.</a:t>
            </a:r>
            <a:endParaRPr lang="en-US" sz="1900" dirty="0"/>
          </a:p>
        </p:txBody>
      </p:sp>
      <p:sp>
        <p:nvSpPr>
          <p:cNvPr id="16" name="Text 14"/>
          <p:cNvSpPr/>
          <p:nvPr/>
        </p:nvSpPr>
        <p:spPr>
          <a:xfrm>
            <a:off x="970788" y="6158720"/>
            <a:ext cx="10241280" cy="210312"/>
          </a:xfrm>
          <a:prstGeom prst="rect">
            <a:avLst/>
          </a:prstGeom>
          <a:noFill/>
          <a:ln/>
        </p:spPr>
        <p:txBody>
          <a:bodyPr wrap="square" lIns="0" tIns="0" rIns="0" bIns="0" rtlCol="0" anchor="t"/>
          <a:lstStyle/>
          <a:p>
            <a:pPr marL="0" indent="0">
              <a:buNone/>
            </a:pPr>
            <a:r>
              <a:rPr lang="en-US" sz="1500" dirty="0">
                <a:solidFill>
                  <a:srgbClr val="FFE3E0"/>
                </a:solidFill>
                <a:latin typeface="Calibri" pitchFamily="34" charset="0"/>
                <a:ea typeface="Calibri" pitchFamily="34" charset="-122"/>
                <a:cs typeface="Calibri" pitchFamily="34" charset="-120"/>
              </a:rPr>
              <a:t>It changed the queue design, the deployment, and in the end the sentence a stranger reads on her phone.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50" b="1" kern="0" spc="200" dirty="0">
                <a:solidFill>
                  <a:srgbClr val="2E7D77"/>
                </a:solidFill>
                <a:latin typeface="Calibri" pitchFamily="34" charset="0"/>
                <a:ea typeface="Calibri" pitchFamily="34" charset="-122"/>
                <a:cs typeface="Calibri" pitchFamily="34" charset="-120"/>
              </a:rPr>
              <a:t>MEASURED, NOT CLAIMED</a:t>
            </a:r>
            <a:endParaRPr lang="en-US" sz="125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marL="0" indent="0">
              <a:buNone/>
            </a:pPr>
            <a:r>
              <a:rPr lang="en-US" sz="3200" b="1" dirty="0">
                <a:solidFill>
                  <a:srgbClr val="2A1B3D"/>
                </a:solidFill>
                <a:latin typeface="Century Schoolbook" pitchFamily="34" charset="0"/>
                <a:ea typeface="Century Schoolbook" pitchFamily="34" charset="-122"/>
                <a:cs typeface="Century Schoolbook" pitchFamily="34" charset="-120"/>
              </a:rPr>
              <a:t>What we can actually prove</a:t>
            </a:r>
            <a:endParaRPr lang="en-US" sz="3200" dirty="0"/>
          </a:p>
        </p:txBody>
      </p:sp>
      <p:sp>
        <p:nvSpPr>
          <p:cNvPr id="4" name="Shape 2"/>
          <p:cNvSpPr/>
          <p:nvPr/>
        </p:nvSpPr>
        <p:spPr>
          <a:xfrm>
            <a:off x="640080" y="1965960"/>
            <a:ext cx="3392424" cy="1965960"/>
          </a:xfrm>
          <a:prstGeom prst="roundRect">
            <a:avLst>
              <a:gd name="adj" fmla="val 7442"/>
            </a:avLst>
          </a:prstGeom>
          <a:solidFill>
            <a:srgbClr val="FFFFFF"/>
          </a:solidFill>
          <a:ln/>
        </p:spPr>
      </p:sp>
      <p:sp>
        <p:nvSpPr>
          <p:cNvPr id="5" name="Text 3"/>
          <p:cNvSpPr/>
          <p:nvPr/>
        </p:nvSpPr>
        <p:spPr>
          <a:xfrm>
            <a:off x="640080" y="2148840"/>
            <a:ext cx="3392424" cy="868680"/>
          </a:xfrm>
          <a:prstGeom prst="rect">
            <a:avLst/>
          </a:prstGeom>
          <a:noFill/>
          <a:ln/>
        </p:spPr>
        <p:txBody>
          <a:bodyPr wrap="square" lIns="0" tIns="0" rIns="0" bIns="0" rtlCol="0" anchor="ctr"/>
          <a:lstStyle/>
          <a:p>
            <a:pPr marL="0" indent="0" algn="ctr">
              <a:buNone/>
            </a:pPr>
            <a:r>
              <a:rPr lang="en-US" sz="4200" b="1" dirty="0">
                <a:solidFill>
                  <a:srgbClr val="2E7D77"/>
                </a:solidFill>
                <a:latin typeface="Century Schoolbook" pitchFamily="34" charset="0"/>
                <a:ea typeface="Century Schoolbook" pitchFamily="34" charset="-122"/>
                <a:cs typeface="Century Schoolbook" pitchFamily="34" charset="-120"/>
              </a:rPr>
              <a:t>13.7s</a:t>
            </a:r>
            <a:endParaRPr lang="en-US" sz="4200" dirty="0"/>
          </a:p>
        </p:txBody>
      </p:sp>
      <p:sp>
        <p:nvSpPr>
          <p:cNvPr id="6" name="Text 4"/>
          <p:cNvSpPr/>
          <p:nvPr/>
        </p:nvSpPr>
        <p:spPr>
          <a:xfrm>
            <a:off x="932688" y="3063240"/>
            <a:ext cx="2807208" cy="731520"/>
          </a:xfrm>
          <a:prstGeom prst="rect">
            <a:avLst/>
          </a:prstGeom>
          <a:noFill/>
          <a:ln/>
        </p:spPr>
        <p:txBody>
          <a:bodyPr wrap="square" lIns="0" tIns="0" rIns="0" bIns="0" rtlCol="0" anchor="t"/>
          <a:lstStyle/>
          <a:p>
            <a:pPr marL="0" indent="0" algn="ctr">
              <a:buNone/>
            </a:pPr>
            <a:r>
              <a:rPr lang="en-US" sz="1400" dirty="0">
                <a:solidFill>
                  <a:srgbClr val="7C6B84"/>
                </a:solidFill>
                <a:latin typeface="Calibri" pitchFamily="34" charset="0"/>
                <a:ea typeface="Calibri" pitchFamily="34" charset="-122"/>
                <a:cs typeface="Calibri" pitchFamily="34" charset="-120"/>
              </a:rPr>
              <a:t>to rematch 10,000 faces across 500 participants</a:t>
            </a:r>
            <a:endParaRPr lang="en-US" sz="1400" dirty="0"/>
          </a:p>
        </p:txBody>
      </p:sp>
      <p:sp>
        <p:nvSpPr>
          <p:cNvPr id="7" name="Shape 5"/>
          <p:cNvSpPr/>
          <p:nvPr/>
        </p:nvSpPr>
        <p:spPr>
          <a:xfrm>
            <a:off x="4398264" y="1965960"/>
            <a:ext cx="3392424" cy="1965960"/>
          </a:xfrm>
          <a:prstGeom prst="roundRect">
            <a:avLst>
              <a:gd name="adj" fmla="val 7442"/>
            </a:avLst>
          </a:prstGeom>
          <a:solidFill>
            <a:srgbClr val="FFFFFF"/>
          </a:solidFill>
          <a:ln/>
        </p:spPr>
      </p:sp>
      <p:sp>
        <p:nvSpPr>
          <p:cNvPr id="8" name="Text 6"/>
          <p:cNvSpPr/>
          <p:nvPr/>
        </p:nvSpPr>
        <p:spPr>
          <a:xfrm>
            <a:off x="4398264" y="2148840"/>
            <a:ext cx="3392424" cy="868680"/>
          </a:xfrm>
          <a:prstGeom prst="rect">
            <a:avLst/>
          </a:prstGeom>
          <a:noFill/>
          <a:ln/>
        </p:spPr>
        <p:txBody>
          <a:bodyPr wrap="square" lIns="0" tIns="0" rIns="0" bIns="0" rtlCol="0" anchor="ctr"/>
          <a:lstStyle/>
          <a:p>
            <a:pPr marL="0" indent="0" algn="ctr">
              <a:buNone/>
            </a:pPr>
            <a:r>
              <a:rPr lang="en-US" sz="4200" b="1" dirty="0">
                <a:solidFill>
                  <a:srgbClr val="2E7D77"/>
                </a:solidFill>
                <a:latin typeface="Century Schoolbook" pitchFamily="34" charset="0"/>
                <a:ea typeface="Century Schoolbook" pitchFamily="34" charset="-122"/>
                <a:cs typeface="Century Schoolbook" pitchFamily="34" charset="-120"/>
              </a:rPr>
              <a:t>zero</a:t>
            </a:r>
            <a:endParaRPr lang="en-US" sz="4200" dirty="0"/>
          </a:p>
        </p:txBody>
      </p:sp>
      <p:sp>
        <p:nvSpPr>
          <p:cNvPr id="9" name="Text 7"/>
          <p:cNvSpPr/>
          <p:nvPr/>
        </p:nvSpPr>
        <p:spPr>
          <a:xfrm>
            <a:off x="4690872" y="3063240"/>
            <a:ext cx="2807208" cy="731520"/>
          </a:xfrm>
          <a:prstGeom prst="rect">
            <a:avLst/>
          </a:prstGeom>
          <a:noFill/>
          <a:ln/>
        </p:spPr>
        <p:txBody>
          <a:bodyPr wrap="square" lIns="0" tIns="0" rIns="0" bIns="0" rtlCol="0" anchor="t"/>
          <a:lstStyle/>
          <a:p>
            <a:pPr marL="0" indent="0" algn="ctr">
              <a:buNone/>
            </a:pPr>
            <a:r>
              <a:rPr lang="en-US" sz="1400" dirty="0">
                <a:solidFill>
                  <a:srgbClr val="7C6B84"/>
                </a:solidFill>
                <a:latin typeface="Calibri" pitchFamily="34" charset="0"/>
                <a:ea typeface="Calibri" pitchFamily="34" charset="-122"/>
                <a:cs typeface="Calibri" pitchFamily="34" charset="-120"/>
              </a:rPr>
              <a:t>duplicate people, zero cross-identity matches</a:t>
            </a:r>
            <a:endParaRPr lang="en-US" sz="1400" dirty="0"/>
          </a:p>
        </p:txBody>
      </p:sp>
      <p:sp>
        <p:nvSpPr>
          <p:cNvPr id="10" name="Shape 8"/>
          <p:cNvSpPr/>
          <p:nvPr/>
        </p:nvSpPr>
        <p:spPr>
          <a:xfrm>
            <a:off x="8156448" y="1965960"/>
            <a:ext cx="3392424" cy="1965960"/>
          </a:xfrm>
          <a:prstGeom prst="roundRect">
            <a:avLst>
              <a:gd name="adj" fmla="val 7442"/>
            </a:avLst>
          </a:prstGeom>
          <a:solidFill>
            <a:srgbClr val="FFFFFF"/>
          </a:solidFill>
          <a:ln/>
        </p:spPr>
      </p:sp>
      <p:sp>
        <p:nvSpPr>
          <p:cNvPr id="11" name="Text 9"/>
          <p:cNvSpPr/>
          <p:nvPr/>
        </p:nvSpPr>
        <p:spPr>
          <a:xfrm>
            <a:off x="8156448" y="2148840"/>
            <a:ext cx="3392424" cy="868680"/>
          </a:xfrm>
          <a:prstGeom prst="rect">
            <a:avLst/>
          </a:prstGeom>
          <a:noFill/>
          <a:ln/>
        </p:spPr>
        <p:txBody>
          <a:bodyPr wrap="square" lIns="0" tIns="0" rIns="0" bIns="0" rtlCol="0" anchor="ctr"/>
          <a:lstStyle/>
          <a:p>
            <a:pPr marL="0" indent="0" algn="ctr">
              <a:buNone/>
            </a:pPr>
            <a:r>
              <a:rPr lang="en-US" sz="4200" b="1" dirty="0">
                <a:solidFill>
                  <a:srgbClr val="7A4E8C"/>
                </a:solidFill>
                <a:latin typeface="Century Schoolbook" pitchFamily="34" charset="0"/>
                <a:ea typeface="Century Schoolbook" pitchFamily="34" charset="-122"/>
                <a:cs typeface="Century Schoolbook" pitchFamily="34" charset="-120"/>
              </a:rPr>
              <a:t>79 / 11</a:t>
            </a:r>
            <a:endParaRPr lang="en-US" sz="4200" dirty="0"/>
          </a:p>
        </p:txBody>
      </p:sp>
      <p:sp>
        <p:nvSpPr>
          <p:cNvPr id="12" name="Text 10"/>
          <p:cNvSpPr/>
          <p:nvPr/>
        </p:nvSpPr>
        <p:spPr>
          <a:xfrm>
            <a:off x="8449056" y="3063240"/>
            <a:ext cx="2807208" cy="731520"/>
          </a:xfrm>
          <a:prstGeom prst="rect">
            <a:avLst/>
          </a:prstGeom>
          <a:noFill/>
          <a:ln/>
        </p:spPr>
        <p:txBody>
          <a:bodyPr wrap="square" lIns="0" tIns="0" rIns="0" bIns="0" rtlCol="0" anchor="t"/>
          <a:lstStyle/>
          <a:p>
            <a:pPr marL="0" indent="0" algn="ctr">
              <a:buNone/>
            </a:pPr>
            <a:r>
              <a:rPr lang="en-US" sz="1400" dirty="0">
                <a:solidFill>
                  <a:srgbClr val="7C6B84"/>
                </a:solidFill>
                <a:latin typeface="Calibri" pitchFamily="34" charset="0"/>
                <a:ea typeface="Calibri" pitchFamily="34" charset="-122"/>
                <a:cs typeface="Calibri" pitchFamily="34" charset="-120"/>
              </a:rPr>
              <a:t>faces found, and sensible clusters, on real photos</a:t>
            </a:r>
            <a:endParaRPr lang="en-US" sz="1400" dirty="0"/>
          </a:p>
        </p:txBody>
      </p:sp>
      <p:sp>
        <p:nvSpPr>
          <p:cNvPr id="13" name="Shape 11"/>
          <p:cNvSpPr/>
          <p:nvPr/>
        </p:nvSpPr>
        <p:spPr>
          <a:xfrm>
            <a:off x="640080" y="4206240"/>
            <a:ext cx="5321808" cy="1779471"/>
          </a:xfrm>
          <a:prstGeom prst="roundRect">
            <a:avLst>
              <a:gd name="adj" fmla="val 6667"/>
            </a:avLst>
          </a:prstGeom>
          <a:solidFill>
            <a:srgbClr val="FFFFFF"/>
          </a:solidFill>
          <a:ln/>
        </p:spPr>
      </p:sp>
      <p:sp>
        <p:nvSpPr>
          <p:cNvPr id="14" name="Shape 12"/>
          <p:cNvSpPr/>
          <p:nvPr/>
        </p:nvSpPr>
        <p:spPr>
          <a:xfrm>
            <a:off x="950976" y="4462272"/>
            <a:ext cx="256032" cy="256032"/>
          </a:xfrm>
          <a:prstGeom prst="ellipse">
            <a:avLst/>
          </a:prstGeom>
          <a:solidFill>
            <a:srgbClr val="F2A93B"/>
          </a:solidFill>
          <a:ln/>
        </p:spPr>
      </p:sp>
      <p:sp>
        <p:nvSpPr>
          <p:cNvPr id="15" name="Text 13"/>
          <p:cNvSpPr/>
          <p:nvPr/>
        </p:nvSpPr>
        <p:spPr>
          <a:xfrm>
            <a:off x="1316736" y="4407408"/>
            <a:ext cx="4389120" cy="365760"/>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And the machine?</a:t>
            </a:r>
            <a:endParaRPr lang="en-US" sz="1700" dirty="0"/>
          </a:p>
        </p:txBody>
      </p:sp>
      <p:sp>
        <p:nvSpPr>
          <p:cNvPr id="16" name="Text 14"/>
          <p:cNvSpPr/>
          <p:nvPr/>
        </p:nvSpPr>
        <p:spPr>
          <a:xfrm>
            <a:off x="950976" y="4892040"/>
            <a:ext cx="4700016" cy="137160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Awake during the bursts, asleep the rest of the time — with what we believe shown on the panel next to what the provider actually reports. The two disagreeing is the expensive case, so it should be visible, not discovered on an invoice.</a:t>
            </a:r>
            <a:endParaRPr lang="en-US" sz="1350" dirty="0"/>
          </a:p>
        </p:txBody>
      </p:sp>
      <p:sp>
        <p:nvSpPr>
          <p:cNvPr id="17" name="Shape 15"/>
          <p:cNvSpPr/>
          <p:nvPr/>
        </p:nvSpPr>
        <p:spPr>
          <a:xfrm>
            <a:off x="6227064" y="4206240"/>
            <a:ext cx="5321808" cy="1779471"/>
          </a:xfrm>
          <a:prstGeom prst="roundRect">
            <a:avLst>
              <a:gd name="adj" fmla="val 6667"/>
            </a:avLst>
          </a:prstGeom>
          <a:solidFill>
            <a:srgbClr val="FFFFFF"/>
          </a:solidFill>
          <a:ln/>
        </p:spPr>
      </p:sp>
      <p:sp>
        <p:nvSpPr>
          <p:cNvPr id="18" name="Shape 16"/>
          <p:cNvSpPr/>
          <p:nvPr/>
        </p:nvSpPr>
        <p:spPr>
          <a:xfrm>
            <a:off x="6537960" y="4462272"/>
            <a:ext cx="256032" cy="256032"/>
          </a:xfrm>
          <a:prstGeom prst="ellipse">
            <a:avLst/>
          </a:prstGeom>
          <a:solidFill>
            <a:srgbClr val="E2574C"/>
          </a:solidFill>
          <a:ln/>
        </p:spPr>
      </p:sp>
      <p:sp>
        <p:nvSpPr>
          <p:cNvPr id="19" name="Text 17"/>
          <p:cNvSpPr/>
          <p:nvPr/>
        </p:nvSpPr>
        <p:spPr>
          <a:xfrm>
            <a:off x="6903720" y="4407408"/>
            <a:ext cx="4389120" cy="365760"/>
          </a:xfrm>
          <a:prstGeom prst="rect">
            <a:avLst/>
          </a:prstGeom>
          <a:noFill/>
          <a:ln/>
        </p:spPr>
        <p:txBody>
          <a:bodyPr wrap="square" lIns="0" tIns="0" rIns="0" bIns="0" rtlCol="0" anchor="ctr"/>
          <a:lstStyle/>
          <a:p>
            <a:pPr marL="0" indent="0">
              <a:buNone/>
            </a:pPr>
            <a:r>
              <a:rPr lang="en-US" sz="1700" b="1" dirty="0">
                <a:solidFill>
                  <a:srgbClr val="2A1B3D"/>
                </a:solidFill>
                <a:latin typeface="Century Schoolbook" pitchFamily="34" charset="0"/>
                <a:ea typeface="Century Schoolbook" pitchFamily="34" charset="-122"/>
                <a:cs typeface="Century Schoolbook" pitchFamily="34" charset="-120"/>
              </a:rPr>
              <a:t>What is honestly not finished</a:t>
            </a:r>
            <a:endParaRPr lang="en-US" sz="1700" dirty="0"/>
          </a:p>
        </p:txBody>
      </p:sp>
      <p:sp>
        <p:nvSpPr>
          <p:cNvPr id="20" name="Text 18"/>
          <p:cNvSpPr/>
          <p:nvPr/>
        </p:nvSpPr>
        <p:spPr>
          <a:xfrm>
            <a:off x="6537960" y="4892040"/>
            <a:ext cx="4700016" cy="1371600"/>
          </a:xfrm>
          <a:prstGeom prst="rect">
            <a:avLst/>
          </a:prstGeom>
          <a:noFill/>
          <a:ln/>
        </p:spPr>
        <p:txBody>
          <a:bodyPr wrap="square" lIns="0" tIns="0" rIns="0" bIns="0" rtlCol="0" anchor="t"/>
          <a:lstStyle/>
          <a:p>
            <a:pPr marL="0" indent="0">
              <a:buNone/>
            </a:pPr>
            <a:r>
              <a:rPr lang="en-US" sz="1350" dirty="0">
                <a:solidFill>
                  <a:srgbClr val="7C6B84"/>
                </a:solidFill>
                <a:latin typeface="Calibri" pitchFamily="34" charset="0"/>
                <a:ea typeface="Calibri" pitchFamily="34" charset="-122"/>
                <a:cs typeface="Calibri" pitchFamily="34" charset="-120"/>
              </a:rPr>
              <a:t>Live OAuth for the cloud imports is unverified. The two-machine deployment has only ever run in compose, never on real VMs. UI testing is still API-level only.</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WHAT TO TAKE HOME</a:t>
            </a:r>
            <a:endParaRPr lang="en-US" sz="1250" dirty="0"/>
          </a:p>
        </p:txBody>
      </p:sp>
      <p:sp>
        <p:nvSpPr>
          <p:cNvPr id="3" name="Text 1"/>
          <p:cNvSpPr/>
          <p:nvPr/>
        </p:nvSpPr>
        <p:spPr>
          <a:xfrm>
            <a:off x="640080" y="868680"/>
            <a:ext cx="10881360" cy="731520"/>
          </a:xfrm>
          <a:prstGeom prst="rect">
            <a:avLst/>
          </a:prstGeom>
          <a:noFill/>
          <a:ln/>
        </p:spPr>
        <p:txBody>
          <a:bodyPr wrap="square" lIns="0" tIns="0" rIns="0" bIns="0" rtlCol="0" anchor="ctr"/>
          <a:lstStyle/>
          <a:p>
            <a:pPr marL="0" indent="0">
              <a:buNone/>
            </a:pPr>
            <a:r>
              <a:rPr lang="en-US" sz="3400" b="1" dirty="0">
                <a:solidFill>
                  <a:srgbClr val="FFFFFF"/>
                </a:solidFill>
                <a:latin typeface="Century Schoolbook" pitchFamily="34" charset="0"/>
                <a:ea typeface="Century Schoolbook" pitchFamily="34" charset="-122"/>
                <a:cs typeface="Century Schoolbook" pitchFamily="34" charset="-120"/>
              </a:rPr>
              <a:t>Six rules that outlive this project</a:t>
            </a:r>
            <a:endParaRPr lang="en-US" sz="3400" dirty="0"/>
          </a:p>
        </p:txBody>
      </p:sp>
      <p:sp>
        <p:nvSpPr>
          <p:cNvPr id="4" name="Shape 2"/>
          <p:cNvSpPr/>
          <p:nvPr/>
        </p:nvSpPr>
        <p:spPr>
          <a:xfrm>
            <a:off x="640080" y="1686826"/>
            <a:ext cx="10908792" cy="658368"/>
          </a:xfrm>
          <a:prstGeom prst="roundRect">
            <a:avLst>
              <a:gd name="adj" fmla="val 16667"/>
            </a:avLst>
          </a:prstGeom>
          <a:solidFill>
            <a:srgbClr val="3D2B54"/>
          </a:solidFill>
          <a:ln/>
        </p:spPr>
      </p:sp>
      <p:sp>
        <p:nvSpPr>
          <p:cNvPr id="5" name="Shape 3"/>
          <p:cNvSpPr/>
          <p:nvPr/>
        </p:nvSpPr>
        <p:spPr>
          <a:xfrm>
            <a:off x="932688" y="1915426"/>
            <a:ext cx="201168" cy="201168"/>
          </a:xfrm>
          <a:prstGeom prst="ellipse">
            <a:avLst/>
          </a:prstGeom>
          <a:solidFill>
            <a:srgbClr val="E2574C"/>
          </a:solidFill>
          <a:ln/>
        </p:spPr>
      </p:sp>
      <p:sp>
        <p:nvSpPr>
          <p:cNvPr id="6" name="Text 4"/>
          <p:cNvSpPr/>
          <p:nvPr/>
        </p:nvSpPr>
        <p:spPr>
          <a:xfrm>
            <a:off x="1316736" y="1686826"/>
            <a:ext cx="5029200" cy="658368"/>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itchFamily="34" charset="0"/>
                <a:ea typeface="Century Schoolbook" pitchFamily="34" charset="-122"/>
                <a:cs typeface="Century Schoolbook" pitchFamily="34" charset="-120"/>
              </a:rPr>
              <a:t>Use the pretrained model.</a:t>
            </a:r>
            <a:endParaRPr lang="en-US" sz="1600" dirty="0"/>
          </a:p>
        </p:txBody>
      </p:sp>
      <p:sp>
        <p:nvSpPr>
          <p:cNvPr id="7" name="Text 5"/>
          <p:cNvSpPr/>
          <p:nvPr/>
        </p:nvSpPr>
        <p:spPr>
          <a:xfrm>
            <a:off x="6400800" y="1686826"/>
            <a:ext cx="4937760" cy="658368"/>
          </a:xfrm>
          <a:prstGeom prst="rect">
            <a:avLst/>
          </a:prstGeom>
          <a:noFill/>
          <a:ln/>
        </p:spPr>
        <p:txBody>
          <a:bodyPr wrap="square" lIns="0" tIns="0" rIns="0" bIns="0" rtlCol="0" anchor="ctr"/>
          <a:lstStyle/>
          <a:p>
            <a:pPr marL="0" indent="0">
              <a:buNone/>
            </a:pPr>
            <a:r>
              <a:rPr lang="en-US" sz="1400" dirty="0">
                <a:solidFill>
                  <a:srgbClr val="C9BBD6"/>
                </a:solidFill>
                <a:latin typeface="Calibri" pitchFamily="34" charset="0"/>
                <a:ea typeface="Calibri" pitchFamily="34" charset="-122"/>
                <a:cs typeface="Calibri" pitchFamily="34" charset="-120"/>
              </a:rPr>
              <a:t>The interesting engineering is almost never inside it.</a:t>
            </a:r>
            <a:endParaRPr lang="en-US" sz="1400" dirty="0"/>
          </a:p>
        </p:txBody>
      </p:sp>
      <p:sp>
        <p:nvSpPr>
          <p:cNvPr id="8" name="Shape 6"/>
          <p:cNvSpPr/>
          <p:nvPr/>
        </p:nvSpPr>
        <p:spPr>
          <a:xfrm>
            <a:off x="640080" y="2454922"/>
            <a:ext cx="10908792" cy="658368"/>
          </a:xfrm>
          <a:prstGeom prst="roundRect">
            <a:avLst>
              <a:gd name="adj" fmla="val 16667"/>
            </a:avLst>
          </a:prstGeom>
          <a:solidFill>
            <a:srgbClr val="3D2B54"/>
          </a:solidFill>
          <a:ln/>
        </p:spPr>
      </p:sp>
      <p:sp>
        <p:nvSpPr>
          <p:cNvPr id="9" name="Shape 7"/>
          <p:cNvSpPr/>
          <p:nvPr/>
        </p:nvSpPr>
        <p:spPr>
          <a:xfrm>
            <a:off x="932688" y="2683522"/>
            <a:ext cx="201168" cy="201168"/>
          </a:xfrm>
          <a:prstGeom prst="ellipse">
            <a:avLst/>
          </a:prstGeom>
          <a:solidFill>
            <a:srgbClr val="F2A93B"/>
          </a:solidFill>
          <a:ln/>
        </p:spPr>
      </p:sp>
      <p:sp>
        <p:nvSpPr>
          <p:cNvPr id="10" name="Text 8"/>
          <p:cNvSpPr/>
          <p:nvPr/>
        </p:nvSpPr>
        <p:spPr>
          <a:xfrm>
            <a:off x="1316736" y="2454922"/>
            <a:ext cx="5029200" cy="658368"/>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itchFamily="34" charset="0"/>
                <a:ea typeface="Century Schoolbook" pitchFamily="34" charset="-122"/>
                <a:cs typeface="Century Schoolbook" pitchFamily="34" charset="-120"/>
              </a:rPr>
              <a:t>Remove variation before the model.</a:t>
            </a:r>
            <a:endParaRPr lang="en-US" sz="1600" dirty="0"/>
          </a:p>
        </p:txBody>
      </p:sp>
      <p:sp>
        <p:nvSpPr>
          <p:cNvPr id="11" name="Text 9"/>
          <p:cNvSpPr/>
          <p:nvPr/>
        </p:nvSpPr>
        <p:spPr>
          <a:xfrm>
            <a:off x="6400800" y="2454922"/>
            <a:ext cx="4937760" cy="658368"/>
          </a:xfrm>
          <a:prstGeom prst="rect">
            <a:avLst/>
          </a:prstGeom>
          <a:noFill/>
          <a:ln/>
        </p:spPr>
        <p:txBody>
          <a:bodyPr wrap="square" lIns="0" tIns="0" rIns="0" bIns="0" rtlCol="0" anchor="ctr"/>
          <a:lstStyle/>
          <a:p>
            <a:pPr marL="0" indent="0">
              <a:buNone/>
            </a:pPr>
            <a:r>
              <a:rPr lang="en-US" sz="1400" dirty="0">
                <a:solidFill>
                  <a:srgbClr val="C9BBD6"/>
                </a:solidFill>
                <a:latin typeface="Calibri" pitchFamily="34" charset="0"/>
                <a:ea typeface="Calibri" pitchFamily="34" charset="-122"/>
                <a:cs typeface="Calibri" pitchFamily="34" charset="-120"/>
              </a:rPr>
              <a:t>Alignment buys back capacity you would otherwise waste on pose.</a:t>
            </a:r>
            <a:endParaRPr lang="en-US" sz="1400" dirty="0"/>
          </a:p>
        </p:txBody>
      </p:sp>
      <p:sp>
        <p:nvSpPr>
          <p:cNvPr id="12" name="Shape 10"/>
          <p:cNvSpPr/>
          <p:nvPr/>
        </p:nvSpPr>
        <p:spPr>
          <a:xfrm>
            <a:off x="640080" y="3223018"/>
            <a:ext cx="10908792" cy="658368"/>
          </a:xfrm>
          <a:prstGeom prst="roundRect">
            <a:avLst>
              <a:gd name="adj" fmla="val 16667"/>
            </a:avLst>
          </a:prstGeom>
          <a:solidFill>
            <a:srgbClr val="3D2B54"/>
          </a:solidFill>
          <a:ln/>
        </p:spPr>
      </p:sp>
      <p:sp>
        <p:nvSpPr>
          <p:cNvPr id="13" name="Shape 11"/>
          <p:cNvSpPr/>
          <p:nvPr/>
        </p:nvSpPr>
        <p:spPr>
          <a:xfrm>
            <a:off x="932688" y="3451618"/>
            <a:ext cx="201168" cy="201168"/>
          </a:xfrm>
          <a:prstGeom prst="ellipse">
            <a:avLst/>
          </a:prstGeom>
          <a:solidFill>
            <a:srgbClr val="2E7D77"/>
          </a:solidFill>
          <a:ln/>
        </p:spPr>
      </p:sp>
      <p:sp>
        <p:nvSpPr>
          <p:cNvPr id="14" name="Text 12"/>
          <p:cNvSpPr/>
          <p:nvPr/>
        </p:nvSpPr>
        <p:spPr>
          <a:xfrm>
            <a:off x="1316736" y="3223018"/>
            <a:ext cx="5029200" cy="658368"/>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itchFamily="34" charset="0"/>
                <a:ea typeface="Century Schoolbook" pitchFamily="34" charset="-122"/>
                <a:cs typeface="Century Schoolbook" pitchFamily="34" charset="-120"/>
              </a:rPr>
              <a:t>Let the cheaper failure set your default.</a:t>
            </a:r>
            <a:endParaRPr lang="en-US" sz="1600" dirty="0"/>
          </a:p>
        </p:txBody>
      </p:sp>
      <p:sp>
        <p:nvSpPr>
          <p:cNvPr id="15" name="Text 13"/>
          <p:cNvSpPr/>
          <p:nvPr/>
        </p:nvSpPr>
        <p:spPr>
          <a:xfrm>
            <a:off x="6400800" y="3223018"/>
            <a:ext cx="4937760" cy="658368"/>
          </a:xfrm>
          <a:prstGeom prst="rect">
            <a:avLst/>
          </a:prstGeom>
          <a:noFill/>
          <a:ln/>
        </p:spPr>
        <p:txBody>
          <a:bodyPr wrap="square" lIns="0" tIns="0" rIns="0" bIns="0" rtlCol="0" anchor="ctr"/>
          <a:lstStyle/>
          <a:p>
            <a:pPr marL="0" indent="0">
              <a:buNone/>
            </a:pPr>
            <a:r>
              <a:rPr lang="en-US" sz="1400" dirty="0">
                <a:solidFill>
                  <a:srgbClr val="C9BBD6"/>
                </a:solidFill>
                <a:latin typeface="Calibri" pitchFamily="34" charset="0"/>
                <a:ea typeface="Calibri" pitchFamily="34" charset="-122"/>
                <a:cs typeface="Calibri" pitchFamily="34" charset="-120"/>
              </a:rPr>
              <a:t>Splitting a person is annoying. Merging two is a privacy incident.</a:t>
            </a:r>
            <a:endParaRPr lang="en-US" sz="1400" dirty="0"/>
          </a:p>
        </p:txBody>
      </p:sp>
      <p:sp>
        <p:nvSpPr>
          <p:cNvPr id="16" name="Shape 14"/>
          <p:cNvSpPr/>
          <p:nvPr/>
        </p:nvSpPr>
        <p:spPr>
          <a:xfrm>
            <a:off x="640080" y="3991114"/>
            <a:ext cx="10908792" cy="658368"/>
          </a:xfrm>
          <a:prstGeom prst="roundRect">
            <a:avLst>
              <a:gd name="adj" fmla="val 16667"/>
            </a:avLst>
          </a:prstGeom>
          <a:solidFill>
            <a:srgbClr val="3D2B54"/>
          </a:solidFill>
          <a:ln/>
        </p:spPr>
      </p:sp>
      <p:sp>
        <p:nvSpPr>
          <p:cNvPr id="17" name="Shape 15"/>
          <p:cNvSpPr/>
          <p:nvPr/>
        </p:nvSpPr>
        <p:spPr>
          <a:xfrm>
            <a:off x="932688" y="4219714"/>
            <a:ext cx="201168" cy="201168"/>
          </a:xfrm>
          <a:prstGeom prst="ellipse">
            <a:avLst/>
          </a:prstGeom>
          <a:solidFill>
            <a:srgbClr val="7A4E8C"/>
          </a:solidFill>
          <a:ln/>
        </p:spPr>
      </p:sp>
      <p:sp>
        <p:nvSpPr>
          <p:cNvPr id="18" name="Text 16"/>
          <p:cNvSpPr/>
          <p:nvPr/>
        </p:nvSpPr>
        <p:spPr>
          <a:xfrm>
            <a:off x="1316736" y="3991114"/>
            <a:ext cx="5029200" cy="658368"/>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itchFamily="34" charset="0"/>
                <a:ea typeface="Century Schoolbook" pitchFamily="34" charset="-122"/>
                <a:cs typeface="Century Schoolbook" pitchFamily="34" charset="-120"/>
              </a:rPr>
              <a:t>Queues are what let you turn expensive things off.</a:t>
            </a:r>
            <a:endParaRPr lang="en-US" sz="1600" dirty="0"/>
          </a:p>
        </p:txBody>
      </p:sp>
      <p:sp>
        <p:nvSpPr>
          <p:cNvPr id="19" name="Text 17"/>
          <p:cNvSpPr/>
          <p:nvPr/>
        </p:nvSpPr>
        <p:spPr>
          <a:xfrm>
            <a:off x="6400800" y="3991114"/>
            <a:ext cx="4937760" cy="658368"/>
          </a:xfrm>
          <a:prstGeom prst="rect">
            <a:avLst/>
          </a:prstGeom>
          <a:noFill/>
          <a:ln/>
        </p:spPr>
        <p:txBody>
          <a:bodyPr wrap="square" lIns="0" tIns="0" rIns="0" bIns="0" rtlCol="0" anchor="ctr"/>
          <a:lstStyle/>
          <a:p>
            <a:pPr marL="0" indent="0">
              <a:buNone/>
            </a:pPr>
            <a:r>
              <a:rPr lang="en-US" sz="1400" dirty="0">
                <a:solidFill>
                  <a:srgbClr val="C9BBD6"/>
                </a:solidFill>
                <a:latin typeface="Calibri" pitchFamily="34" charset="0"/>
                <a:ea typeface="Calibri" pitchFamily="34" charset="-122"/>
                <a:cs typeface="Calibri" pitchFamily="34" charset="-120"/>
              </a:rPr>
              <a:t>Decoupling is a cost strategy, not just an architecture diagram.</a:t>
            </a:r>
            <a:endParaRPr lang="en-US" sz="1400" dirty="0"/>
          </a:p>
        </p:txBody>
      </p:sp>
      <p:sp>
        <p:nvSpPr>
          <p:cNvPr id="20" name="Shape 18"/>
          <p:cNvSpPr/>
          <p:nvPr/>
        </p:nvSpPr>
        <p:spPr>
          <a:xfrm>
            <a:off x="640080" y="4759210"/>
            <a:ext cx="10908792" cy="658368"/>
          </a:xfrm>
          <a:prstGeom prst="roundRect">
            <a:avLst>
              <a:gd name="adj" fmla="val 16667"/>
            </a:avLst>
          </a:prstGeom>
          <a:solidFill>
            <a:srgbClr val="3D2B54"/>
          </a:solidFill>
          <a:ln/>
        </p:spPr>
      </p:sp>
      <p:sp>
        <p:nvSpPr>
          <p:cNvPr id="21" name="Shape 19"/>
          <p:cNvSpPr/>
          <p:nvPr/>
        </p:nvSpPr>
        <p:spPr>
          <a:xfrm>
            <a:off x="932688" y="4987810"/>
            <a:ext cx="201168" cy="201168"/>
          </a:xfrm>
          <a:prstGeom prst="ellipse">
            <a:avLst/>
          </a:prstGeom>
          <a:solidFill>
            <a:srgbClr val="E2574C"/>
          </a:solidFill>
          <a:ln/>
        </p:spPr>
      </p:sp>
      <p:sp>
        <p:nvSpPr>
          <p:cNvPr id="22" name="Text 20"/>
          <p:cNvSpPr/>
          <p:nvPr/>
        </p:nvSpPr>
        <p:spPr>
          <a:xfrm>
            <a:off x="1316736" y="4759210"/>
            <a:ext cx="5029200" cy="658368"/>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itchFamily="34" charset="0"/>
                <a:ea typeface="Century Schoolbook" pitchFamily="34" charset="-122"/>
                <a:cs typeface="Century Schoolbook" pitchFamily="34" charset="-120"/>
              </a:rPr>
              <a:t>Make the expensive thing fail closed.</a:t>
            </a:r>
            <a:endParaRPr lang="en-US" sz="1600" dirty="0"/>
          </a:p>
        </p:txBody>
      </p:sp>
      <p:sp>
        <p:nvSpPr>
          <p:cNvPr id="23" name="Text 21"/>
          <p:cNvSpPr/>
          <p:nvPr/>
        </p:nvSpPr>
        <p:spPr>
          <a:xfrm>
            <a:off x="6400800" y="4759210"/>
            <a:ext cx="4937760" cy="658368"/>
          </a:xfrm>
          <a:prstGeom prst="rect">
            <a:avLst/>
          </a:prstGeom>
          <a:noFill/>
          <a:ln/>
        </p:spPr>
        <p:txBody>
          <a:bodyPr wrap="square" lIns="0" tIns="0" rIns="0" bIns="0" rtlCol="0" anchor="ctr"/>
          <a:lstStyle/>
          <a:p>
            <a:pPr marL="0" indent="0">
              <a:buNone/>
            </a:pPr>
            <a:r>
              <a:rPr lang="en-US" sz="1400" dirty="0">
                <a:solidFill>
                  <a:srgbClr val="C9BBD6"/>
                </a:solidFill>
                <a:latin typeface="Calibri" pitchFamily="34" charset="0"/>
                <a:ea typeface="Calibri" pitchFamily="34" charset="-122"/>
                <a:cs typeface="Calibri" pitchFamily="34" charset="-120"/>
              </a:rPr>
              <a:t>Give it the power to kill itself rather than trusting you to remember.</a:t>
            </a:r>
            <a:endParaRPr lang="en-US" sz="1400" dirty="0"/>
          </a:p>
        </p:txBody>
      </p:sp>
      <p:sp>
        <p:nvSpPr>
          <p:cNvPr id="24" name="Shape 22"/>
          <p:cNvSpPr/>
          <p:nvPr/>
        </p:nvSpPr>
        <p:spPr>
          <a:xfrm>
            <a:off x="640080" y="5527306"/>
            <a:ext cx="10908792" cy="658368"/>
          </a:xfrm>
          <a:prstGeom prst="roundRect">
            <a:avLst>
              <a:gd name="adj" fmla="val 16667"/>
            </a:avLst>
          </a:prstGeom>
          <a:solidFill>
            <a:srgbClr val="3D2B54"/>
          </a:solidFill>
          <a:ln/>
        </p:spPr>
      </p:sp>
      <p:sp>
        <p:nvSpPr>
          <p:cNvPr id="25" name="Shape 23"/>
          <p:cNvSpPr/>
          <p:nvPr/>
        </p:nvSpPr>
        <p:spPr>
          <a:xfrm>
            <a:off x="932688" y="5755906"/>
            <a:ext cx="201168" cy="201168"/>
          </a:xfrm>
          <a:prstGeom prst="ellipse">
            <a:avLst/>
          </a:prstGeom>
          <a:solidFill>
            <a:srgbClr val="F2A93B"/>
          </a:solidFill>
          <a:ln/>
        </p:spPr>
      </p:sp>
      <p:sp>
        <p:nvSpPr>
          <p:cNvPr id="26" name="Text 24"/>
          <p:cNvSpPr/>
          <p:nvPr/>
        </p:nvSpPr>
        <p:spPr>
          <a:xfrm>
            <a:off x="1316736" y="5527306"/>
            <a:ext cx="5029200" cy="658368"/>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itchFamily="34" charset="0"/>
                <a:ea typeface="Century Schoolbook" pitchFamily="34" charset="-122"/>
                <a:cs typeface="Century Schoolbook" pitchFamily="34" charset="-120"/>
              </a:rPr>
              <a:t>Privacy rules belong in tests, not comments.</a:t>
            </a:r>
            <a:endParaRPr lang="en-US" sz="1600" dirty="0"/>
          </a:p>
        </p:txBody>
      </p:sp>
      <p:sp>
        <p:nvSpPr>
          <p:cNvPr id="27" name="Text 25"/>
          <p:cNvSpPr/>
          <p:nvPr/>
        </p:nvSpPr>
        <p:spPr>
          <a:xfrm>
            <a:off x="6400800" y="5527306"/>
            <a:ext cx="4937760" cy="658368"/>
          </a:xfrm>
          <a:prstGeom prst="rect">
            <a:avLst/>
          </a:prstGeom>
          <a:noFill/>
          <a:ln/>
        </p:spPr>
        <p:txBody>
          <a:bodyPr wrap="square" lIns="0" tIns="0" rIns="0" bIns="0" rtlCol="0" anchor="ctr"/>
          <a:lstStyle/>
          <a:p>
            <a:pPr marL="0" indent="0">
              <a:buNone/>
            </a:pPr>
            <a:r>
              <a:rPr lang="en-US" sz="1400" dirty="0">
                <a:solidFill>
                  <a:srgbClr val="C9BBD6"/>
                </a:solidFill>
                <a:latin typeface="Calibri" pitchFamily="34" charset="0"/>
                <a:ea typeface="Calibri" pitchFamily="34" charset="-122"/>
                <a:cs typeface="Calibri" pitchFamily="34" charset="-120"/>
              </a:rPr>
              <a:t>A comment has never once failed a build.</a:t>
            </a:r>
            <a:endParaRPr lang="en-US" sz="1400" dirty="0"/>
          </a:p>
        </p:txBody>
      </p:sp>
      <p:sp>
        <p:nvSpPr>
          <p:cNvPr id="28" name="Text 26"/>
          <p:cNvSpPr/>
          <p:nvPr/>
        </p:nvSpPr>
        <p:spPr>
          <a:xfrm>
            <a:off x="640080" y="6304546"/>
            <a:ext cx="10881360" cy="365760"/>
          </a:xfrm>
          <a:prstGeom prst="rect">
            <a:avLst/>
          </a:prstGeom>
          <a:noFill/>
          <a:ln/>
        </p:spPr>
        <p:txBody>
          <a:bodyPr wrap="square" lIns="0" tIns="0" rIns="0" bIns="0" rtlCol="0" anchor="ctr"/>
          <a:lstStyle/>
          <a:p>
            <a:pPr marL="0" indent="0">
              <a:buNone/>
            </a:pPr>
            <a:r>
              <a:rPr lang="en-US" sz="1400" i="1" dirty="0">
                <a:solidFill>
                  <a:srgbClr val="7C6B84"/>
                </a:solidFill>
                <a:latin typeface="Calibri" pitchFamily="34" charset="0"/>
                <a:ea typeface="Calibri" pitchFamily="34" charset="-122"/>
                <a:cs typeface="Calibri" pitchFamily="34" charset="-120"/>
              </a:rPr>
              <a:t>Only two of them are about machine learning. The rest are about running something you cannot afford to leave switched 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A1B3D"/>
        </a:solidFill>
        <a:effectLst/>
      </p:bgPr>
    </p:bg>
    <p:spTree>
      <p:nvGrpSpPr>
        <p:cNvPr id="1" name=""/>
        <p:cNvGrpSpPr/>
        <p:nvPr/>
      </p:nvGrpSpPr>
      <p:grpSpPr>
        <a:xfrm>
          <a:off x="0" y="0"/>
          <a:ext cx="0" cy="0"/>
          <a:chOff x="0" y="0"/>
          <a:chExt cx="0" cy="0"/>
        </a:xfrm>
      </p:grpSpPr>
      <p:sp>
        <p:nvSpPr>
          <p:cNvPr id="2" name="Text 0"/>
          <p:cNvSpPr/>
          <p:nvPr/>
        </p:nvSpPr>
        <p:spPr>
          <a:xfrm>
            <a:off x="731520" y="702644"/>
            <a:ext cx="10515600" cy="822960"/>
          </a:xfrm>
          <a:prstGeom prst="rect">
            <a:avLst/>
          </a:prstGeom>
          <a:noFill/>
          <a:ln/>
        </p:spPr>
        <p:txBody>
          <a:bodyPr wrap="square" lIns="0" tIns="0" rIns="0" bIns="0"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Meera got her twelve photographs.</a:t>
            </a:r>
            <a:endParaRPr lang="en-US" sz="3800" dirty="0"/>
          </a:p>
        </p:txBody>
      </p:sp>
      <p:sp>
        <p:nvSpPr>
          <p:cNvPr id="3" name="Text 1"/>
          <p:cNvSpPr/>
          <p:nvPr/>
        </p:nvSpPr>
        <p:spPr>
          <a:xfrm>
            <a:off x="731520" y="1525604"/>
            <a:ext cx="10058400" cy="502920"/>
          </a:xfrm>
          <a:prstGeom prst="rect">
            <a:avLst/>
          </a:prstGeom>
          <a:noFill/>
          <a:ln/>
        </p:spPr>
        <p:txBody>
          <a:bodyPr wrap="square" lIns="0" tIns="0" rIns="0" bIns="0" rtlCol="0" anchor="ctr"/>
          <a:lstStyle/>
          <a:p>
            <a:pPr marL="0" indent="0">
              <a:buNone/>
            </a:pPr>
            <a:r>
              <a:rPr lang="en-US" sz="1900" i="1" dirty="0">
                <a:solidFill>
                  <a:srgbClr val="C9BBD6"/>
                </a:solidFill>
                <a:latin typeface="Calibri" pitchFamily="34" charset="0"/>
                <a:ea typeface="Calibri" pitchFamily="34" charset="-122"/>
                <a:cs typeface="Calibri" pitchFamily="34" charset="-120"/>
              </a:rPr>
              <a:t>The machine that found them was awake for about four minutes, and has been asleep ever since.</a:t>
            </a:r>
            <a:endParaRPr lang="en-US" sz="1900" dirty="0"/>
          </a:p>
        </p:txBody>
      </p:sp>
      <p:sp>
        <p:nvSpPr>
          <p:cNvPr id="4" name="Text 2"/>
          <p:cNvSpPr/>
          <p:nvPr/>
        </p:nvSpPr>
        <p:spPr>
          <a:xfrm>
            <a:off x="731520" y="2348564"/>
            <a:ext cx="10515600" cy="274320"/>
          </a:xfrm>
          <a:prstGeom prst="rect">
            <a:avLst/>
          </a:prstGeom>
          <a:noFill/>
          <a:ln/>
        </p:spPr>
        <p:txBody>
          <a:bodyPr wrap="square" lIns="0" tIns="0" rIns="0" bIns="0" rtlCol="0" anchor="ctr"/>
          <a:lstStyle/>
          <a:p>
            <a:pPr marL="0" indent="0">
              <a:buNone/>
            </a:pPr>
            <a:r>
              <a:rPr lang="en-US" sz="1250" b="1" kern="0" spc="200" dirty="0">
                <a:solidFill>
                  <a:srgbClr val="F2A93B"/>
                </a:solidFill>
                <a:latin typeface="Calibri" pitchFamily="34" charset="0"/>
                <a:ea typeface="Calibri" pitchFamily="34" charset="-122"/>
                <a:cs typeface="Calibri" pitchFamily="34" charset="-120"/>
              </a:rPr>
              <a:t>QUESTIONS THAT ALWAYS COME UP</a:t>
            </a:r>
            <a:endParaRPr lang="en-US" sz="1250" dirty="0"/>
          </a:p>
        </p:txBody>
      </p:sp>
      <p:sp>
        <p:nvSpPr>
          <p:cNvPr id="5" name="Shape 3"/>
          <p:cNvSpPr/>
          <p:nvPr/>
        </p:nvSpPr>
        <p:spPr>
          <a:xfrm>
            <a:off x="640080" y="2714324"/>
            <a:ext cx="5321808" cy="914400"/>
          </a:xfrm>
          <a:prstGeom prst="roundRect">
            <a:avLst>
              <a:gd name="adj" fmla="val 14000"/>
            </a:avLst>
          </a:prstGeom>
          <a:solidFill>
            <a:srgbClr val="3D2B54"/>
          </a:solidFill>
          <a:ln/>
        </p:spPr>
      </p:sp>
      <p:sp>
        <p:nvSpPr>
          <p:cNvPr id="6" name="Text 4"/>
          <p:cNvSpPr/>
          <p:nvPr/>
        </p:nvSpPr>
        <p:spPr>
          <a:xfrm>
            <a:off x="950976" y="2824052"/>
            <a:ext cx="4700016" cy="347472"/>
          </a:xfrm>
          <a:prstGeom prst="rect">
            <a:avLst/>
          </a:prstGeom>
          <a:noFill/>
          <a:ln/>
        </p:spPr>
        <p:txBody>
          <a:bodyPr wrap="square" lIns="0" tIns="0" rIns="0" bIns="0" rtlCol="0" anchor="ctr"/>
          <a:lstStyle/>
          <a:p>
            <a:pPr marL="0" indent="0">
              <a:buNone/>
            </a:pPr>
            <a:r>
              <a:rPr lang="en-US" sz="1550" b="1" dirty="0">
                <a:solidFill>
                  <a:srgbClr val="FFFFFF"/>
                </a:solidFill>
                <a:latin typeface="Century Schoolbook" pitchFamily="34" charset="0"/>
                <a:ea typeface="Century Schoolbook" pitchFamily="34" charset="-122"/>
                <a:cs typeface="Century Schoolbook" pitchFamily="34" charset="-120"/>
              </a:rPr>
              <a:t>Did you train any of the models?</a:t>
            </a:r>
            <a:endParaRPr lang="en-US" sz="1550" dirty="0"/>
          </a:p>
        </p:txBody>
      </p:sp>
      <p:sp>
        <p:nvSpPr>
          <p:cNvPr id="7" name="Text 5"/>
          <p:cNvSpPr/>
          <p:nvPr/>
        </p:nvSpPr>
        <p:spPr>
          <a:xfrm>
            <a:off x="950976" y="3189812"/>
            <a:ext cx="4700016" cy="329184"/>
          </a:xfrm>
          <a:prstGeom prst="rect">
            <a:avLst/>
          </a:prstGeom>
          <a:noFill/>
          <a:ln/>
        </p:spPr>
        <p:txBody>
          <a:bodyPr wrap="square" lIns="0" tIns="0" rIns="0" bIns="0" rtlCol="0" anchor="ctr"/>
          <a:lstStyle/>
          <a:p>
            <a:pPr marL="0" indent="0">
              <a:buNone/>
            </a:pPr>
            <a:r>
              <a:rPr lang="en-US" sz="1350" dirty="0">
                <a:solidFill>
                  <a:srgbClr val="C9BBD6"/>
                </a:solidFill>
                <a:latin typeface="Calibri" pitchFamily="34" charset="0"/>
                <a:ea typeface="Calibri" pitchFamily="34" charset="-122"/>
                <a:cs typeface="Calibri" pitchFamily="34" charset="-120"/>
              </a:rPr>
              <a:t>No. All three are pretrained.</a:t>
            </a:r>
            <a:endParaRPr lang="en-US" sz="1350" dirty="0"/>
          </a:p>
        </p:txBody>
      </p:sp>
      <p:sp>
        <p:nvSpPr>
          <p:cNvPr id="8" name="Shape 6"/>
          <p:cNvSpPr/>
          <p:nvPr/>
        </p:nvSpPr>
        <p:spPr>
          <a:xfrm>
            <a:off x="6227064" y="2714324"/>
            <a:ext cx="5321808" cy="914400"/>
          </a:xfrm>
          <a:prstGeom prst="roundRect">
            <a:avLst>
              <a:gd name="adj" fmla="val 14000"/>
            </a:avLst>
          </a:prstGeom>
          <a:solidFill>
            <a:srgbClr val="3D2B54"/>
          </a:solidFill>
          <a:ln/>
        </p:spPr>
      </p:sp>
      <p:sp>
        <p:nvSpPr>
          <p:cNvPr id="9" name="Text 7"/>
          <p:cNvSpPr/>
          <p:nvPr/>
        </p:nvSpPr>
        <p:spPr>
          <a:xfrm>
            <a:off x="6537960" y="2824052"/>
            <a:ext cx="4700016" cy="347472"/>
          </a:xfrm>
          <a:prstGeom prst="rect">
            <a:avLst/>
          </a:prstGeom>
          <a:noFill/>
          <a:ln/>
        </p:spPr>
        <p:txBody>
          <a:bodyPr wrap="square" lIns="0" tIns="0" rIns="0" bIns="0" rtlCol="0" anchor="ctr"/>
          <a:lstStyle/>
          <a:p>
            <a:pPr marL="0" indent="0">
              <a:buNone/>
            </a:pPr>
            <a:r>
              <a:rPr lang="en-US" sz="1550" b="1" dirty="0">
                <a:solidFill>
                  <a:srgbClr val="FFFFFF"/>
                </a:solidFill>
                <a:latin typeface="Century Schoolbook" pitchFamily="34" charset="0"/>
                <a:ea typeface="Century Schoolbook" pitchFamily="34" charset="-122"/>
                <a:cs typeface="Century Schoolbook" pitchFamily="34" charset="-120"/>
              </a:rPr>
              <a:t>Can you get the face back from the numbers?</a:t>
            </a:r>
            <a:endParaRPr lang="en-US" sz="1550" dirty="0"/>
          </a:p>
        </p:txBody>
      </p:sp>
      <p:sp>
        <p:nvSpPr>
          <p:cNvPr id="10" name="Text 8"/>
          <p:cNvSpPr/>
          <p:nvPr/>
        </p:nvSpPr>
        <p:spPr>
          <a:xfrm>
            <a:off x="6537960" y="3189812"/>
            <a:ext cx="4700016" cy="329184"/>
          </a:xfrm>
          <a:prstGeom prst="rect">
            <a:avLst/>
          </a:prstGeom>
          <a:noFill/>
          <a:ln/>
        </p:spPr>
        <p:txBody>
          <a:bodyPr wrap="square" lIns="0" tIns="0" rIns="0" bIns="0" rtlCol="0" anchor="ctr"/>
          <a:lstStyle/>
          <a:p>
            <a:pPr marL="0" indent="0">
              <a:buNone/>
            </a:pPr>
            <a:r>
              <a:rPr lang="en-US" sz="1350" dirty="0">
                <a:solidFill>
                  <a:srgbClr val="C9BBD6"/>
                </a:solidFill>
                <a:latin typeface="Calibri" pitchFamily="34" charset="0"/>
                <a:ea typeface="Calibri" pitchFamily="34" charset="-122"/>
                <a:cs typeface="Calibri" pitchFamily="34" charset="-120"/>
              </a:rPr>
              <a:t>Not faithfully — but we treat them as personal data anyway.</a:t>
            </a:r>
            <a:endParaRPr lang="en-US" sz="1350" dirty="0"/>
          </a:p>
        </p:txBody>
      </p:sp>
      <p:sp>
        <p:nvSpPr>
          <p:cNvPr id="11" name="Shape 9"/>
          <p:cNvSpPr/>
          <p:nvPr/>
        </p:nvSpPr>
        <p:spPr>
          <a:xfrm>
            <a:off x="640080" y="3765884"/>
            <a:ext cx="5321808" cy="914400"/>
          </a:xfrm>
          <a:prstGeom prst="roundRect">
            <a:avLst>
              <a:gd name="adj" fmla="val 14000"/>
            </a:avLst>
          </a:prstGeom>
          <a:solidFill>
            <a:srgbClr val="3D2B54"/>
          </a:solidFill>
          <a:ln/>
        </p:spPr>
      </p:sp>
      <p:sp>
        <p:nvSpPr>
          <p:cNvPr id="12" name="Text 10"/>
          <p:cNvSpPr/>
          <p:nvPr/>
        </p:nvSpPr>
        <p:spPr>
          <a:xfrm>
            <a:off x="950976" y="3875612"/>
            <a:ext cx="4700016" cy="347472"/>
          </a:xfrm>
          <a:prstGeom prst="rect">
            <a:avLst/>
          </a:prstGeom>
          <a:noFill/>
          <a:ln/>
        </p:spPr>
        <p:txBody>
          <a:bodyPr wrap="square" lIns="0" tIns="0" rIns="0" bIns="0" rtlCol="0" anchor="ctr"/>
          <a:lstStyle/>
          <a:p>
            <a:pPr marL="0" indent="0">
              <a:buNone/>
            </a:pPr>
            <a:r>
              <a:rPr lang="en-US" sz="1550" b="1" dirty="0">
                <a:solidFill>
                  <a:srgbClr val="FFFFFF"/>
                </a:solidFill>
                <a:latin typeface="Century Schoolbook" pitchFamily="34" charset="0"/>
                <a:ea typeface="Century Schoolbook" pitchFamily="34" charset="-122"/>
                <a:cs typeface="Century Schoolbook" pitchFamily="34" charset="-120"/>
              </a:rPr>
              <a:t>What about identical twins?</a:t>
            </a:r>
            <a:endParaRPr lang="en-US" sz="1550" dirty="0"/>
          </a:p>
        </p:txBody>
      </p:sp>
      <p:sp>
        <p:nvSpPr>
          <p:cNvPr id="13" name="Text 11"/>
          <p:cNvSpPr/>
          <p:nvPr/>
        </p:nvSpPr>
        <p:spPr>
          <a:xfrm>
            <a:off x="950976" y="4241372"/>
            <a:ext cx="4700016" cy="329184"/>
          </a:xfrm>
          <a:prstGeom prst="rect">
            <a:avLst/>
          </a:prstGeom>
          <a:noFill/>
          <a:ln/>
        </p:spPr>
        <p:txBody>
          <a:bodyPr wrap="square" lIns="0" tIns="0" rIns="0" bIns="0" rtlCol="0" anchor="ctr"/>
          <a:lstStyle/>
          <a:p>
            <a:pPr marL="0" indent="0">
              <a:buNone/>
            </a:pPr>
            <a:r>
              <a:rPr lang="en-US" sz="1350" dirty="0">
                <a:solidFill>
                  <a:srgbClr val="C9BBD6"/>
                </a:solidFill>
                <a:latin typeface="Calibri" pitchFamily="34" charset="0"/>
                <a:ea typeface="Calibri" pitchFamily="34" charset="-122"/>
                <a:cs typeface="Calibri" pitchFamily="34" charset="-120"/>
              </a:rPr>
              <a:t>They defeat it. Honestly.</a:t>
            </a:r>
            <a:endParaRPr lang="en-US" sz="1350" dirty="0"/>
          </a:p>
        </p:txBody>
      </p:sp>
      <p:sp>
        <p:nvSpPr>
          <p:cNvPr id="14" name="Shape 12"/>
          <p:cNvSpPr/>
          <p:nvPr/>
        </p:nvSpPr>
        <p:spPr>
          <a:xfrm>
            <a:off x="6227064" y="3765884"/>
            <a:ext cx="5321808" cy="914400"/>
          </a:xfrm>
          <a:prstGeom prst="roundRect">
            <a:avLst>
              <a:gd name="adj" fmla="val 14000"/>
            </a:avLst>
          </a:prstGeom>
          <a:solidFill>
            <a:srgbClr val="3D2B54"/>
          </a:solidFill>
          <a:ln/>
        </p:spPr>
      </p:sp>
      <p:sp>
        <p:nvSpPr>
          <p:cNvPr id="15" name="Text 13"/>
          <p:cNvSpPr/>
          <p:nvPr/>
        </p:nvSpPr>
        <p:spPr>
          <a:xfrm>
            <a:off x="6537960" y="3875612"/>
            <a:ext cx="4700016" cy="347472"/>
          </a:xfrm>
          <a:prstGeom prst="rect">
            <a:avLst/>
          </a:prstGeom>
          <a:noFill/>
          <a:ln/>
        </p:spPr>
        <p:txBody>
          <a:bodyPr wrap="square" lIns="0" tIns="0" rIns="0" bIns="0" rtlCol="0" anchor="ctr"/>
          <a:lstStyle/>
          <a:p>
            <a:pPr marL="0" indent="0">
              <a:buNone/>
            </a:pPr>
            <a:r>
              <a:rPr lang="en-US" sz="1550" b="1" dirty="0">
                <a:solidFill>
                  <a:srgbClr val="FFFFFF"/>
                </a:solidFill>
                <a:latin typeface="Century Schoolbook" pitchFamily="34" charset="0"/>
                <a:ea typeface="Century Schoolbook" pitchFamily="34" charset="-122"/>
                <a:cs typeface="Century Schoolbook" pitchFamily="34" charset="-120"/>
              </a:rPr>
              <a:t>Why 0.5, and not something else?</a:t>
            </a:r>
            <a:endParaRPr lang="en-US" sz="1550" dirty="0"/>
          </a:p>
        </p:txBody>
      </p:sp>
      <p:sp>
        <p:nvSpPr>
          <p:cNvPr id="16" name="Text 14"/>
          <p:cNvSpPr/>
          <p:nvPr/>
        </p:nvSpPr>
        <p:spPr>
          <a:xfrm>
            <a:off x="6537960" y="4241372"/>
            <a:ext cx="4700016" cy="329184"/>
          </a:xfrm>
          <a:prstGeom prst="rect">
            <a:avLst/>
          </a:prstGeom>
          <a:noFill/>
          <a:ln/>
        </p:spPr>
        <p:txBody>
          <a:bodyPr wrap="square" lIns="0" tIns="0" rIns="0" bIns="0" rtlCol="0" anchor="ctr"/>
          <a:lstStyle/>
          <a:p>
            <a:pPr marL="0" indent="0">
              <a:buNone/>
            </a:pPr>
            <a:r>
              <a:rPr lang="en-US" sz="1350" dirty="0">
                <a:solidFill>
                  <a:srgbClr val="C9BBD6"/>
                </a:solidFill>
                <a:latin typeface="Calibri" pitchFamily="34" charset="0"/>
                <a:ea typeface="Calibri" pitchFamily="34" charset="-122"/>
                <a:cs typeface="Calibri" pitchFamily="34" charset="-120"/>
              </a:rPr>
              <a:t>Upstream default, kept because the safer failure is splitting.</a:t>
            </a:r>
            <a:endParaRPr lang="en-US" sz="1350" dirty="0"/>
          </a:p>
        </p:txBody>
      </p:sp>
      <p:sp>
        <p:nvSpPr>
          <p:cNvPr id="17" name="Shape 15"/>
          <p:cNvSpPr/>
          <p:nvPr/>
        </p:nvSpPr>
        <p:spPr>
          <a:xfrm>
            <a:off x="640080" y="4817444"/>
            <a:ext cx="5321808" cy="914400"/>
          </a:xfrm>
          <a:prstGeom prst="roundRect">
            <a:avLst>
              <a:gd name="adj" fmla="val 14000"/>
            </a:avLst>
          </a:prstGeom>
          <a:solidFill>
            <a:srgbClr val="3D2B54"/>
          </a:solidFill>
          <a:ln/>
        </p:spPr>
      </p:sp>
      <p:sp>
        <p:nvSpPr>
          <p:cNvPr id="18" name="Text 16"/>
          <p:cNvSpPr/>
          <p:nvPr/>
        </p:nvSpPr>
        <p:spPr>
          <a:xfrm>
            <a:off x="950976" y="4927172"/>
            <a:ext cx="4700016" cy="347472"/>
          </a:xfrm>
          <a:prstGeom prst="rect">
            <a:avLst/>
          </a:prstGeom>
          <a:noFill/>
          <a:ln/>
        </p:spPr>
        <p:txBody>
          <a:bodyPr wrap="square" lIns="0" tIns="0" rIns="0" bIns="0" rtlCol="0" anchor="ctr"/>
          <a:lstStyle/>
          <a:p>
            <a:pPr marL="0" indent="0">
              <a:buNone/>
            </a:pPr>
            <a:r>
              <a:rPr lang="en-US" sz="1550" b="1" dirty="0">
                <a:solidFill>
                  <a:srgbClr val="FFFFFF"/>
                </a:solidFill>
                <a:latin typeface="Century Schoolbook" pitchFamily="34" charset="0"/>
                <a:ea typeface="Century Schoolbook" pitchFamily="34" charset="-122"/>
                <a:cs typeface="Century Schoolbook" pitchFamily="34" charset="-120"/>
              </a:rPr>
              <a:t>Why not just use CPU?</a:t>
            </a:r>
            <a:endParaRPr lang="en-US" sz="1550" dirty="0"/>
          </a:p>
        </p:txBody>
      </p:sp>
      <p:sp>
        <p:nvSpPr>
          <p:cNvPr id="19" name="Text 17"/>
          <p:cNvSpPr/>
          <p:nvPr/>
        </p:nvSpPr>
        <p:spPr>
          <a:xfrm>
            <a:off x="950976" y="5292932"/>
            <a:ext cx="4700016" cy="329184"/>
          </a:xfrm>
          <a:prstGeom prst="rect">
            <a:avLst/>
          </a:prstGeom>
          <a:noFill/>
          <a:ln/>
        </p:spPr>
        <p:txBody>
          <a:bodyPr wrap="square" lIns="0" tIns="0" rIns="0" bIns="0" rtlCol="0" anchor="ctr"/>
          <a:lstStyle/>
          <a:p>
            <a:pPr marL="0" indent="0">
              <a:buNone/>
            </a:pPr>
            <a:r>
              <a:rPr lang="en-US" sz="1350" dirty="0">
                <a:solidFill>
                  <a:srgbClr val="C9BBD6"/>
                </a:solidFill>
                <a:latin typeface="Calibri" pitchFamily="34" charset="0"/>
                <a:ea typeface="Calibri" pitchFamily="34" charset="-122"/>
                <a:cs typeface="Calibri" pitchFamily="34" charset="-120"/>
              </a:rPr>
              <a:t>Try it on four thousand photos and report back.</a:t>
            </a:r>
            <a:endParaRPr lang="en-US" sz="1350" dirty="0"/>
          </a:p>
        </p:txBody>
      </p:sp>
      <p:sp>
        <p:nvSpPr>
          <p:cNvPr id="20" name="Shape 18"/>
          <p:cNvSpPr/>
          <p:nvPr/>
        </p:nvSpPr>
        <p:spPr>
          <a:xfrm>
            <a:off x="6227064" y="4817444"/>
            <a:ext cx="5321808" cy="914400"/>
          </a:xfrm>
          <a:prstGeom prst="roundRect">
            <a:avLst>
              <a:gd name="adj" fmla="val 14000"/>
            </a:avLst>
          </a:prstGeom>
          <a:solidFill>
            <a:srgbClr val="3D2B54"/>
          </a:solidFill>
          <a:ln/>
        </p:spPr>
      </p:sp>
      <p:sp>
        <p:nvSpPr>
          <p:cNvPr id="21" name="Text 19"/>
          <p:cNvSpPr/>
          <p:nvPr/>
        </p:nvSpPr>
        <p:spPr>
          <a:xfrm>
            <a:off x="6537960" y="4927172"/>
            <a:ext cx="4700016" cy="347472"/>
          </a:xfrm>
          <a:prstGeom prst="rect">
            <a:avLst/>
          </a:prstGeom>
          <a:noFill/>
          <a:ln/>
        </p:spPr>
        <p:txBody>
          <a:bodyPr wrap="square" lIns="0" tIns="0" rIns="0" bIns="0" rtlCol="0" anchor="ctr"/>
          <a:lstStyle/>
          <a:p>
            <a:pPr marL="0" indent="0">
              <a:buNone/>
            </a:pPr>
            <a:r>
              <a:rPr lang="en-US" sz="1550" b="1" dirty="0">
                <a:solidFill>
                  <a:srgbClr val="FFFFFF"/>
                </a:solidFill>
                <a:latin typeface="Century Schoolbook" pitchFamily="34" charset="0"/>
                <a:ea typeface="Century Schoolbook" pitchFamily="34" charset="-122"/>
                <a:cs typeface="Century Schoolbook" pitchFamily="34" charset="-120"/>
              </a:rPr>
              <a:t>Why not serverless GPU?</a:t>
            </a:r>
            <a:endParaRPr lang="en-US" sz="1550" dirty="0"/>
          </a:p>
        </p:txBody>
      </p:sp>
      <p:sp>
        <p:nvSpPr>
          <p:cNvPr id="22" name="Text 20"/>
          <p:cNvSpPr/>
          <p:nvPr/>
        </p:nvSpPr>
        <p:spPr>
          <a:xfrm>
            <a:off x="6537960" y="5292932"/>
            <a:ext cx="4700016" cy="329184"/>
          </a:xfrm>
          <a:prstGeom prst="rect">
            <a:avLst/>
          </a:prstGeom>
          <a:noFill/>
          <a:ln/>
        </p:spPr>
        <p:txBody>
          <a:bodyPr wrap="square" lIns="0" tIns="0" rIns="0" bIns="0" rtlCol="0" anchor="ctr"/>
          <a:lstStyle/>
          <a:p>
            <a:pPr marL="0" indent="0">
              <a:buNone/>
            </a:pPr>
            <a:r>
              <a:rPr lang="en-US" sz="1350" dirty="0">
                <a:solidFill>
                  <a:srgbClr val="C9BBD6"/>
                </a:solidFill>
                <a:latin typeface="Calibri" pitchFamily="34" charset="0"/>
                <a:ea typeface="Calibri" pitchFamily="34" charset="-122"/>
                <a:cs typeface="Calibri" pitchFamily="34" charset="-120"/>
              </a:rPr>
              <a:t>Cold starts, and a model that has to load every time.</a:t>
            </a:r>
            <a:endParaRPr lang="en-US" sz="1350" dirty="0"/>
          </a:p>
        </p:txBody>
      </p:sp>
      <p:sp>
        <p:nvSpPr>
          <p:cNvPr id="23" name="Text 21"/>
          <p:cNvSpPr/>
          <p:nvPr/>
        </p:nvSpPr>
        <p:spPr>
          <a:xfrm>
            <a:off x="640080" y="5960444"/>
            <a:ext cx="10881360" cy="365760"/>
          </a:xfrm>
          <a:prstGeom prst="rect">
            <a:avLst/>
          </a:prstGeom>
          <a:noFill/>
          <a:ln/>
        </p:spPr>
        <p:txBody>
          <a:bodyPr wrap="square" lIns="0" tIns="0" rIns="0" bIns="0" rtlCol="0" anchor="ctr"/>
          <a:lstStyle/>
          <a:p>
            <a:pPr marL="0" indent="0">
              <a:buNone/>
            </a:pPr>
            <a:r>
              <a:rPr lang="en-US" sz="1350" dirty="0" err="1">
                <a:solidFill>
                  <a:srgbClr val="7C6B84"/>
                </a:solidFill>
                <a:latin typeface="Calibri" pitchFamily="34" charset="0"/>
                <a:ea typeface="Calibri" pitchFamily="34" charset="-122"/>
                <a:cs typeface="Calibri" pitchFamily="34" charset="-120"/>
              </a:rPr>
              <a:t>EventLens</a:t>
            </a:r>
            <a:r>
              <a:rPr lang="en-US" sz="1350" dirty="0">
                <a:solidFill>
                  <a:srgbClr val="7C6B84"/>
                </a:solidFill>
                <a:latin typeface="Calibri" pitchFamily="34" charset="0"/>
                <a:ea typeface="Calibri" pitchFamily="34" charset="-122"/>
                <a:cs typeface="Calibri" pitchFamily="34" charset="-120"/>
              </a:rPr>
              <a:t> ·  deployment notes in docs/deploy-production.md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3942</Words>
  <Application>Microsoft Office PowerPoint</Application>
  <PresentationFormat>Widescreen</PresentationFormat>
  <Paragraphs>343</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night 4,000 photos went up</dc:title>
  <dc:subject>PptxGenJS Presentation</dc:subject>
  <dc:creator>EventLens</dc:creator>
  <cp:lastModifiedBy>Sriharan S</cp:lastModifiedBy>
  <cp:revision>4</cp:revision>
  <dcterms:created xsi:type="dcterms:W3CDTF">2026-07-23T15:18:56Z</dcterms:created>
  <dcterms:modified xsi:type="dcterms:W3CDTF">2026-07-23T17:17:46Z</dcterms:modified>
</cp:coreProperties>
</file>